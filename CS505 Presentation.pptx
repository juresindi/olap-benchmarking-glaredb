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 id="214748367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y="5143500" cx="9144000"/>
  <p:notesSz cx="6858000" cy="9144000"/>
  <p:embeddedFontLst>
    <p:embeddedFont>
      <p:font typeface="Roboto"/>
      <p:regular r:id="rId47"/>
      <p:bold r:id="rId48"/>
      <p:italic r:id="rId49"/>
      <p:boldItalic r:id="rId50"/>
    </p:embeddedFont>
    <p:embeddedFont>
      <p:font typeface="Montserrat"/>
      <p:regular r:id="rId51"/>
      <p:bold r:id="rId52"/>
      <p:italic r:id="rId53"/>
      <p:boldItalic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60B4CB1-2DB2-400B-801F-07332CC85587}">
  <a:tblStyle styleId="{B60B4CB1-2DB2-400B-801F-07332CC8558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Calibri"/>
          <a:ea typeface="Calibri"/>
          <a:cs typeface="Calibri"/>
        </a:font>
        <a:schemeClr val="lt1"/>
      </a:tcTxStyle>
      <a:tcStyle>
        <a:fill>
          <a:solidFill>
            <a:schemeClr val="dk1"/>
          </a:solidFill>
        </a:fill>
      </a:tcStyle>
    </a:lastCol>
    <a:firstCol>
      <a:tcTxStyle b="on" i="off">
        <a:font>
          <a:latin typeface="Calibri"/>
          <a:ea typeface="Calibri"/>
          <a:cs typeface="Calibri"/>
        </a:font>
        <a:schemeClr val="lt1"/>
      </a:tcTxStyle>
      <a:tcStyle>
        <a:fill>
          <a:solidFill>
            <a:schemeClr val="dk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dk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dk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Montserrat-regular.fntdata"/><Relationship Id="rId50" Type="http://schemas.openxmlformats.org/officeDocument/2006/relationships/font" Target="fonts/Roboto-boldItalic.fntdata"/><Relationship Id="rId53" Type="http://schemas.openxmlformats.org/officeDocument/2006/relationships/font" Target="fonts/Montserrat-italic.fntdata"/><Relationship Id="rId52" Type="http://schemas.openxmlformats.org/officeDocument/2006/relationships/font" Target="fonts/Montserrat-bold.fntdata"/><Relationship Id="rId11" Type="http://schemas.openxmlformats.org/officeDocument/2006/relationships/slide" Target="slides/slide3.xml"/><Relationship Id="rId55" Type="http://schemas.openxmlformats.org/officeDocument/2006/relationships/font" Target="fonts/OpenSans-regular.fntdata"/><Relationship Id="rId10" Type="http://schemas.openxmlformats.org/officeDocument/2006/relationships/slide" Target="slides/slide2.xml"/><Relationship Id="rId54" Type="http://schemas.openxmlformats.org/officeDocument/2006/relationships/font" Target="fonts/Montserrat-boldItalic.fntdata"/><Relationship Id="rId13" Type="http://schemas.openxmlformats.org/officeDocument/2006/relationships/slide" Target="slides/slide5.xml"/><Relationship Id="rId57" Type="http://schemas.openxmlformats.org/officeDocument/2006/relationships/font" Target="fonts/OpenSans-italic.fntdata"/><Relationship Id="rId12" Type="http://schemas.openxmlformats.org/officeDocument/2006/relationships/slide" Target="slides/slide4.xml"/><Relationship Id="rId56" Type="http://schemas.openxmlformats.org/officeDocument/2006/relationships/font" Target="fonts/OpenSans-bold.fntdata"/><Relationship Id="rId15" Type="http://schemas.openxmlformats.org/officeDocument/2006/relationships/slide" Target="slides/slide7.xml"/><Relationship Id="rId14" Type="http://schemas.openxmlformats.org/officeDocument/2006/relationships/slide" Target="slides/slide6.xml"/><Relationship Id="rId58" Type="http://schemas.openxmlformats.org/officeDocument/2006/relationships/font" Target="fonts/OpenSans-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9568e6d3e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269568e6d3e_2_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8ea8b50d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268ea8b50d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68ea8b50d3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268ea8b50d3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68ea8b50d3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268ea8b50d3_1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8ea8b50d3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268ea8b50d3_1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68ea8b50d3_1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268ea8b50d3_1_2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68ea8b50d3_1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268ea8b50d3_1_2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68ea8b50d3_1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268ea8b50d3_1_2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b8c127ea1b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2b8c127ea1b_3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b8c127ea1b_3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2b8c127ea1b_3_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b8c127ea1b_3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2b8c127ea1b_3_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b88c5551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2b88c5551d2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69314396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MapReduce was introduced by Google in 2004 to address the challenges of processing large-scale data sets efficiently on distributed clusters.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19" name="Google Shape;519;g269314396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2693143963c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Motivation: As mentioned before there was an increasing need for processing large-scale datasets generated by web services and other applications during this time. Traditional approaches to parallel processing were found to be insufficient for handling these massive datasets effectively.</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705" name="Google Shape;705;g2693143963c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693143963c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Challenges: There were several challenges in processing large-scale data. Like fault tolerance and ease of programming. Existing parallel programming models and systems were very complex and lacked efficient mechanisms for fault tolerance and scalability.</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728" name="Google Shape;728;g2693143963c_0_2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693143963c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Objective: The primary objective of MapReduce, was to provide a simple and scalable programming model for processing large-scale data sets on distributed clusters.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751" name="Google Shape;751;g2693143963c_0_2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b860e5f89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MapReduce has the ability to process large scale data in a distributed manner. It is used for processing and generating insights from massive datasets by using the power of parallelism and fault tolerance. MapReduce breaks down a large task into smaller, manageable tasks, processes them in parallel across multiple nodes, and then combines the results to obtain the final output.</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Popularized by Google and later implemented in open-source frameworks like Apache Hadoop</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774" name="Google Shape;774;g2b860e5f897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b860e5f897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3 main components;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Mapper Function</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Reducer Function</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Partitioner</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Mapper Function: It transforms the input data into intermediate key-value pairs.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Reducer Function: The reducer function then processes these pairs, aggregates the values associated with each key, and produces the final output.</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Partitioner: Determines which reducer should receive each intermediate key-value pair based on a partitioning function. This ensures that all key-value pairs with the same key are sent to the same reducer.</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787" name="Google Shape;787;g2b860e5f897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2b860e5f89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Execution flow of MapReduce</a:t>
            </a:r>
            <a:endParaRPr b="1"/>
          </a:p>
          <a:p>
            <a:pPr indent="0" lvl="0" marL="0" rtl="0" algn="l">
              <a:spcBef>
                <a:spcPts val="0"/>
              </a:spcBef>
              <a:spcAft>
                <a:spcPts val="0"/>
              </a:spcAft>
              <a:buClr>
                <a:schemeClr val="dk1"/>
              </a:buClr>
              <a:buSzPts val="1100"/>
              <a:buFont typeface="Arial"/>
              <a:buNone/>
            </a:pPr>
            <a:r>
              <a:rPr lang="en"/>
              <a:t>Input Splitting: The input data is divided into fixed-size splits, (typically 64MB to 128MB each). These splits are then assigned to individual mapper tasks.</a:t>
            </a:r>
            <a:endParaRPr/>
          </a:p>
          <a:p>
            <a:pPr indent="0" lvl="0" marL="0" rtl="0" algn="l">
              <a:spcBef>
                <a:spcPts val="0"/>
              </a:spcBef>
              <a:spcAft>
                <a:spcPts val="0"/>
              </a:spcAft>
              <a:buClr>
                <a:schemeClr val="dk1"/>
              </a:buClr>
              <a:buSzPts val="1100"/>
              <a:buFont typeface="Arial"/>
              <a:buNone/>
            </a:pPr>
            <a:r>
              <a:rPr lang="en"/>
              <a:t>Mapping: Each mapper task processes its input split independently and generates intermediate key-value pairs.</a:t>
            </a:r>
            <a:endParaRPr/>
          </a:p>
          <a:p>
            <a:pPr indent="0" lvl="0" marL="0" rtl="0" algn="l">
              <a:spcBef>
                <a:spcPts val="0"/>
              </a:spcBef>
              <a:spcAft>
                <a:spcPts val="0"/>
              </a:spcAft>
              <a:buClr>
                <a:schemeClr val="dk1"/>
              </a:buClr>
              <a:buSzPts val="1100"/>
              <a:buFont typeface="Arial"/>
              <a:buNone/>
            </a:pPr>
            <a:r>
              <a:rPr lang="en"/>
              <a:t>Shuffling and Sorting: The intermediate key-value pairs are shuffled across the network and sorted based on keys. This ensures that all values associated with the same key are grouped together.</a:t>
            </a:r>
            <a:endParaRPr/>
          </a:p>
          <a:p>
            <a:pPr indent="0" lvl="0" marL="0" rtl="0" algn="l">
              <a:spcBef>
                <a:spcPts val="0"/>
              </a:spcBef>
              <a:spcAft>
                <a:spcPts val="0"/>
              </a:spcAft>
              <a:buClr>
                <a:schemeClr val="dk1"/>
              </a:buClr>
              <a:buSzPts val="1100"/>
              <a:buFont typeface="Arial"/>
              <a:buNone/>
            </a:pPr>
            <a:r>
              <a:rPr lang="en"/>
              <a:t>Reducing: Reducer tasks receive the sorted intermediate key-value pairs and process them to produce the final output.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28" name="Google Shape;828;g2b860e5f897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b860e5f89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suppose, we have to perform a word count on some document using MapReduce. So, we will be finding unique words and the number of occurrences of those unique words.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First, we divide the input into three splits as shown in the figure. This will distribute the work among all the map nodes.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Then, we tokenize the words in each of the mappers and give a hardcoded value (1) to each of the tokens or words.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a list of key-value pairs will be created where the key is nothing but the individual words and the value is one. </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mapping process remains the same on all the nodes.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After the mapper phase, a partition process takes place where sorting and shuffling happen so that all the tuples with the same key are sent to the corresponding reducer.</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after the sorting and shuffling phase, each reducer will have a unique key and a list of values corresponding to that very key. </a:t>
            </a:r>
            <a:endParaRPr i="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each Reducer counts the values which are present in that list of values and gives the final output </a:t>
            </a:r>
            <a:endParaRPr i="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Finally, all the output key/value pairs are then collected and written in the output file.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870" name="Google Shape;870;g2b860e5f897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b860e5f89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b="1" lang="en" sz="1200">
                <a:solidFill>
                  <a:srgbClr val="8C7252"/>
                </a:solidFill>
                <a:latin typeface="Open Sans"/>
                <a:ea typeface="Open Sans"/>
                <a:cs typeface="Open Sans"/>
                <a:sym typeface="Open Sans"/>
              </a:rPr>
              <a:t>Advantages of MapReduce Implementation</a:t>
            </a:r>
            <a:endParaRPr b="1" sz="1200">
              <a:solidFill>
                <a:srgbClr val="8C7252"/>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Scalability:</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MapReduce enables the processing of massive datasets by distributing the workload across multiple nodes in a cluster. It can scale horizontally by adding more nodes to the cluster, allowing organizations to handle ever-growing volumes of data without significant performance degradation.</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Fault Tolerance: </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MapReduce frameworks, such as Apache Hadoop, provide built-in fault tolerance mechanisms to handle node failures gracefully. Tasks are automatically re-executed on other nodes if a failure occurs, and data replication ensures that data loss is minimized. This ensures the reliability of data processing tasks, even in the presence of hardware failures or network issues.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Parallelism: </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By dividing the input data into smaller chunks and processing them in parallel, leads to improved performance and reduced processing times, as multiple nodes can work on different parts of the dataset simultaneously.</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Ecosystem Support: </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MapReduce frameworks, such as Apache Hadoop, have a rich ecosystem of tools and libraries that extend its functionality. These include components for data storage (HDFS), resource management (YARN), SQL querying (Apache Hive), machine learning (Apache Mahout), and real-time processing (Apache Spark Streaming). This ecosystem support enhances the capabilities of MapReduce and enables organizations to build end-to-end data processing pipelines.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Data Locality: </a:t>
            </a:r>
            <a:r>
              <a:rPr lang="en">
                <a:solidFill>
                  <a:schemeClr val="dk1"/>
                </a:solidFill>
                <a:latin typeface="Open Sans"/>
                <a:ea typeface="Open Sans"/>
                <a:cs typeface="Open Sans"/>
                <a:sym typeface="Open Sans"/>
              </a:rPr>
              <a:t>MapReduce frameworks optimize data locality by scheduling tasks closer to the data they need to process. This reduces network traffic and improves performance by minimizing data transfer across the network. It leverages the principle of moving computation to the data instead of moving data to the computation.</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Flexibility: </a:t>
            </a:r>
            <a:r>
              <a:rPr lang="en">
                <a:solidFill>
                  <a:schemeClr val="dk1"/>
                </a:solidFill>
                <a:latin typeface="Open Sans"/>
                <a:ea typeface="Open Sans"/>
                <a:cs typeface="Open Sans"/>
                <a:sym typeface="Open Sans"/>
              </a:rPr>
              <a:t>MapReduce provides a flexible programming model that can be applied to a wide range of data processing tasks. It supports various data formats and allows developers to write custom map and reduce functions tailored to specific use cases. This flexibility makes MapReduce suitable for a diverse set of applications, including batch processing, ETL (Extract, Transform, Load) operations, and data analytics.</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
        <p:nvSpPr>
          <p:cNvPr id="886" name="Google Shape;886;g2b860e5f897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b860e5f897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Clr>
                <a:schemeClr val="dk1"/>
              </a:buClr>
              <a:buSzPts val="1100"/>
              <a:buFont typeface="Arial"/>
              <a:buNone/>
            </a:pPr>
            <a:r>
              <a:rPr b="1" lang="en" sz="1200">
                <a:solidFill>
                  <a:srgbClr val="8C7252"/>
                </a:solidFill>
                <a:latin typeface="Open Sans"/>
                <a:ea typeface="Open Sans"/>
                <a:cs typeface="Open Sans"/>
                <a:sym typeface="Open Sans"/>
              </a:rPr>
              <a:t>Shortcomings of MapReduce</a:t>
            </a:r>
            <a:endParaRPr b="1" sz="1200">
              <a:solidFill>
                <a:srgbClr val="8C7252"/>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High Latency: </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MapReduce involves multiple stages of disk I/O and network shuffling, resulting in high latency for processing jobs, especially for iterative algorithms and interactive queries.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Limited Optimization:</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MapReduce frameworks, such as Apache Hadoop, may lack advanced optimization techniques available in newer processing frameworks. For example, MapReduce does not leverage in-memory computing extensively, which can lead to suboptimal performance for certain types of workloads compared to frameworks like Apache Spark.</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Programming Complexity:</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 Writing MapReduce programs can be complex, as developers need to handle low-level details such as data serialization, partitioning, and fault tolerance, which can be challenging and time-consuming.</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Batch Processing Focus: </a:t>
            </a:r>
            <a:endParaRPr b="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None/>
            </a:pPr>
            <a:r>
              <a:rPr lang="en">
                <a:solidFill>
                  <a:schemeClr val="dk1"/>
                </a:solidFill>
                <a:latin typeface="Open Sans"/>
                <a:ea typeface="Open Sans"/>
                <a:cs typeface="Open Sans"/>
                <a:sym typeface="Open Sans"/>
              </a:rPr>
              <a:t>MapReduce is primarily designed for batch processing of data, where data is processed in discrete batches or jobs. While this is suitable for many use cases, it may not be ideal for applications requiring real-time or interactive processing of data streams.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None/>
            </a:pPr>
            <a:r>
              <a:rPr b="1" lang="en" sz="1200">
                <a:solidFill>
                  <a:srgbClr val="8C7252"/>
                </a:solidFill>
                <a:latin typeface="Open Sans"/>
                <a:ea typeface="Open Sans"/>
                <a:cs typeface="Open Sans"/>
                <a:sym typeface="Open Sans"/>
              </a:rPr>
              <a:t>Conclusion</a:t>
            </a:r>
            <a:endParaRPr b="1" sz="1200">
              <a:solidFill>
                <a:srgbClr val="8C7252"/>
              </a:solidFill>
              <a:latin typeface="Open Sans"/>
              <a:ea typeface="Open Sans"/>
              <a:cs typeface="Open Sans"/>
              <a:sym typeface="Open Sans"/>
            </a:endParaRPr>
          </a:p>
          <a:p>
            <a:pPr indent="0" lvl="0" marL="0" rtl="0" algn="l">
              <a:lnSpc>
                <a:spcPct val="150000"/>
              </a:lnSpc>
              <a:spcBef>
                <a:spcPts val="1000"/>
              </a:spcBef>
              <a:spcAft>
                <a:spcPts val="0"/>
              </a:spcAft>
              <a:buNone/>
            </a:pPr>
            <a:r>
              <a:rPr lang="en">
                <a:solidFill>
                  <a:schemeClr val="dk1"/>
                </a:solidFill>
                <a:latin typeface="Open Sans"/>
                <a:ea typeface="Open Sans"/>
                <a:cs typeface="Open Sans"/>
                <a:sym typeface="Open Sans"/>
              </a:rPr>
              <a:t>Overall, MapReduce played an important role in addressing the shortcomings of early dataflow engines by introducing innovations in programming models, fault tolerance, resource management, and support for diverse data processing workloads. Its contributions have influenced the design and evolution of modern dataflow engines, leading to more scalable, efficient, and versatile distributed computing frameworks.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a:r>
            <a:endParaRPr i="1">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rPr b="1" lang="en">
                <a:solidFill>
                  <a:schemeClr val="dk1"/>
                </a:solidFill>
                <a:latin typeface="Open Sans"/>
                <a:ea typeface="Open Sans"/>
                <a:cs typeface="Open Sans"/>
                <a:sym typeface="Open Sans"/>
              </a:rPr>
              <a:t>Resource Overhead:</a:t>
            </a:r>
            <a:r>
              <a:rPr lang="en">
                <a:solidFill>
                  <a:schemeClr val="dk1"/>
                </a:solidFill>
                <a:latin typeface="Open Sans"/>
                <a:ea typeface="Open Sans"/>
                <a:cs typeface="Open Sans"/>
                <a:sym typeface="Open Sans"/>
              </a:rPr>
              <a:t> MapReduce jobs often involve a significant amount of overhead, including job setup, task scheduling, and data shuffling. This overhead can reduce overall cluster efficiency, especially for short-lived or small-scale jobs that do not fully utilize cluster resources.</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None/>
            </a:pPr>
            <a:r>
              <a:rPr b="1" lang="en">
                <a:solidFill>
                  <a:schemeClr val="dk1"/>
                </a:solidFill>
                <a:latin typeface="Open Sans"/>
                <a:ea typeface="Open Sans"/>
                <a:cs typeface="Open Sans"/>
                <a:sym typeface="Open Sans"/>
              </a:rPr>
              <a:t>Data Skew:</a:t>
            </a:r>
            <a:r>
              <a:rPr lang="en">
                <a:solidFill>
                  <a:schemeClr val="dk1"/>
                </a:solidFill>
                <a:latin typeface="Open Sans"/>
                <a:ea typeface="Open Sans"/>
                <a:cs typeface="Open Sans"/>
                <a:sym typeface="Open Sans"/>
              </a:rPr>
              <a:t> In some cases, the distribution of data across partitions may be uneven, leading to data skew. This can result in certain reducers being overloaded with data, while others remain underutilized, impacting overall performance.</a:t>
            </a:r>
            <a:endParaRPr>
              <a:solidFill>
                <a:schemeClr val="dk1"/>
              </a:solidFill>
              <a:latin typeface="Open Sans"/>
              <a:ea typeface="Open Sans"/>
              <a:cs typeface="Open Sans"/>
              <a:sym typeface="Open Sans"/>
            </a:endParaRPr>
          </a:p>
          <a:p>
            <a:pPr indent="0" lvl="0" marL="0" rtl="0" algn="l">
              <a:lnSpc>
                <a:spcPct val="150000"/>
              </a:lnSpc>
              <a:spcBef>
                <a:spcPts val="100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p>
        </p:txBody>
      </p:sp>
      <p:sp>
        <p:nvSpPr>
          <p:cNvPr id="923" name="Google Shape;923;g2b860e5f897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2b860e5f8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we are going to talk about kind of the aftermath of MapReduce. MapReduce in itself isn’t as relevant anymore compared to the other technologies it paved the way for. </a:t>
            </a:r>
            <a:endParaRPr/>
          </a:p>
        </p:txBody>
      </p:sp>
      <p:sp>
        <p:nvSpPr>
          <p:cNvPr id="962" name="Google Shape;962;g2b860e5f89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b88c5551d2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MapReduce really didn’t attract much attention from the database when the paper was first published in 2003. It was very specific to google. But when Yahoo open-sourced the Hadoop MapReduce implementation, all eyes were on it. {For anyone who doesn’t know what Hadoop is, because I didn’t, it’s an open-source framework for distributed storage. It can process large datasets across clusters of computers using simple programming models} This is really when MapReduce started becoming more popular. Within a year, all the big names started developing their own versions of it: Microsoft started of Dyrad, Facebook worked on Hive and Pig was Yahoo’s project. So, starting 2006, post-MapReduce systems, which is how the text refers to these systems, gained a lot of attention from developers and Venture capitalists. These systems focused on different aspects of the original MapReduce system that could be improved. So a lot of research effort was put into issues like scheduling{which refers to managing the </a:t>
            </a:r>
            <a:r>
              <a:rPr lang="en">
                <a:solidFill>
                  <a:schemeClr val="dk1"/>
                </a:solidFill>
                <a:latin typeface="Times New Roman"/>
                <a:ea typeface="Times New Roman"/>
                <a:cs typeface="Times New Roman"/>
                <a:sym typeface="Times New Roman"/>
              </a:rPr>
              <a:t>execution</a:t>
            </a:r>
            <a:r>
              <a:rPr lang="en">
                <a:solidFill>
                  <a:schemeClr val="dk1"/>
                </a:solidFill>
                <a:latin typeface="Times New Roman"/>
                <a:ea typeface="Times New Roman"/>
                <a:cs typeface="Times New Roman"/>
                <a:sym typeface="Times New Roman"/>
              </a:rPr>
              <a:t> of MapReduce jobs across a cluster of machines efficiently}, straggler mitigation{which tries to make it so that there are fewer stragglers which slow down the overall execution time of a MapReduce job}, fault tolerance{which is just being able to handle failures in DataNodes}, UDF query optimization{UDF=user-defined functions. They were trying optimize these to improve the performance and </a:t>
            </a:r>
            <a:r>
              <a:rPr lang="en">
                <a:solidFill>
                  <a:schemeClr val="dk1"/>
                </a:solidFill>
                <a:latin typeface="Times New Roman"/>
                <a:ea typeface="Times New Roman"/>
                <a:cs typeface="Times New Roman"/>
                <a:sym typeface="Times New Roman"/>
              </a:rPr>
              <a:t>efficiency</a:t>
            </a:r>
            <a:r>
              <a:rPr lang="en">
                <a:solidFill>
                  <a:schemeClr val="dk1"/>
                </a:solidFill>
                <a:latin typeface="Times New Roman"/>
                <a:ea typeface="Times New Roman"/>
                <a:cs typeface="Times New Roman"/>
                <a:sym typeface="Times New Roman"/>
              </a:rPr>
              <a:t> of the overall job} and alternative programming models.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
        <p:nvSpPr>
          <p:cNvPr id="969" name="Google Shape;969;g2b88c5551d2_1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b88c5551d2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Soon, all the improvements that I mentioned were being researched earlier were included in the post-MapReduce systems. Today’s MapReduce systems that stemmed out during this time implement a lot of the features of traditional</a:t>
            </a:r>
            <a:r>
              <a:rPr lang="en">
                <a:solidFill>
                  <a:schemeClr val="dk1"/>
                </a:solidFill>
                <a:latin typeface="Times New Roman"/>
                <a:ea typeface="Times New Roman"/>
                <a:cs typeface="Times New Roman"/>
                <a:sym typeface="Times New Roman"/>
              </a:rPr>
              <a:t> relational database management systems. The latest generation of these systems expose higher-level query languages such as SQL and use advanced execution strategies. In the Hadoop ecosystem specifically, data flow engines became the foundation for other higher level functionality, including declarative interfaces, graph processing and machine learning. The authors make a special mention about DryadLINQ{it is a programming framework that combines two important concepts: Dryad, a distributed execution engine for large-scale data processing, and LINQ (Language Integrated Query), a component of the .NET Framework for querying data from various sources using a unified syntax.}, which they say is most interesting for its interfaces. It integrates very well with Microsoft’s .NET LINQ to provide a parallelized collections library{this is a software component that allows for parallel processing of data stored in collections. These libraries are designed to simplify parallel algorithms by providing high-level abstractions and APIs for working with collections of data in a concurrent manner.}. DyradLINQ’s interface is considered to be of a higher-level than MapReduce. It’s basic query optimization and lightweight fault tolerance proved influential in later dataflow engines. Apache spark would also be a good example of post MapReduce technologies. Spark allows for in-memory processing, which can speed up iterative algorithms and interactive data analysis compared to MapReduce. Spark's approach to fault tolerance through RDDs can be more efficient for certain types of workloads.</a:t>
            </a:r>
            <a:endParaRPr>
              <a:solidFill>
                <a:schemeClr val="dk1"/>
              </a:solidFill>
              <a:latin typeface="Times New Roman"/>
              <a:ea typeface="Times New Roman"/>
              <a:cs typeface="Times New Roman"/>
              <a:sym typeface="Times New Roman"/>
            </a:endParaRPr>
          </a:p>
        </p:txBody>
      </p:sp>
      <p:sp>
        <p:nvSpPr>
          <p:cNvPr id="1008" name="Google Shape;1008;g2b88c5551d2_1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2b88c5551d2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Moving on, we are going to talk about what the authors say are the three most important things that MapReduce has contributed to. These three ideas, schema </a:t>
            </a:r>
            <a:r>
              <a:rPr lang="en">
                <a:latin typeface="Times New Roman"/>
                <a:ea typeface="Times New Roman"/>
                <a:cs typeface="Times New Roman"/>
                <a:sym typeface="Times New Roman"/>
              </a:rPr>
              <a:t>flexibility</a:t>
            </a:r>
            <a:r>
              <a:rPr lang="en">
                <a:latin typeface="Times New Roman"/>
                <a:ea typeface="Times New Roman"/>
                <a:cs typeface="Times New Roman"/>
                <a:sym typeface="Times New Roman"/>
              </a:rPr>
              <a:t>, interface </a:t>
            </a:r>
            <a:r>
              <a:rPr lang="en">
                <a:latin typeface="Times New Roman"/>
                <a:ea typeface="Times New Roman"/>
                <a:cs typeface="Times New Roman"/>
                <a:sym typeface="Times New Roman"/>
              </a:rPr>
              <a:t>flexibility</a:t>
            </a:r>
            <a:r>
              <a:rPr lang="en">
                <a:latin typeface="Times New Roman"/>
                <a:ea typeface="Times New Roman"/>
                <a:cs typeface="Times New Roman"/>
                <a:sym typeface="Times New Roman"/>
              </a:rPr>
              <a:t>, architectural flexibility, weren’t necessarily novel but the authors believe that they wouldn’t have become so relevant and broadly used if it weren’t for MapReduce.</a:t>
            </a:r>
            <a:endParaRPr>
              <a:latin typeface="Times New Roman"/>
              <a:ea typeface="Times New Roman"/>
              <a:cs typeface="Times New Roman"/>
              <a:sym typeface="Times New Roman"/>
            </a:endParaRPr>
          </a:p>
        </p:txBody>
      </p:sp>
      <p:sp>
        <p:nvSpPr>
          <p:cNvPr id="1047" name="Google Shape;1047;g2b88c5551d2_1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2b88c5551d2_1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The first, Schema flexibility, simply refers to the fact that MapReduce systems can process </a:t>
            </a:r>
            <a:r>
              <a:rPr lang="en">
                <a:latin typeface="Times New Roman"/>
                <a:ea typeface="Times New Roman"/>
                <a:cs typeface="Times New Roman"/>
                <a:sym typeface="Times New Roman"/>
              </a:rPr>
              <a:t>arbitrarily</a:t>
            </a:r>
            <a:r>
              <a:rPr lang="en">
                <a:latin typeface="Times New Roman"/>
                <a:ea typeface="Times New Roman"/>
                <a:cs typeface="Times New Roman"/>
                <a:sym typeface="Times New Roman"/>
              </a:rPr>
              <a:t> structured data. This makes it so that there is no loading step. The data doesn’t have to clean or curated. The authors say that this is a huge contrast to the “walled garden” way that traditional data warehouse systems work. Along with this, it’s also important to note that storage is cheaper </a:t>
            </a:r>
            <a:r>
              <a:rPr lang="en">
                <a:latin typeface="Times New Roman"/>
                <a:ea typeface="Times New Roman"/>
                <a:cs typeface="Times New Roman"/>
                <a:sym typeface="Times New Roman"/>
              </a:rPr>
              <a:t>than traditional warehouse systems. Both of these things coupled together allow users to store the data for longer and longer. This is the reason why the authors say that this schema flexibility is a key factor behind the rise of “Big Data.” This phenomenon also resulted in the growth of semi-structured storage formats. But because of this, these systems do take much longer for Extract, transform, load tasks. Overall, the authors believe that this phenomenon impacts data management at all levels, analyst to programmer to analytics vendor, and is quite influential and will become even more so in the future. </a:t>
            </a:r>
            <a:endParaRPr>
              <a:latin typeface="Times New Roman"/>
              <a:ea typeface="Times New Roman"/>
              <a:cs typeface="Times New Roman"/>
              <a:sym typeface="Times New Roman"/>
            </a:endParaRPr>
          </a:p>
        </p:txBody>
      </p:sp>
      <p:sp>
        <p:nvSpPr>
          <p:cNvPr id="1065" name="Google Shape;1065;g2b88c5551d2_1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2b88c5551d2_1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Coming to interface flexibility, the authors believe that this impacts experts and architects the most. When they say interface flexibility, they are referring to interfaces being able to support a number of different interacting </a:t>
            </a:r>
            <a:r>
              <a:rPr lang="en">
                <a:latin typeface="Times New Roman"/>
                <a:ea typeface="Times New Roman"/>
                <a:cs typeface="Times New Roman"/>
                <a:sym typeface="Times New Roman"/>
              </a:rPr>
              <a:t>options for users: an organization might want to use imperative code to parse a file, use SQL to create columns, and machine learning to cluster the results. And they want to do all this on one interface. The flexibility of today’s engines allows them to this whereas traditional database engines don’t. While traditional database engines do support user-defined computations, today’s engines make it easier to express user-defined computation and to integrate the results from user-defined function with the results of queries constructed in SQL. As I already mentioned, this is particularly attractive to programmers: the combining of ETL, analytics, and post-processing in a single interface. </a:t>
            </a:r>
            <a:endParaRPr>
              <a:latin typeface="Times New Roman"/>
              <a:ea typeface="Times New Roman"/>
              <a:cs typeface="Times New Roman"/>
              <a:sym typeface="Times New Roman"/>
            </a:endParaRPr>
          </a:p>
        </p:txBody>
      </p:sp>
      <p:sp>
        <p:nvSpPr>
          <p:cNvPr id="1104" name="Google Shape;1104;g2b88c5551d2_1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2b88c5551d2_1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The last phenomenon that the authors talked about is architectural </a:t>
            </a:r>
            <a:r>
              <a:rPr lang="en">
                <a:latin typeface="Times New Roman"/>
                <a:ea typeface="Times New Roman"/>
                <a:cs typeface="Times New Roman"/>
                <a:sym typeface="Times New Roman"/>
              </a:rPr>
              <a:t>flexibility</a:t>
            </a:r>
            <a:r>
              <a:rPr lang="en">
                <a:latin typeface="Times New Roman"/>
                <a:ea typeface="Times New Roman"/>
                <a:cs typeface="Times New Roman"/>
                <a:sym typeface="Times New Roman"/>
              </a:rPr>
              <a:t>. One thing that's not desirable in traditional databases is how strongly coupled the storage, query processing, and memory management are. This is not a problem in the post MapReduce systems because they are built bottom up with the Hadoop ecosystem. Organizations can write queries against the raw filesystems, or use dataflow engines such as Spark or use analytics packages such as Graphlab etc. Yes, this flexibility comes with performance overhead. But it is of particular interest to system builders because it provides them with additional freedom in building their infrastructure. </a:t>
            </a:r>
            <a:endParaRPr>
              <a:latin typeface="Times New Roman"/>
              <a:ea typeface="Times New Roman"/>
              <a:cs typeface="Times New Roman"/>
              <a:sym typeface="Times New Roman"/>
            </a:endParaRPr>
          </a:p>
        </p:txBody>
      </p:sp>
      <p:sp>
        <p:nvSpPr>
          <p:cNvPr id="1143" name="Google Shape;1143;g2b88c5551d2_1_3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2b88c5551d2_1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To conclude this section, today's distributed data management infrastructures excel in flexibility and heterogeneity: of storage formats, of computation paradigms, and system implementations.The most </a:t>
            </a:r>
            <a:r>
              <a:rPr lang="en">
                <a:latin typeface="Times New Roman"/>
                <a:ea typeface="Times New Roman"/>
                <a:cs typeface="Times New Roman"/>
                <a:sym typeface="Times New Roman"/>
              </a:rPr>
              <a:t>important</a:t>
            </a:r>
            <a:r>
              <a:rPr lang="en">
                <a:latin typeface="Times New Roman"/>
                <a:ea typeface="Times New Roman"/>
                <a:cs typeface="Times New Roman"/>
                <a:sym typeface="Times New Roman"/>
              </a:rPr>
              <a:t> of these is the heterogeneity of storage formats because it impacts everybody in the field: </a:t>
            </a:r>
            <a:r>
              <a:rPr lang="en">
                <a:latin typeface="Times New Roman"/>
                <a:ea typeface="Times New Roman"/>
                <a:cs typeface="Times New Roman"/>
                <a:sym typeface="Times New Roman"/>
              </a:rPr>
              <a:t>novices, experts and architects. However, all three are relevant, and there is still scope for improvements and research in all the areas. </a:t>
            </a:r>
            <a:endParaRPr>
              <a:latin typeface="Times New Roman"/>
              <a:ea typeface="Times New Roman"/>
              <a:cs typeface="Times New Roman"/>
              <a:sym typeface="Times New Roman"/>
            </a:endParaRPr>
          </a:p>
        </p:txBody>
      </p:sp>
      <p:sp>
        <p:nvSpPr>
          <p:cNvPr id="1182" name="Google Shape;1182;g2b88c5551d2_1_3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2b8c127ea1b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g2b8c127ea1b_1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2b8c127ea1b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g2b8c127ea1b_1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2b8c127ea1b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g2b8c127ea1b_1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2b8c127ea1b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g2b8c127ea1b_1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b8d91c4c49_2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g2b8d91c4c49_2_3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2b8c127ea1b_1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g2b8c127ea1b_1_2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2b8c127ea1b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g2b8c127ea1b_1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2693143963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g2693143963c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200"/>
              </a:spcBef>
              <a:spcAft>
                <a:spcPts val="0"/>
              </a:spcAft>
              <a:buClr>
                <a:schemeClr val="dk1"/>
              </a:buClr>
              <a:buSzPts val="1400"/>
              <a:buChar char="○"/>
              <a:defRPr/>
            </a:lvl2pPr>
            <a:lvl3pPr indent="-317500" lvl="2" marL="1371600" rtl="0" algn="l">
              <a:lnSpc>
                <a:spcPct val="90000"/>
              </a:lnSpc>
              <a:spcBef>
                <a:spcPts val="1200"/>
              </a:spcBef>
              <a:spcAft>
                <a:spcPts val="0"/>
              </a:spcAft>
              <a:buClr>
                <a:schemeClr val="dk1"/>
              </a:buClr>
              <a:buSzPts val="1400"/>
              <a:buChar char="■"/>
              <a:defRPr/>
            </a:lvl3pPr>
            <a:lvl4pPr indent="-317500" lvl="3" marL="1828800" rtl="0" algn="l">
              <a:lnSpc>
                <a:spcPct val="90000"/>
              </a:lnSpc>
              <a:spcBef>
                <a:spcPts val="1200"/>
              </a:spcBef>
              <a:spcAft>
                <a:spcPts val="0"/>
              </a:spcAft>
              <a:buClr>
                <a:schemeClr val="dk1"/>
              </a:buClr>
              <a:buSzPts val="1400"/>
              <a:buChar char="●"/>
              <a:defRPr/>
            </a:lvl4pPr>
            <a:lvl5pPr indent="-317500" lvl="4" marL="2286000" rtl="0" algn="l">
              <a:lnSpc>
                <a:spcPct val="90000"/>
              </a:lnSpc>
              <a:spcBef>
                <a:spcPts val="1200"/>
              </a:spcBef>
              <a:spcAft>
                <a:spcPts val="0"/>
              </a:spcAft>
              <a:buClr>
                <a:schemeClr val="dk1"/>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17"/>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7" name="Google Shape;77;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0" name="Shape 80"/>
        <p:cNvGrpSpPr/>
        <p:nvPr/>
      </p:nvGrpSpPr>
      <p:grpSpPr>
        <a:xfrm>
          <a:off x="0" y="0"/>
          <a:ext cx="0" cy="0"/>
          <a:chOff x="0" y="0"/>
          <a:chExt cx="0" cy="0"/>
        </a:xfrm>
      </p:grpSpPr>
      <p:sp>
        <p:nvSpPr>
          <p:cNvPr id="81" name="Google Shape;81;p1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8"/>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8"/>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7" name="Shape 87"/>
        <p:cNvGrpSpPr/>
        <p:nvPr/>
      </p:nvGrpSpPr>
      <p:grpSpPr>
        <a:xfrm>
          <a:off x="0" y="0"/>
          <a:ext cx="0" cy="0"/>
          <a:chOff x="0" y="0"/>
          <a:chExt cx="0" cy="0"/>
        </a:xfrm>
      </p:grpSpPr>
      <p:sp>
        <p:nvSpPr>
          <p:cNvPr id="88" name="Google Shape;88;p19"/>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19"/>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0" name="Google Shape;90;p19"/>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19"/>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2" name="Google Shape;92;p1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3" name="Google Shape;93;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6" name="Shape 96"/>
        <p:cNvGrpSpPr/>
        <p:nvPr/>
      </p:nvGrpSpPr>
      <p:grpSpPr>
        <a:xfrm>
          <a:off x="0" y="0"/>
          <a:ext cx="0" cy="0"/>
          <a:chOff x="0" y="0"/>
          <a:chExt cx="0" cy="0"/>
        </a:xfrm>
      </p:grpSpPr>
      <p:sp>
        <p:nvSpPr>
          <p:cNvPr id="97" name="Google Shape;97;p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5" name="Shape 105"/>
        <p:cNvGrpSpPr/>
        <p:nvPr/>
      </p:nvGrpSpPr>
      <p:grpSpPr>
        <a:xfrm>
          <a:off x="0" y="0"/>
          <a:ext cx="0" cy="0"/>
          <a:chOff x="0" y="0"/>
          <a:chExt cx="0" cy="0"/>
        </a:xfrm>
      </p:grpSpPr>
      <p:sp>
        <p:nvSpPr>
          <p:cNvPr id="106" name="Google Shape;106;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 name="Google Shape;107;p22"/>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8" name="Google Shape;108;p22"/>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9" name="Google Shape;109;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2" name="Shape 112"/>
        <p:cNvGrpSpPr/>
        <p:nvPr/>
      </p:nvGrpSpPr>
      <p:grpSpPr>
        <a:xfrm>
          <a:off x="0" y="0"/>
          <a:ext cx="0" cy="0"/>
          <a:chOff x="0" y="0"/>
          <a:chExt cx="0" cy="0"/>
        </a:xfrm>
      </p:grpSpPr>
      <p:sp>
        <p:nvSpPr>
          <p:cNvPr id="113" name="Google Shape;113;p2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23"/>
          <p:cNvSpPr/>
          <p:nvPr>
            <p:ph idx="2" type="pic"/>
          </p:nvPr>
        </p:nvSpPr>
        <p:spPr>
          <a:xfrm>
            <a:off x="3887391" y="740569"/>
            <a:ext cx="4629150" cy="3655219"/>
          </a:xfrm>
          <a:prstGeom prst="rect">
            <a:avLst/>
          </a:prstGeom>
          <a:noFill/>
          <a:ln>
            <a:noFill/>
          </a:ln>
        </p:spPr>
      </p:sp>
      <p:sp>
        <p:nvSpPr>
          <p:cNvPr id="115" name="Google Shape;115;p23"/>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5" name="Shape 125"/>
        <p:cNvGrpSpPr/>
        <p:nvPr/>
      </p:nvGrpSpPr>
      <p:grpSpPr>
        <a:xfrm>
          <a:off x="0" y="0"/>
          <a:ext cx="0" cy="0"/>
          <a:chOff x="0" y="0"/>
          <a:chExt cx="0" cy="0"/>
        </a:xfrm>
      </p:grpSpPr>
      <p:sp>
        <p:nvSpPr>
          <p:cNvPr id="126" name="Google Shape;126;p2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7" name="Google Shape;127;p25"/>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2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0" name="Google Shape;130;p2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2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lt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9" name="Google Shape;139;p27"/>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lt1"/>
              </a:buClr>
              <a:buSzPts val="1800"/>
              <a:buNone/>
              <a:defRPr sz="1800"/>
            </a:lvl1pPr>
            <a:lvl2pPr lvl="1" algn="ctr">
              <a:lnSpc>
                <a:spcPct val="90000"/>
              </a:lnSpc>
              <a:spcBef>
                <a:spcPts val="400"/>
              </a:spcBef>
              <a:spcAft>
                <a:spcPts val="0"/>
              </a:spcAft>
              <a:buClr>
                <a:schemeClr val="lt1"/>
              </a:buClr>
              <a:buSzPts val="1500"/>
              <a:buNone/>
              <a:defRPr sz="1500"/>
            </a:lvl2pPr>
            <a:lvl3pPr lvl="2" algn="ctr">
              <a:lnSpc>
                <a:spcPct val="90000"/>
              </a:lnSpc>
              <a:spcBef>
                <a:spcPts val="400"/>
              </a:spcBef>
              <a:spcAft>
                <a:spcPts val="0"/>
              </a:spcAft>
              <a:buClr>
                <a:schemeClr val="lt1"/>
              </a:buClr>
              <a:buSzPts val="1400"/>
              <a:buNone/>
              <a:defRPr sz="1400"/>
            </a:lvl3pPr>
            <a:lvl4pPr lvl="3" algn="ctr">
              <a:lnSpc>
                <a:spcPct val="90000"/>
              </a:lnSpc>
              <a:spcBef>
                <a:spcPts val="400"/>
              </a:spcBef>
              <a:spcAft>
                <a:spcPts val="0"/>
              </a:spcAft>
              <a:buClr>
                <a:schemeClr val="lt1"/>
              </a:buClr>
              <a:buSzPts val="1200"/>
              <a:buNone/>
              <a:defRPr sz="1200"/>
            </a:lvl4pPr>
            <a:lvl5pPr lvl="4" algn="ctr">
              <a:lnSpc>
                <a:spcPct val="90000"/>
              </a:lnSpc>
              <a:spcBef>
                <a:spcPts val="400"/>
              </a:spcBef>
              <a:spcAft>
                <a:spcPts val="0"/>
              </a:spcAft>
              <a:buClr>
                <a:schemeClr val="lt1"/>
              </a:buClr>
              <a:buSzPts val="1200"/>
              <a:buNone/>
              <a:defRPr sz="1200"/>
            </a:lvl5pPr>
            <a:lvl6pPr lvl="5" algn="ctr">
              <a:lnSpc>
                <a:spcPct val="90000"/>
              </a:lnSpc>
              <a:spcBef>
                <a:spcPts val="400"/>
              </a:spcBef>
              <a:spcAft>
                <a:spcPts val="0"/>
              </a:spcAft>
              <a:buClr>
                <a:schemeClr val="lt1"/>
              </a:buClr>
              <a:buSzPts val="1200"/>
              <a:buNone/>
              <a:defRPr sz="1200"/>
            </a:lvl6pPr>
            <a:lvl7pPr lvl="6" algn="ctr">
              <a:lnSpc>
                <a:spcPct val="90000"/>
              </a:lnSpc>
              <a:spcBef>
                <a:spcPts val="400"/>
              </a:spcBef>
              <a:spcAft>
                <a:spcPts val="0"/>
              </a:spcAft>
              <a:buClr>
                <a:schemeClr val="lt1"/>
              </a:buClr>
              <a:buSzPts val="1200"/>
              <a:buNone/>
              <a:defRPr sz="1200"/>
            </a:lvl7pPr>
            <a:lvl8pPr lvl="7" algn="ctr">
              <a:lnSpc>
                <a:spcPct val="90000"/>
              </a:lnSpc>
              <a:spcBef>
                <a:spcPts val="400"/>
              </a:spcBef>
              <a:spcAft>
                <a:spcPts val="0"/>
              </a:spcAft>
              <a:buClr>
                <a:schemeClr val="lt1"/>
              </a:buClr>
              <a:buSzPts val="1200"/>
              <a:buNone/>
              <a:defRPr sz="1200"/>
            </a:lvl8pPr>
            <a:lvl9pPr lvl="8" algn="ctr">
              <a:lnSpc>
                <a:spcPct val="90000"/>
              </a:lnSpc>
              <a:spcBef>
                <a:spcPts val="400"/>
              </a:spcBef>
              <a:spcAft>
                <a:spcPts val="0"/>
              </a:spcAft>
              <a:buClr>
                <a:schemeClr val="lt1"/>
              </a:buClr>
              <a:buSzPts val="1200"/>
              <a:buNone/>
              <a:defRPr sz="1200"/>
            </a:lvl9pPr>
          </a:lstStyle>
          <a:p/>
        </p:txBody>
      </p:sp>
      <p:sp>
        <p:nvSpPr>
          <p:cNvPr id="140" name="Google Shape;140;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2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 name="Google Shape;142;p2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8" name="Google Shape;58;p14"/>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1" name="Shape 131"/>
        <p:cNvGrpSpPr/>
        <p:nvPr/>
      </p:nvGrpSpPr>
      <p:grpSpPr>
        <a:xfrm>
          <a:off x="0" y="0"/>
          <a:ext cx="0" cy="0"/>
          <a:chOff x="0" y="0"/>
          <a:chExt cx="0" cy="0"/>
        </a:xfrm>
      </p:grpSpPr>
      <p:sp>
        <p:nvSpPr>
          <p:cNvPr id="132" name="Google Shape;132;p2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lt1"/>
              </a:buClr>
              <a:buSzPts val="3300"/>
              <a:buFont typeface="Calibri"/>
              <a:buNone/>
              <a:defRPr b="0" i="0" sz="3300" u="none" cap="none" strike="noStrike">
                <a:solidFill>
                  <a:schemeClr val="lt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33" name="Google Shape;133;p2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lt1"/>
              </a:buClr>
              <a:buSzPts val="2100"/>
              <a:buFont typeface="Arial"/>
              <a:buChar char="•"/>
              <a:defRPr b="0" i="0" sz="2100" u="none" cap="none" strike="noStrike">
                <a:solidFill>
                  <a:schemeClr val="lt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9pPr>
          </a:lstStyle>
          <a:p/>
        </p:txBody>
      </p:sp>
      <p:sp>
        <p:nvSpPr>
          <p:cNvPr id="134" name="Google Shape;134;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sz="900">
                <a:solidFill>
                  <a:schemeClr val="lt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9pPr>
          </a:lstStyle>
          <a:p/>
        </p:txBody>
      </p:sp>
      <p:sp>
        <p:nvSpPr>
          <p:cNvPr id="135" name="Google Shape;135;p2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sz="900">
                <a:solidFill>
                  <a:schemeClr val="lt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9pPr>
          </a:lstStyle>
          <a:p/>
        </p:txBody>
      </p:sp>
      <p:sp>
        <p:nvSpPr>
          <p:cNvPr id="136" name="Google Shape;136;p2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sz="900" u="none">
                <a:solidFill>
                  <a:schemeClr val="lt1"/>
                </a:solidFill>
                <a:latin typeface="Calibri"/>
                <a:ea typeface="Calibri"/>
                <a:cs typeface="Calibri"/>
                <a:sym typeface="Calibri"/>
              </a:defRPr>
            </a:lvl1pPr>
            <a:lvl2pPr indent="0" lvl="1" marL="0" marR="0" rtl="0" algn="r">
              <a:spcBef>
                <a:spcPts val="0"/>
              </a:spcBef>
              <a:buNone/>
              <a:defRPr b="0" sz="900" u="none">
                <a:solidFill>
                  <a:schemeClr val="lt1"/>
                </a:solidFill>
                <a:latin typeface="Calibri"/>
                <a:ea typeface="Calibri"/>
                <a:cs typeface="Calibri"/>
                <a:sym typeface="Calibri"/>
              </a:defRPr>
            </a:lvl2pPr>
            <a:lvl3pPr indent="0" lvl="2" marL="0" marR="0" rtl="0" algn="r">
              <a:spcBef>
                <a:spcPts val="0"/>
              </a:spcBef>
              <a:buNone/>
              <a:defRPr b="0" sz="900" u="none">
                <a:solidFill>
                  <a:schemeClr val="lt1"/>
                </a:solidFill>
                <a:latin typeface="Calibri"/>
                <a:ea typeface="Calibri"/>
                <a:cs typeface="Calibri"/>
                <a:sym typeface="Calibri"/>
              </a:defRPr>
            </a:lvl3pPr>
            <a:lvl4pPr indent="0" lvl="3" marL="0" marR="0" rtl="0" algn="r">
              <a:spcBef>
                <a:spcPts val="0"/>
              </a:spcBef>
              <a:buNone/>
              <a:defRPr b="0" sz="900" u="none">
                <a:solidFill>
                  <a:schemeClr val="lt1"/>
                </a:solidFill>
                <a:latin typeface="Calibri"/>
                <a:ea typeface="Calibri"/>
                <a:cs typeface="Calibri"/>
                <a:sym typeface="Calibri"/>
              </a:defRPr>
            </a:lvl4pPr>
            <a:lvl5pPr indent="0" lvl="4" marL="0" marR="0" rtl="0" algn="r">
              <a:spcBef>
                <a:spcPts val="0"/>
              </a:spcBef>
              <a:buNone/>
              <a:defRPr b="0" sz="900" u="none">
                <a:solidFill>
                  <a:schemeClr val="lt1"/>
                </a:solidFill>
                <a:latin typeface="Calibri"/>
                <a:ea typeface="Calibri"/>
                <a:cs typeface="Calibri"/>
                <a:sym typeface="Calibri"/>
              </a:defRPr>
            </a:lvl5pPr>
            <a:lvl6pPr indent="0" lvl="5" marL="0" marR="0" rtl="0" algn="r">
              <a:spcBef>
                <a:spcPts val="0"/>
              </a:spcBef>
              <a:buNone/>
              <a:defRPr b="0" sz="900" u="none">
                <a:solidFill>
                  <a:schemeClr val="lt1"/>
                </a:solidFill>
                <a:latin typeface="Calibri"/>
                <a:ea typeface="Calibri"/>
                <a:cs typeface="Calibri"/>
                <a:sym typeface="Calibri"/>
              </a:defRPr>
            </a:lvl6pPr>
            <a:lvl7pPr indent="0" lvl="6" marL="0" marR="0" rtl="0" algn="r">
              <a:spcBef>
                <a:spcPts val="0"/>
              </a:spcBef>
              <a:buNone/>
              <a:defRPr b="0" sz="900" u="none">
                <a:solidFill>
                  <a:schemeClr val="lt1"/>
                </a:solidFill>
                <a:latin typeface="Calibri"/>
                <a:ea typeface="Calibri"/>
                <a:cs typeface="Calibri"/>
                <a:sym typeface="Calibri"/>
              </a:defRPr>
            </a:lvl7pPr>
            <a:lvl8pPr indent="0" lvl="7" marL="0" marR="0" rtl="0" algn="r">
              <a:spcBef>
                <a:spcPts val="0"/>
              </a:spcBef>
              <a:buNone/>
              <a:defRPr b="0" sz="900" u="none">
                <a:solidFill>
                  <a:schemeClr val="lt1"/>
                </a:solidFill>
                <a:latin typeface="Calibri"/>
                <a:ea typeface="Calibri"/>
                <a:cs typeface="Calibri"/>
                <a:sym typeface="Calibri"/>
              </a:defRPr>
            </a:lvl8pPr>
            <a:lvl9pPr indent="0" lvl="8" marL="0" marR="0" rtl="0" algn="r">
              <a:spcBef>
                <a:spcPts val="0"/>
              </a:spcBef>
              <a:buNone/>
              <a:defRPr b="0" sz="9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image" Target="../media/image5.png"/><Relationship Id="rId7"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35.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28.png"/><Relationship Id="rId6" Type="http://schemas.openxmlformats.org/officeDocument/2006/relationships/image" Target="../media/image32.png"/><Relationship Id="rId7"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46" name="Shape 146"/>
        <p:cNvGrpSpPr/>
        <p:nvPr/>
      </p:nvGrpSpPr>
      <p:grpSpPr>
        <a:xfrm>
          <a:off x="0" y="0"/>
          <a:ext cx="0" cy="0"/>
          <a:chOff x="0" y="0"/>
          <a:chExt cx="0" cy="0"/>
        </a:xfrm>
      </p:grpSpPr>
      <p:sp>
        <p:nvSpPr>
          <p:cNvPr id="147" name="Google Shape;147;p28"/>
          <p:cNvSpPr/>
          <p:nvPr/>
        </p:nvSpPr>
        <p:spPr>
          <a:xfrm>
            <a:off x="1465326" y="0"/>
            <a:ext cx="6213348" cy="51435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8" name="Google Shape;148;p28"/>
          <p:cNvSpPr/>
          <p:nvPr/>
        </p:nvSpPr>
        <p:spPr>
          <a:xfrm>
            <a:off x="1588770" y="-50"/>
            <a:ext cx="5966460" cy="51435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9" name="Google Shape;149;p28"/>
          <p:cNvSpPr/>
          <p:nvPr/>
        </p:nvSpPr>
        <p:spPr>
          <a:xfrm>
            <a:off x="1916698" y="1370503"/>
            <a:ext cx="5310600" cy="29805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rPr b="0" lang="en" sz="4100" cap="none">
                <a:solidFill>
                  <a:srgbClr val="0C0C0C"/>
                </a:solidFill>
                <a:latin typeface="Calibri"/>
                <a:ea typeface="Calibri"/>
                <a:cs typeface="Calibri"/>
                <a:sym typeface="Calibri"/>
              </a:rPr>
              <a:t>Chapter 5: Large-scale </a:t>
            </a:r>
            <a:endParaRPr sz="1100"/>
          </a:p>
          <a:p>
            <a:pPr indent="0" lvl="0" marL="0" marR="0" rtl="0" algn="ctr">
              <a:lnSpc>
                <a:spcPct val="90000"/>
              </a:lnSpc>
              <a:spcBef>
                <a:spcPts val="500"/>
              </a:spcBef>
              <a:spcAft>
                <a:spcPts val="0"/>
              </a:spcAft>
              <a:buNone/>
            </a:pPr>
            <a:r>
              <a:rPr b="0" lang="en" sz="4100" cap="none">
                <a:solidFill>
                  <a:srgbClr val="0C0C0C"/>
                </a:solidFill>
                <a:latin typeface="Calibri"/>
                <a:ea typeface="Calibri"/>
                <a:cs typeface="Calibri"/>
                <a:sym typeface="Calibri"/>
              </a:rPr>
              <a:t>Dataflow engines</a:t>
            </a:r>
            <a:endParaRPr b="0" sz="4100" cap="none">
              <a:solidFill>
                <a:srgbClr val="0C0C0C"/>
              </a:solidFill>
              <a:latin typeface="Calibri"/>
              <a:ea typeface="Calibri"/>
              <a:cs typeface="Calibri"/>
              <a:sym typeface="Calibri"/>
            </a:endParaRPr>
          </a:p>
          <a:p>
            <a:pPr indent="0" lvl="0" marL="0" marR="0" rtl="0" algn="ctr">
              <a:lnSpc>
                <a:spcPct val="90000"/>
              </a:lnSpc>
              <a:spcBef>
                <a:spcPts val="500"/>
              </a:spcBef>
              <a:spcAft>
                <a:spcPts val="0"/>
              </a:spcAft>
              <a:buNone/>
            </a:pPr>
            <a:r>
              <a:rPr lang="en" sz="1200">
                <a:solidFill>
                  <a:schemeClr val="dk1"/>
                </a:solidFill>
                <a:highlight>
                  <a:srgbClr val="FFFFFF"/>
                </a:highlight>
                <a:latin typeface="Montserrat"/>
                <a:ea typeface="Montserrat"/>
                <a:cs typeface="Montserrat"/>
                <a:sym typeface="Montserrat"/>
              </a:rPr>
              <a:t>Group: InterDBE</a:t>
            </a:r>
            <a:endParaRPr sz="4100">
              <a:solidFill>
                <a:srgbClr val="0C0C0C"/>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2300">
                <a:solidFill>
                  <a:schemeClr val="dk1"/>
                </a:solidFill>
                <a:latin typeface="Calibri"/>
                <a:ea typeface="Calibri"/>
                <a:cs typeface="Calibri"/>
                <a:sym typeface="Calibri"/>
              </a:rPr>
              <a:t>Ismail, Vinu, Joshna, Jure</a:t>
            </a:r>
            <a:endParaRPr sz="2300">
              <a:solidFill>
                <a:schemeClr val="dk1"/>
              </a:solidFill>
              <a:latin typeface="Calibri"/>
              <a:ea typeface="Calibri"/>
              <a:cs typeface="Calibri"/>
              <a:sym typeface="Calibri"/>
            </a:endParaRPr>
          </a:p>
          <a:p>
            <a:pPr indent="0" lvl="0" marL="0" marR="0" rtl="0" algn="ctr">
              <a:lnSpc>
                <a:spcPct val="90000"/>
              </a:lnSpc>
              <a:spcBef>
                <a:spcPts val="500"/>
              </a:spcBef>
              <a:spcAft>
                <a:spcPts val="0"/>
              </a:spcAft>
              <a:buNone/>
            </a:pPr>
            <a:r>
              <a:t/>
            </a:r>
            <a:endParaRPr sz="4100">
              <a:solidFill>
                <a:srgbClr val="0C0C0C"/>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29"/>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55" name="Google Shape;155;p29"/>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56" name="Google Shape;156;p29"/>
          <p:cNvSpPr txBox="1"/>
          <p:nvPr>
            <p:ph type="title"/>
          </p:nvPr>
        </p:nvSpPr>
        <p:spPr>
          <a:xfrm>
            <a:off x="628650" y="896773"/>
            <a:ext cx="24003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Content:</a:t>
            </a:r>
            <a:endParaRPr/>
          </a:p>
        </p:txBody>
      </p:sp>
      <p:grpSp>
        <p:nvGrpSpPr>
          <p:cNvPr id="157" name="Google Shape;157;p29"/>
          <p:cNvGrpSpPr/>
          <p:nvPr/>
        </p:nvGrpSpPr>
        <p:grpSpPr>
          <a:xfrm>
            <a:off x="-1" y="152184"/>
            <a:ext cx="1432688" cy="532245"/>
            <a:chOff x="2267504" y="2540250"/>
            <a:chExt cx="1990951" cy="739640"/>
          </a:xfrm>
        </p:grpSpPr>
        <p:sp>
          <p:nvSpPr>
            <p:cNvPr id="158" name="Google Shape;158;p29"/>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59" name="Google Shape;159;p29"/>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60" name="Google Shape;160;p29"/>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61" name="Google Shape;161;p29"/>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62" name="Google Shape;162;p29"/>
          <p:cNvGrpSpPr/>
          <p:nvPr/>
        </p:nvGrpSpPr>
        <p:grpSpPr>
          <a:xfrm>
            <a:off x="3082209" y="4154928"/>
            <a:ext cx="731373" cy="731374"/>
            <a:chOff x="5829300" y="3162300"/>
            <a:chExt cx="532256" cy="532257"/>
          </a:xfrm>
        </p:grpSpPr>
        <p:sp>
          <p:nvSpPr>
            <p:cNvPr id="163" name="Google Shape;163;p29"/>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 name="Google Shape;164;p29"/>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 name="Google Shape;165;p29"/>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6" name="Google Shape;166;p29"/>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7" name="Google Shape;167;p29"/>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8" name="Google Shape;168;p29"/>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9" name="Google Shape;169;p29"/>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0" name="Google Shape;170;p29"/>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1" name="Google Shape;171;p29"/>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2" name="Google Shape;172;p29"/>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 name="Google Shape;173;p29"/>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4" name="Google Shape;174;p29"/>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5" name="Google Shape;175;p29"/>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76" name="Google Shape;176;p29"/>
          <p:cNvGrpSpPr/>
          <p:nvPr/>
        </p:nvGrpSpPr>
        <p:grpSpPr>
          <a:xfrm>
            <a:off x="4113104" y="359984"/>
            <a:ext cx="4726125" cy="4405435"/>
            <a:chOff x="0" y="2439"/>
            <a:chExt cx="6301500" cy="5873913"/>
          </a:xfrm>
        </p:grpSpPr>
        <p:sp>
          <p:nvSpPr>
            <p:cNvPr id="177" name="Google Shape;177;p29"/>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29"/>
            <p:cNvSpPr/>
            <p:nvPr/>
          </p:nvSpPr>
          <p:spPr>
            <a:xfrm>
              <a:off x="374076" y="280678"/>
              <a:ext cx="680100" cy="6801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9"/>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29"/>
            <p:cNvSpPr txBox="1"/>
            <p:nvPr/>
          </p:nvSpPr>
          <p:spPr>
            <a:xfrm>
              <a:off x="1428292" y="2439"/>
              <a:ext cx="48732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1- Introduction to dataflow engines</a:t>
              </a:r>
              <a:endParaRPr sz="1100"/>
            </a:p>
          </p:txBody>
        </p:sp>
        <p:sp>
          <p:nvSpPr>
            <p:cNvPr id="181" name="Google Shape;181;p29"/>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29"/>
            <p:cNvSpPr/>
            <p:nvPr/>
          </p:nvSpPr>
          <p:spPr>
            <a:xfrm>
              <a:off x="374076" y="1826449"/>
              <a:ext cx="680100" cy="6801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29"/>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p29"/>
            <p:cNvSpPr txBox="1"/>
            <p:nvPr/>
          </p:nvSpPr>
          <p:spPr>
            <a:xfrm>
              <a:off x="1428292" y="1548210"/>
              <a:ext cx="48732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2- MapReduce and its evolution </a:t>
              </a:r>
              <a:endParaRPr sz="1100"/>
            </a:p>
          </p:txBody>
        </p:sp>
        <p:sp>
          <p:nvSpPr>
            <p:cNvPr id="185" name="Google Shape;185;p29"/>
            <p:cNvSpPr/>
            <p:nvPr/>
          </p:nvSpPr>
          <p:spPr>
            <a:xfrm>
              <a:off x="0" y="3093981"/>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29"/>
            <p:cNvSpPr/>
            <p:nvPr/>
          </p:nvSpPr>
          <p:spPr>
            <a:xfrm>
              <a:off x="374076" y="3372220"/>
              <a:ext cx="680100" cy="680100"/>
            </a:xfrm>
            <a:prstGeom prst="rect">
              <a:avLst/>
            </a:prstGeom>
            <a:blipFill rotWithShape="1">
              <a:blip r:embed="rId5">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9"/>
            <p:cNvSpPr/>
            <p:nvPr/>
          </p:nvSpPr>
          <p:spPr>
            <a:xfrm>
              <a:off x="1428292" y="3093981"/>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9"/>
            <p:cNvSpPr txBox="1"/>
            <p:nvPr/>
          </p:nvSpPr>
          <p:spPr>
            <a:xfrm>
              <a:off x="1428292" y="3093981"/>
              <a:ext cx="48732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3- Post MapReduce Technologies </a:t>
              </a:r>
              <a:endParaRPr sz="1100"/>
            </a:p>
          </p:txBody>
        </p:sp>
        <p:sp>
          <p:nvSpPr>
            <p:cNvPr id="189" name="Google Shape;189;p29"/>
            <p:cNvSpPr/>
            <p:nvPr/>
          </p:nvSpPr>
          <p:spPr>
            <a:xfrm>
              <a:off x="0" y="4639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29"/>
            <p:cNvSpPr/>
            <p:nvPr/>
          </p:nvSpPr>
          <p:spPr>
            <a:xfrm>
              <a:off x="374076" y="4917991"/>
              <a:ext cx="680100" cy="680100"/>
            </a:xfrm>
            <a:prstGeom prst="rect">
              <a:avLst/>
            </a:prstGeom>
            <a:blipFill rotWithShape="1">
              <a:blip r:embed="rId6">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29"/>
            <p:cNvSpPr/>
            <p:nvPr/>
          </p:nvSpPr>
          <p:spPr>
            <a:xfrm>
              <a:off x="1428292" y="4639752"/>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9"/>
            <p:cNvSpPr txBox="1"/>
            <p:nvPr/>
          </p:nvSpPr>
          <p:spPr>
            <a:xfrm>
              <a:off x="1428292" y="4639752"/>
              <a:ext cx="48732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4- Current trends and future directions</a:t>
              </a:r>
              <a:endParaRPr sz="11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96" name="Shape 196"/>
        <p:cNvGrpSpPr/>
        <p:nvPr/>
      </p:nvGrpSpPr>
      <p:grpSpPr>
        <a:xfrm>
          <a:off x="0" y="0"/>
          <a:ext cx="0" cy="0"/>
          <a:chOff x="0" y="0"/>
          <a:chExt cx="0" cy="0"/>
        </a:xfrm>
      </p:grpSpPr>
      <p:sp>
        <p:nvSpPr>
          <p:cNvPr id="197" name="Google Shape;197;p30"/>
          <p:cNvSpPr/>
          <p:nvPr/>
        </p:nvSpPr>
        <p:spPr>
          <a:xfrm>
            <a:off x="1465326" y="0"/>
            <a:ext cx="6213348" cy="51435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8" name="Google Shape;198;p30"/>
          <p:cNvSpPr/>
          <p:nvPr/>
        </p:nvSpPr>
        <p:spPr>
          <a:xfrm>
            <a:off x="1588770" y="0"/>
            <a:ext cx="5966460" cy="51435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9" name="Google Shape;199;p30"/>
          <p:cNvSpPr/>
          <p:nvPr/>
        </p:nvSpPr>
        <p:spPr>
          <a:xfrm>
            <a:off x="1916723" y="1081453"/>
            <a:ext cx="5310600" cy="29805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None/>
            </a:pPr>
            <a:r>
              <a:rPr b="0" lang="en" sz="4100" cap="none">
                <a:solidFill>
                  <a:srgbClr val="0C0C0C"/>
                </a:solidFill>
                <a:latin typeface="Calibri"/>
                <a:ea typeface="Calibri"/>
                <a:cs typeface="Calibri"/>
                <a:sym typeface="Calibri"/>
              </a:rPr>
              <a:t>Introduction to </a:t>
            </a:r>
            <a:endParaRPr sz="1100"/>
          </a:p>
          <a:p>
            <a:pPr indent="0" lvl="0" marL="0" marR="0" rtl="0" algn="ctr">
              <a:lnSpc>
                <a:spcPct val="90000"/>
              </a:lnSpc>
              <a:spcBef>
                <a:spcPts val="500"/>
              </a:spcBef>
              <a:spcAft>
                <a:spcPts val="0"/>
              </a:spcAft>
              <a:buNone/>
            </a:pPr>
            <a:r>
              <a:rPr b="0" lang="en" sz="4100" cap="none">
                <a:solidFill>
                  <a:srgbClr val="0C0C0C"/>
                </a:solidFill>
                <a:latin typeface="Calibri"/>
                <a:ea typeface="Calibri"/>
                <a:cs typeface="Calibri"/>
                <a:sym typeface="Calibri"/>
              </a:rPr>
              <a:t>Dataflow engines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sp>
        <p:nvSpPr>
          <p:cNvPr id="204" name="Google Shape;204;p3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5" name="Google Shape;205;p31"/>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06" name="Google Shape;206;p31"/>
          <p:cNvSpPr/>
          <p:nvPr/>
        </p:nvSpPr>
        <p:spPr>
          <a:xfrm>
            <a:off x="628650" y="896773"/>
            <a:ext cx="2400300" cy="31785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None/>
            </a:pPr>
            <a:r>
              <a:rPr b="0" lang="en" sz="3100" cap="none">
                <a:solidFill>
                  <a:schemeClr val="lt1"/>
                </a:solidFill>
                <a:latin typeface="Calibri"/>
                <a:ea typeface="Calibri"/>
                <a:cs typeface="Calibri"/>
                <a:sym typeface="Calibri"/>
              </a:rPr>
              <a:t>Limitations </a:t>
            </a:r>
            <a:r>
              <a:rPr lang="en" sz="3100">
                <a:solidFill>
                  <a:schemeClr val="lt1"/>
                </a:solidFill>
                <a:latin typeface="Calibri"/>
                <a:ea typeface="Calibri"/>
                <a:cs typeface="Calibri"/>
                <a:sym typeface="Calibri"/>
              </a:rPr>
              <a:t>in</a:t>
            </a:r>
            <a:r>
              <a:rPr b="0" lang="en" sz="3100" cap="none">
                <a:solidFill>
                  <a:schemeClr val="lt1"/>
                </a:solidFill>
                <a:latin typeface="Calibri"/>
                <a:ea typeface="Calibri"/>
                <a:cs typeface="Calibri"/>
                <a:sym typeface="Calibri"/>
              </a:rPr>
              <a:t> Conventional Database Systems in the early 2000s</a:t>
            </a:r>
            <a:endParaRPr sz="1100"/>
          </a:p>
        </p:txBody>
      </p:sp>
      <p:grpSp>
        <p:nvGrpSpPr>
          <p:cNvPr id="207" name="Google Shape;207;p31"/>
          <p:cNvGrpSpPr/>
          <p:nvPr/>
        </p:nvGrpSpPr>
        <p:grpSpPr>
          <a:xfrm>
            <a:off x="-1" y="152184"/>
            <a:ext cx="1432688" cy="532245"/>
            <a:chOff x="2267504" y="2540250"/>
            <a:chExt cx="1990951" cy="739640"/>
          </a:xfrm>
        </p:grpSpPr>
        <p:sp>
          <p:nvSpPr>
            <p:cNvPr id="208" name="Google Shape;208;p31"/>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09" name="Google Shape;209;p31"/>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10" name="Google Shape;210;p31"/>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1" name="Google Shape;211;p31"/>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212" name="Google Shape;212;p31"/>
          <p:cNvGrpSpPr/>
          <p:nvPr/>
        </p:nvGrpSpPr>
        <p:grpSpPr>
          <a:xfrm>
            <a:off x="3082209" y="4154928"/>
            <a:ext cx="731373" cy="731374"/>
            <a:chOff x="5829300" y="3162300"/>
            <a:chExt cx="532256" cy="532257"/>
          </a:xfrm>
        </p:grpSpPr>
        <p:sp>
          <p:nvSpPr>
            <p:cNvPr id="213" name="Google Shape;213;p31"/>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4" name="Google Shape;214;p31"/>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5" name="Google Shape;215;p31"/>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6" name="Google Shape;216;p31"/>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7" name="Google Shape;217;p31"/>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8" name="Google Shape;218;p31"/>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19" name="Google Shape;219;p31"/>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0" name="Google Shape;220;p31"/>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1" name="Google Shape;221;p31"/>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2" name="Google Shape;222;p31"/>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3" name="Google Shape;223;p31"/>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4" name="Google Shape;224;p31"/>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25" name="Google Shape;225;p31"/>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226" name="Google Shape;226;p31"/>
          <p:cNvGrpSpPr/>
          <p:nvPr/>
        </p:nvGrpSpPr>
        <p:grpSpPr>
          <a:xfrm>
            <a:off x="4214954" y="880661"/>
            <a:ext cx="4522500" cy="3364093"/>
            <a:chOff x="135800" y="696675"/>
            <a:chExt cx="6030000" cy="4485458"/>
          </a:xfrm>
        </p:grpSpPr>
        <p:sp>
          <p:nvSpPr>
            <p:cNvPr id="227" name="Google Shape;227;p31"/>
            <p:cNvSpPr/>
            <p:nvPr/>
          </p:nvSpPr>
          <p:spPr>
            <a:xfrm>
              <a:off x="630800" y="696675"/>
              <a:ext cx="810000" cy="8100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31"/>
            <p:cNvSpPr/>
            <p:nvPr/>
          </p:nvSpPr>
          <p:spPr>
            <a:xfrm>
              <a:off x="135800" y="1859404"/>
              <a:ext cx="1800000" cy="855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9" name="Google Shape;229;p31"/>
            <p:cNvSpPr txBox="1"/>
            <p:nvPr/>
          </p:nvSpPr>
          <p:spPr>
            <a:xfrm>
              <a:off x="135800" y="1859404"/>
              <a:ext cx="1800000" cy="855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800"/>
                <a:buFont typeface="Calibri"/>
                <a:buNone/>
              </a:pPr>
              <a:r>
                <a:rPr lang="en" sz="800">
                  <a:solidFill>
                    <a:schemeClr val="dk1"/>
                  </a:solidFill>
                  <a:latin typeface="Calibri"/>
                  <a:ea typeface="Calibri"/>
                  <a:cs typeface="Calibri"/>
                  <a:sym typeface="Calibri"/>
                </a:rPr>
                <a:t>Scalability: designed for a single server environment</a:t>
              </a:r>
              <a:endParaRPr sz="1100"/>
            </a:p>
          </p:txBody>
        </p:sp>
        <p:sp>
          <p:nvSpPr>
            <p:cNvPr id="230" name="Google Shape;230;p31"/>
            <p:cNvSpPr/>
            <p:nvPr/>
          </p:nvSpPr>
          <p:spPr>
            <a:xfrm>
              <a:off x="2745800" y="696675"/>
              <a:ext cx="810000" cy="8100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p31"/>
            <p:cNvSpPr/>
            <p:nvPr/>
          </p:nvSpPr>
          <p:spPr>
            <a:xfrm>
              <a:off x="2250800" y="1859404"/>
              <a:ext cx="1800000" cy="855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31"/>
            <p:cNvSpPr txBox="1"/>
            <p:nvPr/>
          </p:nvSpPr>
          <p:spPr>
            <a:xfrm>
              <a:off x="2250800" y="1859404"/>
              <a:ext cx="1800000" cy="855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800"/>
                <a:buFont typeface="Calibri"/>
                <a:buNone/>
              </a:pPr>
              <a:r>
                <a:rPr lang="en" sz="800">
                  <a:solidFill>
                    <a:schemeClr val="dk1"/>
                  </a:solidFill>
                  <a:latin typeface="Calibri"/>
                  <a:ea typeface="Calibri"/>
                  <a:cs typeface="Calibri"/>
                  <a:sym typeface="Calibri"/>
                </a:rPr>
                <a:t>Fixed Schema Constraints: RDBMS requires pre-defined schema</a:t>
              </a:r>
              <a:endParaRPr sz="1100"/>
            </a:p>
          </p:txBody>
        </p:sp>
        <p:sp>
          <p:nvSpPr>
            <p:cNvPr id="233" name="Google Shape;233;p31"/>
            <p:cNvSpPr/>
            <p:nvPr/>
          </p:nvSpPr>
          <p:spPr>
            <a:xfrm>
              <a:off x="4860800" y="696675"/>
              <a:ext cx="810000" cy="810000"/>
            </a:xfrm>
            <a:prstGeom prst="rect">
              <a:avLst/>
            </a:prstGeom>
            <a:blipFill rotWithShape="1">
              <a:blip r:embed="rId5">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31"/>
            <p:cNvSpPr/>
            <p:nvPr/>
          </p:nvSpPr>
          <p:spPr>
            <a:xfrm>
              <a:off x="4365800" y="1859404"/>
              <a:ext cx="1800000" cy="855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31"/>
            <p:cNvSpPr txBox="1"/>
            <p:nvPr/>
          </p:nvSpPr>
          <p:spPr>
            <a:xfrm>
              <a:off x="4365800" y="1859404"/>
              <a:ext cx="1800000" cy="855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800"/>
                <a:buFont typeface="Calibri"/>
                <a:buNone/>
              </a:pPr>
              <a:r>
                <a:rPr lang="en" sz="800">
                  <a:solidFill>
                    <a:schemeClr val="dk1"/>
                  </a:solidFill>
                  <a:latin typeface="Calibri"/>
                  <a:ea typeface="Calibri"/>
                  <a:cs typeface="Calibri"/>
                  <a:sym typeface="Calibri"/>
                </a:rPr>
                <a:t>Cost and Complexity of scaling: Scaling out (horizontally) a conventional database system involves significant complexity and cost. </a:t>
              </a:r>
              <a:endParaRPr sz="1100"/>
            </a:p>
          </p:txBody>
        </p:sp>
        <p:sp>
          <p:nvSpPr>
            <p:cNvPr id="236" name="Google Shape;236;p31"/>
            <p:cNvSpPr/>
            <p:nvPr/>
          </p:nvSpPr>
          <p:spPr>
            <a:xfrm>
              <a:off x="1688300" y="3164404"/>
              <a:ext cx="810000" cy="810000"/>
            </a:xfrm>
            <a:prstGeom prst="rect">
              <a:avLst/>
            </a:prstGeom>
            <a:blipFill rotWithShape="1">
              <a:blip r:embed="rId6">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31"/>
            <p:cNvSpPr/>
            <p:nvPr/>
          </p:nvSpPr>
          <p:spPr>
            <a:xfrm>
              <a:off x="1193300" y="4327133"/>
              <a:ext cx="1800000" cy="855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31"/>
            <p:cNvSpPr txBox="1"/>
            <p:nvPr/>
          </p:nvSpPr>
          <p:spPr>
            <a:xfrm>
              <a:off x="1193300" y="4327133"/>
              <a:ext cx="1800000" cy="855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800"/>
                <a:buFont typeface="Calibri"/>
                <a:buNone/>
              </a:pPr>
              <a:r>
                <a:rPr lang="en" sz="800">
                  <a:solidFill>
                    <a:schemeClr val="dk1"/>
                  </a:solidFill>
                  <a:latin typeface="Calibri"/>
                  <a:ea typeface="Calibri"/>
                  <a:cs typeface="Calibri"/>
                  <a:sym typeface="Calibri"/>
                </a:rPr>
                <a:t>Fault Tolerance: A single point of failure could jeopardize the entire system’s availability and reliability.</a:t>
              </a:r>
              <a:endParaRPr sz="1100"/>
            </a:p>
          </p:txBody>
        </p:sp>
        <p:sp>
          <p:nvSpPr>
            <p:cNvPr id="239" name="Google Shape;239;p31"/>
            <p:cNvSpPr/>
            <p:nvPr/>
          </p:nvSpPr>
          <p:spPr>
            <a:xfrm>
              <a:off x="3803300" y="3164404"/>
              <a:ext cx="810000" cy="810000"/>
            </a:xfrm>
            <a:prstGeom prst="rect">
              <a:avLst/>
            </a:prstGeom>
            <a:blipFill rotWithShape="1">
              <a:blip r:embed="rId7">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31"/>
            <p:cNvSpPr/>
            <p:nvPr/>
          </p:nvSpPr>
          <p:spPr>
            <a:xfrm>
              <a:off x="3308300" y="4327133"/>
              <a:ext cx="1800000" cy="855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31"/>
            <p:cNvSpPr txBox="1"/>
            <p:nvPr/>
          </p:nvSpPr>
          <p:spPr>
            <a:xfrm>
              <a:off x="3308300" y="4327133"/>
              <a:ext cx="1800000" cy="855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800"/>
                <a:buFont typeface="Calibri"/>
                <a:buNone/>
              </a:pPr>
              <a:r>
                <a:rPr lang="en" sz="800">
                  <a:solidFill>
                    <a:schemeClr val="dk1"/>
                  </a:solidFill>
                  <a:latin typeface="Calibri"/>
                  <a:ea typeface="Calibri"/>
                  <a:cs typeface="Calibri"/>
                  <a:sym typeface="Calibri"/>
                </a:rPr>
                <a:t>Limited Support for Big Data and Analytics: The Three V’s (volume, velocity, variety) </a:t>
              </a:r>
              <a:endParaRPr sz="8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800"/>
                <a:buFont typeface="Calibri"/>
                <a:buNone/>
              </a:pPr>
              <a:r>
                <a:rPr lang="en" sz="800">
                  <a:solidFill>
                    <a:schemeClr val="dk1"/>
                  </a:solidFill>
                  <a:latin typeface="Calibri"/>
                  <a:ea typeface="Calibri"/>
                  <a:cs typeface="Calibri"/>
                  <a:sym typeface="Calibri"/>
                </a:rPr>
                <a:t>Where increasing exponentially that a DBMS cannot handle</a:t>
              </a:r>
              <a:endParaRPr sz="800">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 name="Shape 245"/>
        <p:cNvGrpSpPr/>
        <p:nvPr/>
      </p:nvGrpSpPr>
      <p:grpSpPr>
        <a:xfrm>
          <a:off x="0" y="0"/>
          <a:ext cx="0" cy="0"/>
          <a:chOff x="0" y="0"/>
          <a:chExt cx="0" cy="0"/>
        </a:xfrm>
      </p:grpSpPr>
      <p:sp>
        <p:nvSpPr>
          <p:cNvPr id="246" name="Google Shape;246;p32"/>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47" name="Google Shape;247;p32"/>
          <p:cNvSpPr/>
          <p:nvPr/>
        </p:nvSpPr>
        <p:spPr>
          <a:xfrm>
            <a:off x="2357088" y="189855"/>
            <a:ext cx="4638300" cy="4638300"/>
          </a:xfrm>
          <a:prstGeom prst="ellipse">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48" name="Google Shape;248;p32"/>
          <p:cNvSpPr/>
          <p:nvPr/>
        </p:nvSpPr>
        <p:spPr>
          <a:xfrm>
            <a:off x="2343636" y="189855"/>
            <a:ext cx="4638300" cy="46383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3"/>
              </a:solidFill>
              <a:latin typeface="Calibri"/>
              <a:ea typeface="Calibri"/>
              <a:cs typeface="Calibri"/>
              <a:sym typeface="Calibri"/>
            </a:endParaRPr>
          </a:p>
        </p:txBody>
      </p:sp>
      <p:sp>
        <p:nvSpPr>
          <p:cNvPr id="249" name="Google Shape;249;p32"/>
          <p:cNvSpPr/>
          <p:nvPr/>
        </p:nvSpPr>
        <p:spPr>
          <a:xfrm>
            <a:off x="2252792" y="102394"/>
            <a:ext cx="4638300" cy="4638300"/>
          </a:xfrm>
          <a:prstGeom prst="ellipse">
            <a:avLst/>
          </a:prstGeom>
          <a:solidFill>
            <a:schemeClr val="dk1"/>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50" name="Google Shape;250;p32"/>
          <p:cNvSpPr/>
          <p:nvPr/>
        </p:nvSpPr>
        <p:spPr>
          <a:xfrm>
            <a:off x="2686050" y="724185"/>
            <a:ext cx="3903300" cy="2370300"/>
          </a:xfrm>
          <a:prstGeom prst="rect">
            <a:avLst/>
          </a:prstGeom>
          <a:noFill/>
          <a:ln>
            <a:noFill/>
          </a:ln>
        </p:spPr>
        <p:txBody>
          <a:bodyPr anchorCtr="0" anchor="b" bIns="34275" lIns="68575" spcFirstLastPara="1" rIns="68575" wrap="square" tIns="34275">
            <a:noAutofit/>
          </a:bodyPr>
          <a:lstStyle/>
          <a:p>
            <a:pPr indent="0" lvl="0" marL="0" marR="0" rtl="0" algn="ctr">
              <a:lnSpc>
                <a:spcPct val="90000"/>
              </a:lnSpc>
              <a:spcBef>
                <a:spcPts val="0"/>
              </a:spcBef>
              <a:spcAft>
                <a:spcPts val="0"/>
              </a:spcAft>
              <a:buNone/>
            </a:pPr>
            <a:r>
              <a:rPr lang="en" sz="4100">
                <a:solidFill>
                  <a:schemeClr val="lt1"/>
                </a:solidFill>
                <a:latin typeface="Calibri"/>
                <a:ea typeface="Calibri"/>
                <a:cs typeface="Calibri"/>
                <a:sym typeface="Calibri"/>
              </a:rPr>
              <a:t>What also was going on in the early 2000s</a:t>
            </a:r>
            <a:endParaRPr sz="1100"/>
          </a:p>
        </p:txBody>
      </p:sp>
      <p:sp>
        <p:nvSpPr>
          <p:cNvPr id="251" name="Google Shape;251;p32"/>
          <p:cNvSpPr/>
          <p:nvPr/>
        </p:nvSpPr>
        <p:spPr>
          <a:xfrm>
            <a:off x="7692206" y="731983"/>
            <a:ext cx="310752" cy="310752"/>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52" name="Google Shape;252;p32"/>
          <p:cNvSpPr/>
          <p:nvPr/>
        </p:nvSpPr>
        <p:spPr>
          <a:xfrm>
            <a:off x="7692206" y="731983"/>
            <a:ext cx="310752" cy="310752"/>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253" name="Google Shape;253;p32"/>
          <p:cNvGrpSpPr/>
          <p:nvPr/>
        </p:nvGrpSpPr>
        <p:grpSpPr>
          <a:xfrm>
            <a:off x="1560710" y="1316626"/>
            <a:ext cx="1199122" cy="398470"/>
            <a:chOff x="2504802" y="1755501"/>
            <a:chExt cx="1598829" cy="531293"/>
          </a:xfrm>
        </p:grpSpPr>
        <p:sp>
          <p:nvSpPr>
            <p:cNvPr id="254" name="Google Shape;254;p32"/>
            <p:cNvSpPr/>
            <p:nvPr/>
          </p:nvSpPr>
          <p:spPr>
            <a:xfrm>
              <a:off x="2504802" y="2113855"/>
              <a:ext cx="1598614" cy="172939"/>
            </a:xfrm>
            <a:custGeom>
              <a:rect b="b" l="l" r="r" t="t"/>
              <a:pathLst>
                <a:path extrusionOk="0" h="172939" w="1598614">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 name="Google Shape;255;p32"/>
            <p:cNvSpPr/>
            <p:nvPr/>
          </p:nvSpPr>
          <p:spPr>
            <a:xfrm>
              <a:off x="2504802" y="1755501"/>
              <a:ext cx="1598829" cy="172724"/>
            </a:xfrm>
            <a:custGeom>
              <a:rect b="b" l="l" r="r" t="t"/>
              <a:pathLst>
                <a:path extrusionOk="0" h="172724" w="1598829">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256" name="Google Shape;256;p32"/>
          <p:cNvSpPr/>
          <p:nvPr/>
        </p:nvSpPr>
        <p:spPr>
          <a:xfrm>
            <a:off x="1289865" y="3177080"/>
            <a:ext cx="383100" cy="383100"/>
          </a:xfrm>
          <a:prstGeom prst="ellipse">
            <a:avLst/>
          </a:pr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57" name="Google Shape;257;p32"/>
          <p:cNvSpPr/>
          <p:nvPr/>
        </p:nvSpPr>
        <p:spPr>
          <a:xfrm>
            <a:off x="1289865" y="3177080"/>
            <a:ext cx="383100" cy="383100"/>
          </a:xfrm>
          <a:prstGeom prst="ellipse">
            <a:avLst/>
          </a:pr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258" name="Google Shape;258;p32"/>
          <p:cNvGrpSpPr/>
          <p:nvPr/>
        </p:nvGrpSpPr>
        <p:grpSpPr>
          <a:xfrm>
            <a:off x="6447862" y="3131974"/>
            <a:ext cx="1396081" cy="1396278"/>
            <a:chOff x="5734053" y="3067000"/>
            <a:chExt cx="724484" cy="724549"/>
          </a:xfrm>
        </p:grpSpPr>
        <p:sp>
          <p:nvSpPr>
            <p:cNvPr id="259" name="Google Shape;259;p32"/>
            <p:cNvSpPr/>
            <p:nvPr/>
          </p:nvSpPr>
          <p:spPr>
            <a:xfrm>
              <a:off x="5734055" y="3067000"/>
              <a:ext cx="14192" cy="14097"/>
            </a:xfrm>
            <a:custGeom>
              <a:rect b="b" l="l" r="r" t="t"/>
              <a:pathLst>
                <a:path extrusionOk="0" h="14097" w="14192">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0" name="Google Shape;260;p32"/>
            <p:cNvSpPr/>
            <p:nvPr/>
          </p:nvSpPr>
          <p:spPr>
            <a:xfrm>
              <a:off x="5793300" y="306700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1" name="Google Shape;261;p32"/>
            <p:cNvSpPr/>
            <p:nvPr/>
          </p:nvSpPr>
          <p:spPr>
            <a:xfrm>
              <a:off x="5852450"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2" name="Google Shape;262;p32"/>
            <p:cNvSpPr/>
            <p:nvPr/>
          </p:nvSpPr>
          <p:spPr>
            <a:xfrm>
              <a:off x="5911695"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3" name="Google Shape;263;p32"/>
            <p:cNvSpPr/>
            <p:nvPr/>
          </p:nvSpPr>
          <p:spPr>
            <a:xfrm>
              <a:off x="5970846"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4" name="Google Shape;264;p32"/>
            <p:cNvSpPr/>
            <p:nvPr/>
          </p:nvSpPr>
          <p:spPr>
            <a:xfrm>
              <a:off x="6030092" y="306700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5" name="Google Shape;265;p32"/>
            <p:cNvSpPr/>
            <p:nvPr/>
          </p:nvSpPr>
          <p:spPr>
            <a:xfrm>
              <a:off x="6089242"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6" name="Google Shape;266;p32"/>
            <p:cNvSpPr/>
            <p:nvPr/>
          </p:nvSpPr>
          <p:spPr>
            <a:xfrm>
              <a:off x="5734055" y="3126244"/>
              <a:ext cx="14192" cy="14097"/>
            </a:xfrm>
            <a:custGeom>
              <a:rect b="b" l="l" r="r" t="t"/>
              <a:pathLst>
                <a:path extrusionOk="0" h="14097" w="14192">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7" name="Google Shape;267;p32"/>
            <p:cNvSpPr/>
            <p:nvPr/>
          </p:nvSpPr>
          <p:spPr>
            <a:xfrm>
              <a:off x="5793300" y="3126242"/>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8" name="Google Shape;268;p32"/>
            <p:cNvSpPr/>
            <p:nvPr/>
          </p:nvSpPr>
          <p:spPr>
            <a:xfrm>
              <a:off x="5852450"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69" name="Google Shape;269;p32"/>
            <p:cNvSpPr/>
            <p:nvPr/>
          </p:nvSpPr>
          <p:spPr>
            <a:xfrm>
              <a:off x="5911695"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0" name="Google Shape;270;p32"/>
            <p:cNvSpPr/>
            <p:nvPr/>
          </p:nvSpPr>
          <p:spPr>
            <a:xfrm>
              <a:off x="5970846"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1" name="Google Shape;271;p32"/>
            <p:cNvSpPr/>
            <p:nvPr/>
          </p:nvSpPr>
          <p:spPr>
            <a:xfrm>
              <a:off x="6030091" y="3126244"/>
              <a:ext cx="14097" cy="14097"/>
            </a:xfrm>
            <a:custGeom>
              <a:rect b="b" l="l" r="r" t="t"/>
              <a:pathLst>
                <a:path extrusionOk="0" h="14097" w="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2" name="Google Shape;272;p32"/>
            <p:cNvSpPr/>
            <p:nvPr/>
          </p:nvSpPr>
          <p:spPr>
            <a:xfrm>
              <a:off x="6089242"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3" name="Google Shape;273;p32"/>
            <p:cNvSpPr/>
            <p:nvPr/>
          </p:nvSpPr>
          <p:spPr>
            <a:xfrm>
              <a:off x="5734055" y="3185393"/>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4" name="Google Shape;274;p32"/>
            <p:cNvSpPr/>
            <p:nvPr/>
          </p:nvSpPr>
          <p:spPr>
            <a:xfrm>
              <a:off x="5793300" y="3185393"/>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5" name="Google Shape;275;p32"/>
            <p:cNvSpPr/>
            <p:nvPr/>
          </p:nvSpPr>
          <p:spPr>
            <a:xfrm>
              <a:off x="5852450"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6" name="Google Shape;276;p32"/>
            <p:cNvSpPr/>
            <p:nvPr/>
          </p:nvSpPr>
          <p:spPr>
            <a:xfrm>
              <a:off x="5911695"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7" name="Google Shape;277;p32"/>
            <p:cNvSpPr/>
            <p:nvPr/>
          </p:nvSpPr>
          <p:spPr>
            <a:xfrm>
              <a:off x="5970846"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8" name="Google Shape;278;p32"/>
            <p:cNvSpPr/>
            <p:nvPr/>
          </p:nvSpPr>
          <p:spPr>
            <a:xfrm>
              <a:off x="6030092" y="3185393"/>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79" name="Google Shape;279;p32"/>
            <p:cNvSpPr/>
            <p:nvPr/>
          </p:nvSpPr>
          <p:spPr>
            <a:xfrm>
              <a:off x="6089242"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0" name="Google Shape;280;p32"/>
            <p:cNvSpPr/>
            <p:nvPr/>
          </p:nvSpPr>
          <p:spPr>
            <a:xfrm>
              <a:off x="5734055" y="3244637"/>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1" name="Google Shape;281;p32"/>
            <p:cNvSpPr/>
            <p:nvPr/>
          </p:nvSpPr>
          <p:spPr>
            <a:xfrm>
              <a:off x="5793300" y="3244635"/>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2" name="Google Shape;282;p32"/>
            <p:cNvSpPr/>
            <p:nvPr/>
          </p:nvSpPr>
          <p:spPr>
            <a:xfrm>
              <a:off x="5852450"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3" name="Google Shape;283;p32"/>
            <p:cNvSpPr/>
            <p:nvPr/>
          </p:nvSpPr>
          <p:spPr>
            <a:xfrm>
              <a:off x="5911695"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4" name="Google Shape;284;p32"/>
            <p:cNvSpPr/>
            <p:nvPr/>
          </p:nvSpPr>
          <p:spPr>
            <a:xfrm>
              <a:off x="5970846"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5" name="Google Shape;285;p32"/>
            <p:cNvSpPr/>
            <p:nvPr/>
          </p:nvSpPr>
          <p:spPr>
            <a:xfrm>
              <a:off x="6030091" y="3244637"/>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6" name="Google Shape;286;p32"/>
            <p:cNvSpPr/>
            <p:nvPr/>
          </p:nvSpPr>
          <p:spPr>
            <a:xfrm>
              <a:off x="6089242"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7" name="Google Shape;287;p32"/>
            <p:cNvSpPr/>
            <p:nvPr/>
          </p:nvSpPr>
          <p:spPr>
            <a:xfrm>
              <a:off x="5734055" y="3303786"/>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8" name="Google Shape;288;p32"/>
            <p:cNvSpPr/>
            <p:nvPr/>
          </p:nvSpPr>
          <p:spPr>
            <a:xfrm>
              <a:off x="5793300" y="3303786"/>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89" name="Google Shape;289;p32"/>
            <p:cNvSpPr/>
            <p:nvPr/>
          </p:nvSpPr>
          <p:spPr>
            <a:xfrm>
              <a:off x="5852450"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0" name="Google Shape;290;p32"/>
            <p:cNvSpPr/>
            <p:nvPr/>
          </p:nvSpPr>
          <p:spPr>
            <a:xfrm>
              <a:off x="5911695"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1" name="Google Shape;291;p32"/>
            <p:cNvSpPr/>
            <p:nvPr/>
          </p:nvSpPr>
          <p:spPr>
            <a:xfrm>
              <a:off x="5970846"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2" name="Google Shape;292;p32"/>
            <p:cNvSpPr/>
            <p:nvPr/>
          </p:nvSpPr>
          <p:spPr>
            <a:xfrm>
              <a:off x="6030091" y="3303786"/>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3" name="Google Shape;293;p32"/>
            <p:cNvSpPr/>
            <p:nvPr/>
          </p:nvSpPr>
          <p:spPr>
            <a:xfrm>
              <a:off x="6089242"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4" name="Google Shape;294;p32"/>
            <p:cNvSpPr/>
            <p:nvPr/>
          </p:nvSpPr>
          <p:spPr>
            <a:xfrm>
              <a:off x="5734055" y="3363031"/>
              <a:ext cx="14192" cy="14097"/>
            </a:xfrm>
            <a:custGeom>
              <a:rect b="b" l="l" r="r" t="t"/>
              <a:pathLst>
                <a:path extrusionOk="0" h="14097"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5" name="Google Shape;295;p32"/>
            <p:cNvSpPr/>
            <p:nvPr/>
          </p:nvSpPr>
          <p:spPr>
            <a:xfrm>
              <a:off x="5793300" y="3363029"/>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6" name="Google Shape;296;p32"/>
            <p:cNvSpPr/>
            <p:nvPr/>
          </p:nvSpPr>
          <p:spPr>
            <a:xfrm>
              <a:off x="5852450"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7" name="Google Shape;297;p32"/>
            <p:cNvSpPr/>
            <p:nvPr/>
          </p:nvSpPr>
          <p:spPr>
            <a:xfrm>
              <a:off x="5911695"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8" name="Google Shape;298;p32"/>
            <p:cNvSpPr/>
            <p:nvPr/>
          </p:nvSpPr>
          <p:spPr>
            <a:xfrm>
              <a:off x="5970846"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99" name="Google Shape;299;p32"/>
            <p:cNvSpPr/>
            <p:nvPr/>
          </p:nvSpPr>
          <p:spPr>
            <a:xfrm>
              <a:off x="6030091" y="3363031"/>
              <a:ext cx="14097" cy="14097"/>
            </a:xfrm>
            <a:custGeom>
              <a:rect b="b" l="l" r="r" t="t"/>
              <a:pathLst>
                <a:path extrusionOk="0" h="14097"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0" name="Google Shape;300;p32"/>
            <p:cNvSpPr/>
            <p:nvPr/>
          </p:nvSpPr>
          <p:spPr>
            <a:xfrm>
              <a:off x="6089242"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1" name="Google Shape;301;p32"/>
            <p:cNvSpPr/>
            <p:nvPr/>
          </p:nvSpPr>
          <p:spPr>
            <a:xfrm>
              <a:off x="5734055" y="3422181"/>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2" name="Google Shape;302;p32"/>
            <p:cNvSpPr/>
            <p:nvPr/>
          </p:nvSpPr>
          <p:spPr>
            <a:xfrm>
              <a:off x="5793300" y="3422181"/>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3" name="Google Shape;303;p32"/>
            <p:cNvSpPr/>
            <p:nvPr/>
          </p:nvSpPr>
          <p:spPr>
            <a:xfrm>
              <a:off x="5852450"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4" name="Google Shape;304;p32"/>
            <p:cNvSpPr/>
            <p:nvPr/>
          </p:nvSpPr>
          <p:spPr>
            <a:xfrm>
              <a:off x="5911695"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5" name="Google Shape;305;p32"/>
            <p:cNvSpPr/>
            <p:nvPr/>
          </p:nvSpPr>
          <p:spPr>
            <a:xfrm>
              <a:off x="5970846"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6" name="Google Shape;306;p32"/>
            <p:cNvSpPr/>
            <p:nvPr/>
          </p:nvSpPr>
          <p:spPr>
            <a:xfrm>
              <a:off x="6030091" y="3422181"/>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7" name="Google Shape;307;p32"/>
            <p:cNvSpPr/>
            <p:nvPr/>
          </p:nvSpPr>
          <p:spPr>
            <a:xfrm>
              <a:off x="6089242"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8" name="Google Shape;308;p32"/>
            <p:cNvSpPr/>
            <p:nvPr/>
          </p:nvSpPr>
          <p:spPr>
            <a:xfrm>
              <a:off x="6148487" y="3067000"/>
              <a:ext cx="14097" cy="14097"/>
            </a:xfrm>
            <a:custGeom>
              <a:rect b="b" l="l" r="r" t="t"/>
              <a:pathLst>
                <a:path extrusionOk="0" h="14097" w="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09" name="Google Shape;309;p32"/>
            <p:cNvSpPr/>
            <p:nvPr/>
          </p:nvSpPr>
          <p:spPr>
            <a:xfrm>
              <a:off x="6207638"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0" name="Google Shape;310;p32"/>
            <p:cNvSpPr/>
            <p:nvPr/>
          </p:nvSpPr>
          <p:spPr>
            <a:xfrm>
              <a:off x="6266883" y="3067000"/>
              <a:ext cx="14096" cy="14097"/>
            </a:xfrm>
            <a:custGeom>
              <a:rect b="b" l="l" r="r" t="t"/>
              <a:pathLst>
                <a:path extrusionOk="0" h="14097" w="14096">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1" name="Google Shape;311;p32"/>
            <p:cNvSpPr/>
            <p:nvPr/>
          </p:nvSpPr>
          <p:spPr>
            <a:xfrm>
              <a:off x="6326033"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2" name="Google Shape;312;p32"/>
            <p:cNvSpPr/>
            <p:nvPr/>
          </p:nvSpPr>
          <p:spPr>
            <a:xfrm>
              <a:off x="6385279"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3" name="Google Shape;313;p32"/>
            <p:cNvSpPr/>
            <p:nvPr/>
          </p:nvSpPr>
          <p:spPr>
            <a:xfrm>
              <a:off x="6444429" y="3067000"/>
              <a:ext cx="14096" cy="14097"/>
            </a:xfrm>
            <a:custGeom>
              <a:rect b="b" l="l" r="r" t="t"/>
              <a:pathLst>
                <a:path extrusionOk="0" h="14097" w="14096">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4" name="Google Shape;314;p32"/>
            <p:cNvSpPr/>
            <p:nvPr/>
          </p:nvSpPr>
          <p:spPr>
            <a:xfrm>
              <a:off x="6148487" y="3126241"/>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5" name="Google Shape;315;p32"/>
            <p:cNvSpPr/>
            <p:nvPr/>
          </p:nvSpPr>
          <p:spPr>
            <a:xfrm>
              <a:off x="6207638" y="3126241"/>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6" name="Google Shape;316;p32"/>
            <p:cNvSpPr/>
            <p:nvPr/>
          </p:nvSpPr>
          <p:spPr>
            <a:xfrm>
              <a:off x="6266883" y="3126241"/>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7" name="Google Shape;317;p32"/>
            <p:cNvSpPr/>
            <p:nvPr/>
          </p:nvSpPr>
          <p:spPr>
            <a:xfrm>
              <a:off x="6326033" y="3126241"/>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8" name="Google Shape;318;p32"/>
            <p:cNvSpPr/>
            <p:nvPr/>
          </p:nvSpPr>
          <p:spPr>
            <a:xfrm>
              <a:off x="6385279" y="312624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19" name="Google Shape;319;p32"/>
            <p:cNvSpPr/>
            <p:nvPr/>
          </p:nvSpPr>
          <p:spPr>
            <a:xfrm>
              <a:off x="6444429" y="3126242"/>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0" name="Google Shape;320;p32"/>
            <p:cNvSpPr/>
            <p:nvPr/>
          </p:nvSpPr>
          <p:spPr>
            <a:xfrm>
              <a:off x="6148487" y="3185391"/>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1" name="Google Shape;321;p32"/>
            <p:cNvSpPr/>
            <p:nvPr/>
          </p:nvSpPr>
          <p:spPr>
            <a:xfrm>
              <a:off x="6207638" y="318539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2" name="Google Shape;322;p32"/>
            <p:cNvSpPr/>
            <p:nvPr/>
          </p:nvSpPr>
          <p:spPr>
            <a:xfrm>
              <a:off x="6266883" y="3185391"/>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3" name="Google Shape;323;p32"/>
            <p:cNvSpPr/>
            <p:nvPr/>
          </p:nvSpPr>
          <p:spPr>
            <a:xfrm>
              <a:off x="6326033" y="318539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4" name="Google Shape;324;p32"/>
            <p:cNvSpPr/>
            <p:nvPr/>
          </p:nvSpPr>
          <p:spPr>
            <a:xfrm>
              <a:off x="6385279" y="318539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5" name="Google Shape;325;p32"/>
            <p:cNvSpPr/>
            <p:nvPr/>
          </p:nvSpPr>
          <p:spPr>
            <a:xfrm>
              <a:off x="6444429" y="3185391"/>
              <a:ext cx="14096" cy="14097"/>
            </a:xfrm>
            <a:custGeom>
              <a:rect b="b" l="l" r="r" t="t"/>
              <a:pathLst>
                <a:path extrusionOk="0" h="14097" w="14096">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6" name="Google Shape;326;p32"/>
            <p:cNvSpPr/>
            <p:nvPr/>
          </p:nvSpPr>
          <p:spPr>
            <a:xfrm>
              <a:off x="6148487" y="3244634"/>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7" name="Google Shape;327;p32"/>
            <p:cNvSpPr/>
            <p:nvPr/>
          </p:nvSpPr>
          <p:spPr>
            <a:xfrm>
              <a:off x="6207638" y="324463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8" name="Google Shape;328;p32"/>
            <p:cNvSpPr/>
            <p:nvPr/>
          </p:nvSpPr>
          <p:spPr>
            <a:xfrm>
              <a:off x="6266883" y="3244634"/>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29" name="Google Shape;329;p32"/>
            <p:cNvSpPr/>
            <p:nvPr/>
          </p:nvSpPr>
          <p:spPr>
            <a:xfrm>
              <a:off x="6326033" y="324463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0" name="Google Shape;330;p32"/>
            <p:cNvSpPr/>
            <p:nvPr/>
          </p:nvSpPr>
          <p:spPr>
            <a:xfrm>
              <a:off x="6385279" y="324463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1" name="Google Shape;331;p32"/>
            <p:cNvSpPr/>
            <p:nvPr/>
          </p:nvSpPr>
          <p:spPr>
            <a:xfrm>
              <a:off x="6444429" y="324463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2" name="Google Shape;332;p32"/>
            <p:cNvSpPr/>
            <p:nvPr/>
          </p:nvSpPr>
          <p:spPr>
            <a:xfrm>
              <a:off x="6148487" y="3303786"/>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3" name="Google Shape;333;p32"/>
            <p:cNvSpPr/>
            <p:nvPr/>
          </p:nvSpPr>
          <p:spPr>
            <a:xfrm>
              <a:off x="6207638"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4" name="Google Shape;334;p32"/>
            <p:cNvSpPr/>
            <p:nvPr/>
          </p:nvSpPr>
          <p:spPr>
            <a:xfrm>
              <a:off x="6266883" y="3303786"/>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5" name="Google Shape;335;p32"/>
            <p:cNvSpPr/>
            <p:nvPr/>
          </p:nvSpPr>
          <p:spPr>
            <a:xfrm>
              <a:off x="6326033"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6" name="Google Shape;336;p32"/>
            <p:cNvSpPr/>
            <p:nvPr/>
          </p:nvSpPr>
          <p:spPr>
            <a:xfrm>
              <a:off x="6385279"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7" name="Google Shape;337;p32"/>
            <p:cNvSpPr/>
            <p:nvPr/>
          </p:nvSpPr>
          <p:spPr>
            <a:xfrm>
              <a:off x="6444429" y="330378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8" name="Google Shape;338;p32"/>
            <p:cNvSpPr/>
            <p:nvPr/>
          </p:nvSpPr>
          <p:spPr>
            <a:xfrm>
              <a:off x="6148487" y="3363028"/>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39" name="Google Shape;339;p32"/>
            <p:cNvSpPr/>
            <p:nvPr/>
          </p:nvSpPr>
          <p:spPr>
            <a:xfrm>
              <a:off x="6207638" y="3363028"/>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0" name="Google Shape;340;p32"/>
            <p:cNvSpPr/>
            <p:nvPr/>
          </p:nvSpPr>
          <p:spPr>
            <a:xfrm>
              <a:off x="6266883" y="3363028"/>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1" name="Google Shape;341;p32"/>
            <p:cNvSpPr/>
            <p:nvPr/>
          </p:nvSpPr>
          <p:spPr>
            <a:xfrm>
              <a:off x="6326033" y="3363028"/>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2" name="Google Shape;342;p32"/>
            <p:cNvSpPr/>
            <p:nvPr/>
          </p:nvSpPr>
          <p:spPr>
            <a:xfrm>
              <a:off x="6385279" y="3363027"/>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3" name="Google Shape;343;p32"/>
            <p:cNvSpPr/>
            <p:nvPr/>
          </p:nvSpPr>
          <p:spPr>
            <a:xfrm>
              <a:off x="6444429" y="3363029"/>
              <a:ext cx="14096" cy="14097"/>
            </a:xfrm>
            <a:custGeom>
              <a:rect b="b" l="l" r="r" t="t"/>
              <a:pathLst>
                <a:path extrusionOk="0" h="14097"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4" name="Google Shape;344;p32"/>
            <p:cNvSpPr/>
            <p:nvPr/>
          </p:nvSpPr>
          <p:spPr>
            <a:xfrm>
              <a:off x="6148487" y="3422179"/>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5" name="Google Shape;345;p32"/>
            <p:cNvSpPr/>
            <p:nvPr/>
          </p:nvSpPr>
          <p:spPr>
            <a:xfrm>
              <a:off x="6207638" y="3422179"/>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6" name="Google Shape;346;p32"/>
            <p:cNvSpPr/>
            <p:nvPr/>
          </p:nvSpPr>
          <p:spPr>
            <a:xfrm>
              <a:off x="6266883" y="3422179"/>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7" name="Google Shape;347;p32"/>
            <p:cNvSpPr/>
            <p:nvPr/>
          </p:nvSpPr>
          <p:spPr>
            <a:xfrm>
              <a:off x="6326033" y="342217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8" name="Google Shape;348;p32"/>
            <p:cNvSpPr/>
            <p:nvPr/>
          </p:nvSpPr>
          <p:spPr>
            <a:xfrm>
              <a:off x="6385279" y="3422180"/>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49" name="Google Shape;349;p32"/>
            <p:cNvSpPr/>
            <p:nvPr/>
          </p:nvSpPr>
          <p:spPr>
            <a:xfrm>
              <a:off x="6444429"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0" name="Google Shape;350;p32"/>
            <p:cNvSpPr/>
            <p:nvPr/>
          </p:nvSpPr>
          <p:spPr>
            <a:xfrm>
              <a:off x="5734055" y="3481330"/>
              <a:ext cx="14192" cy="14096"/>
            </a:xfrm>
            <a:custGeom>
              <a:rect b="b" l="l" r="r" t="t"/>
              <a:pathLst>
                <a:path extrusionOk="0" h="14096" w="14192">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1" name="Google Shape;351;p32"/>
            <p:cNvSpPr/>
            <p:nvPr/>
          </p:nvSpPr>
          <p:spPr>
            <a:xfrm>
              <a:off x="5793300" y="348133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2" name="Google Shape;352;p32"/>
            <p:cNvSpPr/>
            <p:nvPr/>
          </p:nvSpPr>
          <p:spPr>
            <a:xfrm>
              <a:off x="5852450"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3" name="Google Shape;353;p32"/>
            <p:cNvSpPr/>
            <p:nvPr/>
          </p:nvSpPr>
          <p:spPr>
            <a:xfrm>
              <a:off x="5911695"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4" name="Google Shape;354;p32"/>
            <p:cNvSpPr/>
            <p:nvPr/>
          </p:nvSpPr>
          <p:spPr>
            <a:xfrm>
              <a:off x="5970846"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5" name="Google Shape;355;p32"/>
            <p:cNvSpPr/>
            <p:nvPr/>
          </p:nvSpPr>
          <p:spPr>
            <a:xfrm>
              <a:off x="6030092" y="348133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6" name="Google Shape;356;p32"/>
            <p:cNvSpPr/>
            <p:nvPr/>
          </p:nvSpPr>
          <p:spPr>
            <a:xfrm>
              <a:off x="6089242"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7" name="Google Shape;357;p32"/>
            <p:cNvSpPr/>
            <p:nvPr/>
          </p:nvSpPr>
          <p:spPr>
            <a:xfrm>
              <a:off x="5734055" y="3540575"/>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8" name="Google Shape;358;p32"/>
            <p:cNvSpPr/>
            <p:nvPr/>
          </p:nvSpPr>
          <p:spPr>
            <a:xfrm>
              <a:off x="5793300" y="3540575"/>
              <a:ext cx="14097" cy="14097"/>
            </a:xfrm>
            <a:custGeom>
              <a:rect b="b" l="l" r="r" t="t"/>
              <a:pathLst>
                <a:path extrusionOk="0" h="14097"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59" name="Google Shape;359;p32"/>
            <p:cNvSpPr/>
            <p:nvPr/>
          </p:nvSpPr>
          <p:spPr>
            <a:xfrm>
              <a:off x="5852450"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0" name="Google Shape;360;p32"/>
            <p:cNvSpPr/>
            <p:nvPr/>
          </p:nvSpPr>
          <p:spPr>
            <a:xfrm>
              <a:off x="5911695"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1" name="Google Shape;361;p32"/>
            <p:cNvSpPr/>
            <p:nvPr/>
          </p:nvSpPr>
          <p:spPr>
            <a:xfrm>
              <a:off x="5970846"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2" name="Google Shape;362;p32"/>
            <p:cNvSpPr/>
            <p:nvPr/>
          </p:nvSpPr>
          <p:spPr>
            <a:xfrm>
              <a:off x="6030092" y="3540575"/>
              <a:ext cx="14097" cy="14097"/>
            </a:xfrm>
            <a:custGeom>
              <a:rect b="b" l="l" r="r" t="t"/>
              <a:pathLst>
                <a:path extrusionOk="0" h="14097"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3" name="Google Shape;363;p32"/>
            <p:cNvSpPr/>
            <p:nvPr/>
          </p:nvSpPr>
          <p:spPr>
            <a:xfrm>
              <a:off x="6089242"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4" name="Google Shape;364;p32"/>
            <p:cNvSpPr/>
            <p:nvPr/>
          </p:nvSpPr>
          <p:spPr>
            <a:xfrm>
              <a:off x="5734055" y="3599725"/>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5" name="Google Shape;365;p32"/>
            <p:cNvSpPr/>
            <p:nvPr/>
          </p:nvSpPr>
          <p:spPr>
            <a:xfrm>
              <a:off x="5793300" y="3599725"/>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6" name="Google Shape;366;p32"/>
            <p:cNvSpPr/>
            <p:nvPr/>
          </p:nvSpPr>
          <p:spPr>
            <a:xfrm>
              <a:off x="5852450"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7" name="Google Shape;367;p32"/>
            <p:cNvSpPr/>
            <p:nvPr/>
          </p:nvSpPr>
          <p:spPr>
            <a:xfrm>
              <a:off x="5911695"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8" name="Google Shape;368;p32"/>
            <p:cNvSpPr/>
            <p:nvPr/>
          </p:nvSpPr>
          <p:spPr>
            <a:xfrm>
              <a:off x="5970846"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69" name="Google Shape;369;p32"/>
            <p:cNvSpPr/>
            <p:nvPr/>
          </p:nvSpPr>
          <p:spPr>
            <a:xfrm>
              <a:off x="6030091" y="3599725"/>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0" name="Google Shape;370;p32"/>
            <p:cNvSpPr/>
            <p:nvPr/>
          </p:nvSpPr>
          <p:spPr>
            <a:xfrm>
              <a:off x="6089242"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1" name="Google Shape;371;p32"/>
            <p:cNvSpPr/>
            <p:nvPr/>
          </p:nvSpPr>
          <p:spPr>
            <a:xfrm>
              <a:off x="5734053" y="3658968"/>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2" name="Google Shape;372;p32"/>
            <p:cNvSpPr/>
            <p:nvPr/>
          </p:nvSpPr>
          <p:spPr>
            <a:xfrm>
              <a:off x="5793299" y="3658968"/>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3" name="Google Shape;373;p32"/>
            <p:cNvSpPr/>
            <p:nvPr/>
          </p:nvSpPr>
          <p:spPr>
            <a:xfrm>
              <a:off x="5852449"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4" name="Google Shape;374;p32"/>
            <p:cNvSpPr/>
            <p:nvPr/>
          </p:nvSpPr>
          <p:spPr>
            <a:xfrm>
              <a:off x="5911695"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5" name="Google Shape;375;p32"/>
            <p:cNvSpPr/>
            <p:nvPr/>
          </p:nvSpPr>
          <p:spPr>
            <a:xfrm>
              <a:off x="5970845"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6" name="Google Shape;376;p32"/>
            <p:cNvSpPr/>
            <p:nvPr/>
          </p:nvSpPr>
          <p:spPr>
            <a:xfrm>
              <a:off x="6030090" y="3658968"/>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7" name="Google Shape;377;p32"/>
            <p:cNvSpPr/>
            <p:nvPr/>
          </p:nvSpPr>
          <p:spPr>
            <a:xfrm>
              <a:off x="6089242"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8" name="Google Shape;378;p32"/>
            <p:cNvSpPr/>
            <p:nvPr/>
          </p:nvSpPr>
          <p:spPr>
            <a:xfrm>
              <a:off x="5734055" y="3718118"/>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79" name="Google Shape;379;p32"/>
            <p:cNvSpPr/>
            <p:nvPr/>
          </p:nvSpPr>
          <p:spPr>
            <a:xfrm>
              <a:off x="5793300" y="3718118"/>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0" name="Google Shape;380;p32"/>
            <p:cNvSpPr/>
            <p:nvPr/>
          </p:nvSpPr>
          <p:spPr>
            <a:xfrm>
              <a:off x="5852450"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1" name="Google Shape;381;p32"/>
            <p:cNvSpPr/>
            <p:nvPr/>
          </p:nvSpPr>
          <p:spPr>
            <a:xfrm>
              <a:off x="5911696"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2" name="Google Shape;382;p32"/>
            <p:cNvSpPr/>
            <p:nvPr/>
          </p:nvSpPr>
          <p:spPr>
            <a:xfrm>
              <a:off x="5970846"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3" name="Google Shape;383;p32"/>
            <p:cNvSpPr/>
            <p:nvPr/>
          </p:nvSpPr>
          <p:spPr>
            <a:xfrm>
              <a:off x="6030091" y="3718118"/>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4" name="Google Shape;384;p32"/>
            <p:cNvSpPr/>
            <p:nvPr/>
          </p:nvSpPr>
          <p:spPr>
            <a:xfrm>
              <a:off x="6089242"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5" name="Google Shape;385;p32"/>
            <p:cNvSpPr/>
            <p:nvPr/>
          </p:nvSpPr>
          <p:spPr>
            <a:xfrm>
              <a:off x="5734057" y="3777362"/>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6" name="Google Shape;386;p32"/>
            <p:cNvSpPr/>
            <p:nvPr/>
          </p:nvSpPr>
          <p:spPr>
            <a:xfrm>
              <a:off x="5793301" y="3777362"/>
              <a:ext cx="14097" cy="14096"/>
            </a:xfrm>
            <a:custGeom>
              <a:rect b="b" l="l" r="r" t="t"/>
              <a:pathLst>
                <a:path extrusionOk="0" h="14096"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7" name="Google Shape;387;p32"/>
            <p:cNvSpPr/>
            <p:nvPr/>
          </p:nvSpPr>
          <p:spPr>
            <a:xfrm>
              <a:off x="5852453"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8" name="Google Shape;388;p32"/>
            <p:cNvSpPr/>
            <p:nvPr/>
          </p:nvSpPr>
          <p:spPr>
            <a:xfrm>
              <a:off x="5911701"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89" name="Google Shape;389;p32"/>
            <p:cNvSpPr/>
            <p:nvPr/>
          </p:nvSpPr>
          <p:spPr>
            <a:xfrm>
              <a:off x="5970854"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0" name="Google Shape;390;p32"/>
            <p:cNvSpPr/>
            <p:nvPr/>
          </p:nvSpPr>
          <p:spPr>
            <a:xfrm>
              <a:off x="6030102" y="3777362"/>
              <a:ext cx="14097" cy="14096"/>
            </a:xfrm>
            <a:custGeom>
              <a:rect b="b" l="l" r="r" t="t"/>
              <a:pathLst>
                <a:path extrusionOk="0" h="14096"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1" name="Google Shape;391;p32"/>
            <p:cNvSpPr/>
            <p:nvPr/>
          </p:nvSpPr>
          <p:spPr>
            <a:xfrm>
              <a:off x="6089250"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2" name="Google Shape;392;p32"/>
            <p:cNvSpPr/>
            <p:nvPr/>
          </p:nvSpPr>
          <p:spPr>
            <a:xfrm>
              <a:off x="6148495" y="3481330"/>
              <a:ext cx="14097" cy="14096"/>
            </a:xfrm>
            <a:custGeom>
              <a:rect b="b" l="l" r="r" t="t"/>
              <a:pathLst>
                <a:path extrusionOk="0" h="14096" w="14097">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3" name="Google Shape;393;p32"/>
            <p:cNvSpPr/>
            <p:nvPr/>
          </p:nvSpPr>
          <p:spPr>
            <a:xfrm>
              <a:off x="6207646"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4" name="Google Shape;394;p32"/>
            <p:cNvSpPr/>
            <p:nvPr/>
          </p:nvSpPr>
          <p:spPr>
            <a:xfrm>
              <a:off x="6266891" y="3481330"/>
              <a:ext cx="14096" cy="14096"/>
            </a:xfrm>
            <a:custGeom>
              <a:rect b="b" l="l" r="r" t="t"/>
              <a:pathLst>
                <a:path extrusionOk="0" h="14096" w="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5" name="Google Shape;395;p32"/>
            <p:cNvSpPr/>
            <p:nvPr/>
          </p:nvSpPr>
          <p:spPr>
            <a:xfrm>
              <a:off x="6326042"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6" name="Google Shape;396;p32"/>
            <p:cNvSpPr/>
            <p:nvPr/>
          </p:nvSpPr>
          <p:spPr>
            <a:xfrm>
              <a:off x="6385288"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7" name="Google Shape;397;p32"/>
            <p:cNvSpPr/>
            <p:nvPr/>
          </p:nvSpPr>
          <p:spPr>
            <a:xfrm>
              <a:off x="6444437" y="3481329"/>
              <a:ext cx="14096" cy="14097"/>
            </a:xfrm>
            <a:custGeom>
              <a:rect b="b" l="l" r="r" t="t"/>
              <a:pathLst>
                <a:path extrusionOk="0" h="14097" w="14096">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8" name="Google Shape;398;p32"/>
            <p:cNvSpPr/>
            <p:nvPr/>
          </p:nvSpPr>
          <p:spPr>
            <a:xfrm>
              <a:off x="6148495" y="3540578"/>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399" name="Google Shape;399;p32"/>
            <p:cNvSpPr/>
            <p:nvPr/>
          </p:nvSpPr>
          <p:spPr>
            <a:xfrm>
              <a:off x="6207646" y="35405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0" name="Google Shape;400;p32"/>
            <p:cNvSpPr/>
            <p:nvPr/>
          </p:nvSpPr>
          <p:spPr>
            <a:xfrm>
              <a:off x="6266891" y="3540584"/>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1" name="Google Shape;401;p32"/>
            <p:cNvSpPr/>
            <p:nvPr/>
          </p:nvSpPr>
          <p:spPr>
            <a:xfrm>
              <a:off x="6326042" y="3540584"/>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2" name="Google Shape;402;p32"/>
            <p:cNvSpPr/>
            <p:nvPr/>
          </p:nvSpPr>
          <p:spPr>
            <a:xfrm>
              <a:off x="6385288" y="35405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3" name="Google Shape;403;p32"/>
            <p:cNvSpPr/>
            <p:nvPr/>
          </p:nvSpPr>
          <p:spPr>
            <a:xfrm>
              <a:off x="6444437" y="3540588"/>
              <a:ext cx="14096" cy="14097"/>
            </a:xfrm>
            <a:custGeom>
              <a:rect b="b" l="l" r="r" t="t"/>
              <a:pathLst>
                <a:path extrusionOk="0" h="14097" w="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4" name="Google Shape;404;p32"/>
            <p:cNvSpPr/>
            <p:nvPr/>
          </p:nvSpPr>
          <p:spPr>
            <a:xfrm>
              <a:off x="6148495" y="3599737"/>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5" name="Google Shape;405;p32"/>
            <p:cNvSpPr/>
            <p:nvPr/>
          </p:nvSpPr>
          <p:spPr>
            <a:xfrm>
              <a:off x="6207646" y="3599737"/>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6" name="Google Shape;406;p32"/>
            <p:cNvSpPr/>
            <p:nvPr/>
          </p:nvSpPr>
          <p:spPr>
            <a:xfrm>
              <a:off x="6266891" y="3599737"/>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7" name="Google Shape;407;p32"/>
            <p:cNvSpPr/>
            <p:nvPr/>
          </p:nvSpPr>
          <p:spPr>
            <a:xfrm>
              <a:off x="6326042" y="3599737"/>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8" name="Google Shape;408;p32"/>
            <p:cNvSpPr/>
            <p:nvPr/>
          </p:nvSpPr>
          <p:spPr>
            <a:xfrm>
              <a:off x="6385288" y="359973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9" name="Google Shape;409;p32"/>
            <p:cNvSpPr/>
            <p:nvPr/>
          </p:nvSpPr>
          <p:spPr>
            <a:xfrm>
              <a:off x="6444437" y="3599737"/>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0" name="Google Shape;410;p32"/>
            <p:cNvSpPr/>
            <p:nvPr/>
          </p:nvSpPr>
          <p:spPr>
            <a:xfrm>
              <a:off x="6148495" y="3658981"/>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1" name="Google Shape;411;p32"/>
            <p:cNvSpPr/>
            <p:nvPr/>
          </p:nvSpPr>
          <p:spPr>
            <a:xfrm>
              <a:off x="6207646" y="36589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2" name="Google Shape;412;p32"/>
            <p:cNvSpPr/>
            <p:nvPr/>
          </p:nvSpPr>
          <p:spPr>
            <a:xfrm>
              <a:off x="6266891" y="3658981"/>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3" name="Google Shape;413;p32"/>
            <p:cNvSpPr/>
            <p:nvPr/>
          </p:nvSpPr>
          <p:spPr>
            <a:xfrm>
              <a:off x="6326042" y="36589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4" name="Google Shape;414;p32"/>
            <p:cNvSpPr/>
            <p:nvPr/>
          </p:nvSpPr>
          <p:spPr>
            <a:xfrm>
              <a:off x="6385288" y="36589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5" name="Google Shape;415;p32"/>
            <p:cNvSpPr/>
            <p:nvPr/>
          </p:nvSpPr>
          <p:spPr>
            <a:xfrm>
              <a:off x="6444441" y="3658979"/>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6" name="Google Shape;416;p32"/>
            <p:cNvSpPr/>
            <p:nvPr/>
          </p:nvSpPr>
          <p:spPr>
            <a:xfrm>
              <a:off x="6148499" y="3718130"/>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7" name="Google Shape;417;p32"/>
            <p:cNvSpPr/>
            <p:nvPr/>
          </p:nvSpPr>
          <p:spPr>
            <a:xfrm>
              <a:off x="6207650" y="3718130"/>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8" name="Google Shape;418;p32"/>
            <p:cNvSpPr/>
            <p:nvPr/>
          </p:nvSpPr>
          <p:spPr>
            <a:xfrm>
              <a:off x="6266895" y="3718130"/>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9" name="Google Shape;419;p32"/>
            <p:cNvSpPr/>
            <p:nvPr/>
          </p:nvSpPr>
          <p:spPr>
            <a:xfrm>
              <a:off x="6326045" y="3718130"/>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32"/>
            <p:cNvSpPr/>
            <p:nvPr/>
          </p:nvSpPr>
          <p:spPr>
            <a:xfrm>
              <a:off x="6385292" y="371812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1" name="Google Shape;421;p32"/>
            <p:cNvSpPr/>
            <p:nvPr/>
          </p:nvSpPr>
          <p:spPr>
            <a:xfrm>
              <a:off x="6444440" y="371813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2" name="Google Shape;422;p32"/>
            <p:cNvSpPr/>
            <p:nvPr/>
          </p:nvSpPr>
          <p:spPr>
            <a:xfrm>
              <a:off x="6148495" y="3777375"/>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3" name="Google Shape;423;p32"/>
            <p:cNvSpPr/>
            <p:nvPr/>
          </p:nvSpPr>
          <p:spPr>
            <a:xfrm>
              <a:off x="6207650" y="377737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4" name="Google Shape;424;p32"/>
            <p:cNvSpPr/>
            <p:nvPr/>
          </p:nvSpPr>
          <p:spPr>
            <a:xfrm>
              <a:off x="6266896" y="3777375"/>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5" name="Google Shape;425;p32"/>
            <p:cNvSpPr/>
            <p:nvPr/>
          </p:nvSpPr>
          <p:spPr>
            <a:xfrm>
              <a:off x="6326055" y="377735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6" name="Google Shape;426;p32"/>
            <p:cNvSpPr/>
            <p:nvPr/>
          </p:nvSpPr>
          <p:spPr>
            <a:xfrm>
              <a:off x="6385314" y="377745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7" name="Google Shape;427;p32"/>
            <p:cNvSpPr/>
            <p:nvPr/>
          </p:nvSpPr>
          <p:spPr>
            <a:xfrm>
              <a:off x="6444424" y="3777424"/>
              <a:ext cx="14096" cy="14096"/>
            </a:xfrm>
            <a:custGeom>
              <a:rect b="b" l="l" r="r" t="t"/>
              <a:pathLst>
                <a:path extrusionOk="0" h="14096" w="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1" name="Shape 431"/>
        <p:cNvGrpSpPr/>
        <p:nvPr/>
      </p:nvGrpSpPr>
      <p:grpSpPr>
        <a:xfrm>
          <a:off x="0" y="0"/>
          <a:ext cx="0" cy="0"/>
          <a:chOff x="0" y="0"/>
          <a:chExt cx="0" cy="0"/>
        </a:xfrm>
      </p:grpSpPr>
      <p:sp>
        <p:nvSpPr>
          <p:cNvPr id="432" name="Google Shape;432;p33"/>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3" name="Google Shape;433;p33"/>
          <p:cNvSpPr/>
          <p:nvPr/>
        </p:nvSpPr>
        <p:spPr>
          <a:xfrm flipH="1">
            <a:off x="0" y="0"/>
            <a:ext cx="9144000" cy="1182000"/>
          </a:xfrm>
          <a:prstGeom prst="rect">
            <a:avLst/>
          </a:prstGeom>
          <a:gradFill>
            <a:gsLst>
              <a:gs pos="0">
                <a:srgbClr val="000000">
                  <a:alpha val="95686"/>
                </a:srgbClr>
              </a:gs>
              <a:gs pos="100000">
                <a:srgbClr val="2F5496"/>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4" name="Google Shape;434;p33"/>
          <p:cNvSpPr/>
          <p:nvPr/>
        </p:nvSpPr>
        <p:spPr>
          <a:xfrm flipH="1" rot="10800000">
            <a:off x="6096643" y="9"/>
            <a:ext cx="3047400" cy="1182300"/>
          </a:xfrm>
          <a:prstGeom prst="rect">
            <a:avLst/>
          </a:prstGeom>
          <a:gradFill>
            <a:gsLst>
              <a:gs pos="0">
                <a:srgbClr val="1F3864">
                  <a:alpha val="67843"/>
                </a:srgbClr>
              </a:gs>
              <a:gs pos="19000">
                <a:srgbClr val="1F3864">
                  <a:alpha val="67843"/>
                </a:srgbClr>
              </a:gs>
              <a:gs pos="100000">
                <a:srgbClr val="4472C4">
                  <a:alpha val="78823"/>
                </a:srgbClr>
              </a:gs>
            </a:gsLst>
            <a:lin ang="1920016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5" name="Google Shape;435;p33"/>
          <p:cNvSpPr/>
          <p:nvPr/>
        </p:nvSpPr>
        <p:spPr>
          <a:xfrm rot="5400000">
            <a:off x="3980851" y="-3980850"/>
            <a:ext cx="1182300" cy="9144000"/>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6" name="Google Shape;436;p33"/>
          <p:cNvSpPr/>
          <p:nvPr/>
        </p:nvSpPr>
        <p:spPr>
          <a:xfrm>
            <a:off x="1028698" y="261649"/>
            <a:ext cx="7533000" cy="658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None/>
            </a:pPr>
            <a:r>
              <a:rPr b="0" lang="en" sz="3000" cap="none">
                <a:solidFill>
                  <a:srgbClr val="FFFFFF"/>
                </a:solidFill>
                <a:latin typeface="Calibri"/>
                <a:ea typeface="Calibri"/>
                <a:cs typeface="Calibri"/>
                <a:sym typeface="Calibri"/>
              </a:rPr>
              <a:t>Motivation</a:t>
            </a:r>
            <a:endParaRPr sz="1100"/>
          </a:p>
        </p:txBody>
      </p:sp>
      <p:grpSp>
        <p:nvGrpSpPr>
          <p:cNvPr id="437" name="Google Shape;437;p33"/>
          <p:cNvGrpSpPr/>
          <p:nvPr/>
        </p:nvGrpSpPr>
        <p:grpSpPr>
          <a:xfrm>
            <a:off x="1644727" y="1806736"/>
            <a:ext cx="5872500" cy="2700000"/>
            <a:chOff x="1548914" y="296402"/>
            <a:chExt cx="7830000" cy="3600000"/>
          </a:xfrm>
        </p:grpSpPr>
        <p:sp>
          <p:nvSpPr>
            <p:cNvPr id="438" name="Google Shape;438;p33"/>
            <p:cNvSpPr/>
            <p:nvPr/>
          </p:nvSpPr>
          <p:spPr>
            <a:xfrm>
              <a:off x="2250914" y="296402"/>
              <a:ext cx="2196000" cy="2196000"/>
            </a:xfrm>
            <a:prstGeom prst="ellipse">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33"/>
            <p:cNvSpPr/>
            <p:nvPr/>
          </p:nvSpPr>
          <p:spPr>
            <a:xfrm>
              <a:off x="2718914" y="764402"/>
              <a:ext cx="1260000" cy="12600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0" name="Google Shape;440;p33"/>
            <p:cNvSpPr/>
            <p:nvPr/>
          </p:nvSpPr>
          <p:spPr>
            <a:xfrm>
              <a:off x="1548914" y="3176402"/>
              <a:ext cx="3600000" cy="720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1" name="Google Shape;441;p33"/>
            <p:cNvSpPr txBox="1"/>
            <p:nvPr/>
          </p:nvSpPr>
          <p:spPr>
            <a:xfrm>
              <a:off x="1548914" y="3176402"/>
              <a:ext cx="36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900"/>
                <a:buFont typeface="Calibri"/>
                <a:buNone/>
              </a:pPr>
              <a:r>
                <a:rPr lang="en" sz="1900" cap="none">
                  <a:solidFill>
                    <a:schemeClr val="dk1"/>
                  </a:solidFill>
                  <a:latin typeface="Calibri"/>
                  <a:ea typeface="Calibri"/>
                  <a:cs typeface="Calibri"/>
                  <a:sym typeface="Calibri"/>
                </a:rPr>
                <a:t>INCREASING DATA VOLUMES</a:t>
              </a:r>
              <a:endParaRPr sz="1100"/>
            </a:p>
          </p:txBody>
        </p:sp>
        <p:sp>
          <p:nvSpPr>
            <p:cNvPr id="442" name="Google Shape;442;p33"/>
            <p:cNvSpPr/>
            <p:nvPr/>
          </p:nvSpPr>
          <p:spPr>
            <a:xfrm>
              <a:off x="6480914" y="296402"/>
              <a:ext cx="2196000" cy="2196000"/>
            </a:xfrm>
            <a:prstGeom prst="ellipse">
              <a:avLst/>
            </a:prstGeom>
            <a:solidFill>
              <a:schemeClr val="accent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p33"/>
            <p:cNvSpPr/>
            <p:nvPr/>
          </p:nvSpPr>
          <p:spPr>
            <a:xfrm>
              <a:off x="6948914" y="764402"/>
              <a:ext cx="1260000" cy="12600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33"/>
            <p:cNvSpPr/>
            <p:nvPr/>
          </p:nvSpPr>
          <p:spPr>
            <a:xfrm>
              <a:off x="5778914" y="3176402"/>
              <a:ext cx="3600000" cy="720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5" name="Google Shape;445;p33"/>
            <p:cNvSpPr txBox="1"/>
            <p:nvPr/>
          </p:nvSpPr>
          <p:spPr>
            <a:xfrm>
              <a:off x="5778914" y="3176402"/>
              <a:ext cx="36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900"/>
                <a:buFont typeface="Calibri"/>
                <a:buNone/>
              </a:pPr>
              <a:r>
                <a:rPr lang="en" sz="1900" cap="none">
                  <a:solidFill>
                    <a:schemeClr val="dk1"/>
                  </a:solidFill>
                  <a:latin typeface="Calibri"/>
                  <a:ea typeface="Calibri"/>
                  <a:cs typeface="Calibri"/>
                  <a:sym typeface="Calibri"/>
                </a:rPr>
                <a:t>CHEAP COMMODITY STORAGE</a:t>
              </a:r>
              <a:endParaRPr sz="1100"/>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9" name="Shape 449"/>
        <p:cNvGrpSpPr/>
        <p:nvPr/>
      </p:nvGrpSpPr>
      <p:grpSpPr>
        <a:xfrm>
          <a:off x="0" y="0"/>
          <a:ext cx="0" cy="0"/>
          <a:chOff x="0" y="0"/>
          <a:chExt cx="0" cy="0"/>
        </a:xfrm>
      </p:grpSpPr>
      <p:sp>
        <p:nvSpPr>
          <p:cNvPr id="450" name="Google Shape;450;p3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51" name="Google Shape;451;p34"/>
          <p:cNvSpPr txBox="1"/>
          <p:nvPr/>
        </p:nvSpPr>
        <p:spPr>
          <a:xfrm>
            <a:off x="473202" y="479640"/>
            <a:ext cx="2571900" cy="1289400"/>
          </a:xfrm>
          <a:prstGeom prst="rect">
            <a:avLst/>
          </a:prstGeom>
          <a:noFill/>
          <a:ln>
            <a:noFill/>
          </a:ln>
        </p:spPr>
        <p:txBody>
          <a:bodyPr anchorCtr="0" anchor="b" bIns="34275" lIns="68575" spcFirstLastPara="1" rIns="68575" wrap="square" tIns="34275">
            <a:normAutofit/>
          </a:bodyPr>
          <a:lstStyle/>
          <a:p>
            <a:pPr indent="0" lvl="0" marL="0" marR="0" rtl="0" algn="l">
              <a:lnSpc>
                <a:spcPct val="90000"/>
              </a:lnSpc>
              <a:spcBef>
                <a:spcPts val="0"/>
              </a:spcBef>
              <a:spcAft>
                <a:spcPts val="0"/>
              </a:spcAft>
              <a:buNone/>
            </a:pPr>
            <a:r>
              <a:rPr lang="en" sz="2900" cap="none">
                <a:solidFill>
                  <a:schemeClr val="dk1"/>
                </a:solidFill>
                <a:latin typeface="Calibri"/>
                <a:ea typeface="Calibri"/>
                <a:cs typeface="Calibri"/>
                <a:sym typeface="Calibri"/>
              </a:rPr>
              <a:t>INCREASING DATA VOLUMES</a:t>
            </a:r>
            <a:endParaRPr sz="1100"/>
          </a:p>
        </p:txBody>
      </p:sp>
      <p:sp>
        <p:nvSpPr>
          <p:cNvPr id="452" name="Google Shape;452;p34"/>
          <p:cNvSpPr/>
          <p:nvPr/>
        </p:nvSpPr>
        <p:spPr>
          <a:xfrm>
            <a:off x="482459" y="1930317"/>
            <a:ext cx="2441321" cy="13716"/>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53" name="Google Shape;453;p34"/>
          <p:cNvSpPr txBox="1"/>
          <p:nvPr/>
        </p:nvSpPr>
        <p:spPr>
          <a:xfrm>
            <a:off x="473202" y="2105406"/>
            <a:ext cx="2571900" cy="2558100"/>
          </a:xfrm>
          <a:prstGeom prst="rect">
            <a:avLst/>
          </a:prstGeom>
          <a:solidFill>
            <a:schemeClr val="lt1"/>
          </a:solidFill>
          <a:ln>
            <a:noFill/>
          </a:ln>
        </p:spPr>
        <p:txBody>
          <a:bodyPr anchorCtr="0" anchor="t" bIns="34275" lIns="68575" spcFirstLastPara="1" rIns="68575" wrap="square" tIns="34275">
            <a:normAutofit fontScale="85000" lnSpcReduction="20000"/>
          </a:bodyPr>
          <a:lstStyle/>
          <a:p>
            <a:pPr indent="0" lvl="0" marL="0" rtl="0" algn="l">
              <a:lnSpc>
                <a:spcPct val="90000"/>
              </a:lnSpc>
              <a:spcBef>
                <a:spcPts val="0"/>
              </a:spcBef>
              <a:spcAft>
                <a:spcPts val="0"/>
              </a:spcAft>
              <a:buClr>
                <a:schemeClr val="dk1"/>
              </a:buClr>
              <a:buSzPct val="55000"/>
              <a:buFont typeface="Arial"/>
              <a:buNone/>
            </a:pPr>
            <a:r>
              <a:rPr lang="en" sz="2000">
                <a:solidFill>
                  <a:schemeClr val="dk1"/>
                </a:solidFill>
                <a:highlight>
                  <a:schemeClr val="lt1"/>
                </a:highlight>
              </a:rPr>
              <a:t>•</a:t>
            </a:r>
            <a:r>
              <a:rPr lang="en" sz="2000">
                <a:solidFill>
                  <a:schemeClr val="dk1"/>
                </a:solidFill>
                <a:highlight>
                  <a:schemeClr val="lt1"/>
                </a:highlight>
                <a:latin typeface="Calibri"/>
                <a:ea typeface="Calibri"/>
                <a:cs typeface="Calibri"/>
                <a:sym typeface="Calibri"/>
              </a:rPr>
              <a:t>The number of websites is increasing on a </a:t>
            </a:r>
            <a:r>
              <a:rPr lang="en" sz="2000">
                <a:solidFill>
                  <a:schemeClr val="dk1"/>
                </a:solidFill>
                <a:highlight>
                  <a:schemeClr val="lt1"/>
                </a:highlight>
                <a:latin typeface="Calibri"/>
                <a:ea typeface="Calibri"/>
                <a:cs typeface="Calibri"/>
                <a:sym typeface="Calibri"/>
              </a:rPr>
              <a:t>logarithmic</a:t>
            </a:r>
            <a:r>
              <a:rPr lang="en" sz="2000">
                <a:solidFill>
                  <a:schemeClr val="dk1"/>
                </a:solidFill>
                <a:highlight>
                  <a:schemeClr val="lt1"/>
                </a:highlight>
                <a:latin typeface="Calibri"/>
                <a:ea typeface="Calibri"/>
                <a:cs typeface="Calibri"/>
                <a:sym typeface="Calibri"/>
              </a:rPr>
              <a:t> scale</a:t>
            </a:r>
            <a:endParaRPr sz="2000">
              <a:solidFill>
                <a:schemeClr val="dk1"/>
              </a:solidFill>
              <a:highlight>
                <a:schemeClr val="lt1"/>
              </a:highlight>
              <a:latin typeface="Calibri"/>
              <a:ea typeface="Calibri"/>
              <a:cs typeface="Calibri"/>
              <a:sym typeface="Calibri"/>
            </a:endParaRPr>
          </a:p>
          <a:p>
            <a:pPr indent="0" lvl="0" marL="12700" rtl="0" algn="l">
              <a:lnSpc>
                <a:spcPct val="90000"/>
              </a:lnSpc>
              <a:spcBef>
                <a:spcPts val="600"/>
              </a:spcBef>
              <a:spcAft>
                <a:spcPts val="0"/>
              </a:spcAft>
              <a:buClr>
                <a:schemeClr val="dk1"/>
              </a:buClr>
              <a:buSzPct val="55000"/>
              <a:buFont typeface="Arial"/>
              <a:buNone/>
            </a:pPr>
            <a:r>
              <a:rPr lang="en" sz="2000">
                <a:solidFill>
                  <a:schemeClr val="dk1"/>
                </a:solidFill>
                <a:highlight>
                  <a:schemeClr val="lt1"/>
                </a:highlight>
              </a:rPr>
              <a:t>•</a:t>
            </a:r>
            <a:r>
              <a:rPr lang="en" sz="2000">
                <a:solidFill>
                  <a:schemeClr val="dk1"/>
                </a:solidFill>
                <a:highlight>
                  <a:schemeClr val="lt1"/>
                </a:highlight>
                <a:latin typeface="Calibri"/>
                <a:ea typeface="Calibri"/>
                <a:cs typeface="Calibri"/>
                <a:sym typeface="Calibri"/>
              </a:rPr>
              <a:t>Google Web Crawler was collecting a significant amount of website pages.</a:t>
            </a:r>
            <a:endParaRPr sz="2000">
              <a:solidFill>
                <a:schemeClr val="dk1"/>
              </a:solidFill>
              <a:highlight>
                <a:schemeClr val="lt1"/>
              </a:highlight>
              <a:latin typeface="Calibri"/>
              <a:ea typeface="Calibri"/>
              <a:cs typeface="Calibri"/>
              <a:sym typeface="Calibri"/>
            </a:endParaRPr>
          </a:p>
          <a:p>
            <a:pPr indent="0" lvl="0" marL="12700" rtl="0" algn="l">
              <a:lnSpc>
                <a:spcPct val="90000"/>
              </a:lnSpc>
              <a:spcBef>
                <a:spcPts val="600"/>
              </a:spcBef>
              <a:spcAft>
                <a:spcPts val="0"/>
              </a:spcAft>
              <a:buClr>
                <a:schemeClr val="dk1"/>
              </a:buClr>
              <a:buSzPct val="55000"/>
              <a:buFont typeface="Arial"/>
              <a:buNone/>
            </a:pPr>
            <a:r>
              <a:rPr lang="en" sz="2000">
                <a:solidFill>
                  <a:schemeClr val="dk1"/>
                </a:solidFill>
                <a:highlight>
                  <a:schemeClr val="lt1"/>
                </a:highlight>
              </a:rPr>
              <a:t>•</a:t>
            </a:r>
            <a:r>
              <a:rPr lang="en" sz="2000">
                <a:solidFill>
                  <a:schemeClr val="dk1"/>
                </a:solidFill>
                <a:highlight>
                  <a:schemeClr val="lt1"/>
                </a:highlight>
                <a:latin typeface="Calibri"/>
                <a:ea typeface="Calibri"/>
                <a:cs typeface="Calibri"/>
                <a:sym typeface="Calibri"/>
              </a:rPr>
              <a:t>Google needed a way to have better search indexing</a:t>
            </a:r>
            <a:endParaRPr sz="2000">
              <a:solidFill>
                <a:schemeClr val="dk1"/>
              </a:solidFill>
              <a:highlight>
                <a:schemeClr val="lt1"/>
              </a:highlight>
              <a:latin typeface="Calibri"/>
              <a:ea typeface="Calibri"/>
              <a:cs typeface="Calibri"/>
              <a:sym typeface="Calibri"/>
            </a:endParaRPr>
          </a:p>
          <a:p>
            <a:pPr indent="0" lvl="0" marL="12700" rtl="0" algn="l">
              <a:lnSpc>
                <a:spcPct val="90000"/>
              </a:lnSpc>
              <a:spcBef>
                <a:spcPts val="600"/>
              </a:spcBef>
              <a:spcAft>
                <a:spcPts val="0"/>
              </a:spcAft>
              <a:buClr>
                <a:schemeClr val="dk1"/>
              </a:buClr>
              <a:buSzPct val="55000"/>
              <a:buFont typeface="Arial"/>
              <a:buNone/>
            </a:pPr>
            <a:r>
              <a:t/>
            </a:r>
            <a:endParaRPr sz="2000">
              <a:solidFill>
                <a:schemeClr val="dk1"/>
              </a:solidFill>
              <a:highlight>
                <a:schemeClr val="lt1"/>
              </a:highlight>
              <a:latin typeface="Calibri"/>
              <a:ea typeface="Calibri"/>
              <a:cs typeface="Calibri"/>
              <a:sym typeface="Calibri"/>
            </a:endParaRPr>
          </a:p>
          <a:p>
            <a:pPr indent="101600" lvl="0" marL="0" marR="0" rtl="0" algn="l">
              <a:lnSpc>
                <a:spcPct val="90000"/>
              </a:lnSpc>
              <a:spcBef>
                <a:spcPts val="600"/>
              </a:spcBef>
              <a:spcAft>
                <a:spcPts val="0"/>
              </a:spcAft>
              <a:buClr>
                <a:schemeClr val="dk1"/>
              </a:buClr>
              <a:buSzPct val="100000"/>
              <a:buFont typeface="Arial"/>
              <a:buNone/>
            </a:pPr>
            <a:r>
              <a:t/>
            </a:r>
            <a:endParaRPr sz="1700">
              <a:solidFill>
                <a:schemeClr val="dk1"/>
              </a:solidFill>
              <a:highlight>
                <a:schemeClr val="lt1"/>
              </a:highlight>
              <a:latin typeface="Calibri"/>
              <a:ea typeface="Calibri"/>
              <a:cs typeface="Calibri"/>
              <a:sym typeface="Calibri"/>
            </a:endParaRPr>
          </a:p>
        </p:txBody>
      </p:sp>
      <p:pic>
        <p:nvPicPr>
          <p:cNvPr descr="A graph showing the number of numbers and the number of the numbers&#10;&#10;Description automatically generated with medium confidence" id="454" name="Google Shape;454;p34"/>
          <p:cNvPicPr preferRelativeResize="0"/>
          <p:nvPr/>
        </p:nvPicPr>
        <p:blipFill rotWithShape="1">
          <a:blip r:embed="rId3">
            <a:alphaModFix/>
          </a:blip>
          <a:srcRect b="0" l="0" r="0" t="0"/>
          <a:stretch/>
        </p:blipFill>
        <p:spPr>
          <a:xfrm>
            <a:off x="3006250" y="1124300"/>
            <a:ext cx="6036075" cy="288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8" name="Shape 458"/>
        <p:cNvGrpSpPr/>
        <p:nvPr/>
      </p:nvGrpSpPr>
      <p:grpSpPr>
        <a:xfrm>
          <a:off x="0" y="0"/>
          <a:ext cx="0" cy="0"/>
          <a:chOff x="0" y="0"/>
          <a:chExt cx="0" cy="0"/>
        </a:xfrm>
      </p:grpSpPr>
      <p:sp>
        <p:nvSpPr>
          <p:cNvPr id="459" name="Google Shape;459;p35"/>
          <p:cNvSpPr/>
          <p:nvPr/>
        </p:nvSpPr>
        <p:spPr>
          <a:xfrm>
            <a:off x="0" y="1"/>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60" name="Google Shape;460;p35"/>
          <p:cNvSpPr/>
          <p:nvPr/>
        </p:nvSpPr>
        <p:spPr>
          <a:xfrm>
            <a:off x="6482395" y="367130"/>
            <a:ext cx="2318700" cy="1241700"/>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None/>
            </a:pPr>
            <a:r>
              <a:rPr lang="en" sz="2800" cap="none">
                <a:solidFill>
                  <a:schemeClr val="dk1"/>
                </a:solidFill>
                <a:latin typeface="Calibri"/>
                <a:ea typeface="Calibri"/>
                <a:cs typeface="Calibri"/>
                <a:sym typeface="Calibri"/>
              </a:rPr>
              <a:t>CHEAP COMMODITY STORAGE</a:t>
            </a:r>
            <a:endParaRPr sz="1100"/>
          </a:p>
        </p:txBody>
      </p:sp>
      <p:pic>
        <p:nvPicPr>
          <p:cNvPr descr="A graph with numbers and lines&#10;&#10;Description automatically generated" id="461" name="Google Shape;461;p35"/>
          <p:cNvPicPr preferRelativeResize="0"/>
          <p:nvPr/>
        </p:nvPicPr>
        <p:blipFill rotWithShape="1">
          <a:blip r:embed="rId3">
            <a:alphaModFix/>
          </a:blip>
          <a:srcRect b="26953" l="0" r="0" t="0"/>
          <a:stretch/>
        </p:blipFill>
        <p:spPr>
          <a:xfrm>
            <a:off x="25" y="325"/>
            <a:ext cx="6086450" cy="4408399"/>
          </a:xfrm>
          <a:prstGeom prst="rect">
            <a:avLst/>
          </a:prstGeom>
          <a:noFill/>
          <a:ln>
            <a:noFill/>
          </a:ln>
        </p:spPr>
      </p:pic>
      <p:sp>
        <p:nvSpPr>
          <p:cNvPr id="462" name="Google Shape;462;p35"/>
          <p:cNvSpPr txBox="1"/>
          <p:nvPr/>
        </p:nvSpPr>
        <p:spPr>
          <a:xfrm>
            <a:off x="6482395" y="1813806"/>
            <a:ext cx="2207100" cy="2655300"/>
          </a:xfrm>
          <a:prstGeom prst="rect">
            <a:avLst/>
          </a:prstGeom>
          <a:noFill/>
          <a:ln>
            <a:noFill/>
          </a:ln>
        </p:spPr>
        <p:txBody>
          <a:bodyPr anchorCtr="0" anchor="t" bIns="34275" lIns="68575" spcFirstLastPara="1" rIns="68575" wrap="square" tIns="34275">
            <a:normAutofit/>
          </a:bodyPr>
          <a:lstStyle/>
          <a:p>
            <a:pPr indent="6350" lvl="0" marL="0" marR="0" rtl="0" algn="l">
              <a:lnSpc>
                <a:spcPct val="90000"/>
              </a:lnSpc>
              <a:spcBef>
                <a:spcPts val="0"/>
              </a:spcBef>
              <a:spcAft>
                <a:spcPts val="0"/>
              </a:spcAft>
              <a:buClr>
                <a:schemeClr val="dk1"/>
              </a:buClr>
              <a:buSzPts val="1500"/>
              <a:buFont typeface="Arial"/>
              <a:buChar char="•"/>
            </a:pPr>
            <a:r>
              <a:rPr lang="en" sz="1500">
                <a:solidFill>
                  <a:schemeClr val="dk1"/>
                </a:solidFill>
                <a:latin typeface="Calibri"/>
                <a:ea typeface="Calibri"/>
                <a:cs typeface="Calibri"/>
                <a:sym typeface="Calibri"/>
              </a:rPr>
              <a:t>Observation: exponential decrease in memory prices over time. </a:t>
            </a:r>
            <a:endParaRPr sz="1100"/>
          </a:p>
          <a:p>
            <a:pPr indent="0" lvl="0" marL="0" marR="0" rtl="0" algn="l">
              <a:lnSpc>
                <a:spcPct val="90000"/>
              </a:lnSpc>
              <a:spcBef>
                <a:spcPts val="500"/>
              </a:spcBef>
              <a:spcAft>
                <a:spcPts val="0"/>
              </a:spcAft>
              <a:buNone/>
            </a:pPr>
            <a:r>
              <a:t/>
            </a:r>
            <a:endParaRPr sz="1500">
              <a:solidFill>
                <a:schemeClr val="dk1"/>
              </a:solidFill>
              <a:latin typeface="Calibri"/>
              <a:ea typeface="Calibri"/>
              <a:cs typeface="Calibri"/>
              <a:sym typeface="Calibri"/>
            </a:endParaRPr>
          </a:p>
        </p:txBody>
      </p:sp>
      <p:sp>
        <p:nvSpPr>
          <p:cNvPr id="463" name="Google Shape;463;p35"/>
          <p:cNvSpPr/>
          <p:nvPr/>
        </p:nvSpPr>
        <p:spPr>
          <a:xfrm flipH="1">
            <a:off x="-2" y="4806556"/>
            <a:ext cx="9144000" cy="342900"/>
          </a:xfrm>
          <a:prstGeom prst="rect">
            <a:avLst/>
          </a:prstGeom>
          <a:gradFill>
            <a:gsLst>
              <a:gs pos="0">
                <a:srgbClr val="000000">
                  <a:alpha val="95686"/>
                </a:srgbClr>
              </a:gs>
              <a:gs pos="34000">
                <a:srgbClr val="000000">
                  <a:alpha val="95686"/>
                </a:srgbClr>
              </a:gs>
              <a:gs pos="100000">
                <a:schemeClr val="accent1"/>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64" name="Google Shape;464;p35"/>
          <p:cNvSpPr/>
          <p:nvPr/>
        </p:nvSpPr>
        <p:spPr>
          <a:xfrm flipH="1">
            <a:off x="72" y="4806557"/>
            <a:ext cx="6086400" cy="336900"/>
          </a:xfrm>
          <a:prstGeom prst="rect">
            <a:avLst/>
          </a:prstGeom>
          <a:gradFill>
            <a:gsLst>
              <a:gs pos="0">
                <a:srgbClr val="2F5496">
                  <a:alpha val="58823"/>
                </a:srgbClr>
              </a:gs>
              <a:gs pos="28000">
                <a:srgbClr val="2F5496">
                  <a:alpha val="58823"/>
                </a:srgbClr>
              </a:gs>
              <a:gs pos="100000">
                <a:srgbClr val="000000">
                  <a:alpha val="69803"/>
                </a:srgbClr>
              </a:gs>
            </a:gsLst>
            <a:lin ang="113999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65" name="Google Shape;465;p35"/>
          <p:cNvSpPr txBox="1"/>
          <p:nvPr/>
        </p:nvSpPr>
        <p:spPr>
          <a:xfrm>
            <a:off x="226075" y="4210875"/>
            <a:ext cx="542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Source: https://jcmit.net/memoryprice.htm</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9" name="Shape 469"/>
        <p:cNvGrpSpPr/>
        <p:nvPr/>
      </p:nvGrpSpPr>
      <p:grpSpPr>
        <a:xfrm>
          <a:off x="0" y="0"/>
          <a:ext cx="0" cy="0"/>
          <a:chOff x="0" y="0"/>
          <a:chExt cx="0" cy="0"/>
        </a:xfrm>
      </p:grpSpPr>
      <p:sp>
        <p:nvSpPr>
          <p:cNvPr id="470" name="Google Shape;470;p36"/>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1" name="Google Shape;471;p36"/>
          <p:cNvSpPr/>
          <p:nvPr/>
        </p:nvSpPr>
        <p:spPr>
          <a:xfrm>
            <a:off x="666296" y="780628"/>
            <a:ext cx="3566211" cy="3566211"/>
          </a:xfrm>
          <a:prstGeom prst="ellipse">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2" name="Google Shape;472;p36"/>
          <p:cNvSpPr/>
          <p:nvPr/>
        </p:nvSpPr>
        <p:spPr>
          <a:xfrm>
            <a:off x="659558" y="772205"/>
            <a:ext cx="3566211" cy="3566211"/>
          </a:xfrm>
          <a:prstGeom prst="ellipse">
            <a:avLst/>
          </a:prstGeom>
          <a:solidFill>
            <a:schemeClr val="accent6">
              <a:alpha val="29803"/>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3" name="Google Shape;473;p36"/>
          <p:cNvSpPr/>
          <p:nvPr/>
        </p:nvSpPr>
        <p:spPr>
          <a:xfrm>
            <a:off x="554970" y="701141"/>
            <a:ext cx="3566211" cy="3566211"/>
          </a:xfrm>
          <a:prstGeom prst="ellipse">
            <a:avLst/>
          </a:prstGeom>
          <a:solidFill>
            <a:schemeClr val="dk1"/>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474" name="Google Shape;474;p36"/>
          <p:cNvGrpSpPr/>
          <p:nvPr/>
        </p:nvGrpSpPr>
        <p:grpSpPr>
          <a:xfrm>
            <a:off x="0" y="283420"/>
            <a:ext cx="1396391" cy="538136"/>
            <a:chOff x="0" y="377893"/>
            <a:chExt cx="1861854" cy="717514"/>
          </a:xfrm>
        </p:grpSpPr>
        <p:sp>
          <p:nvSpPr>
            <p:cNvPr id="475" name="Google Shape;475;p36"/>
            <p:cNvSpPr/>
            <p:nvPr/>
          </p:nvSpPr>
          <p:spPr>
            <a:xfrm>
              <a:off x="0" y="377893"/>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76" name="Google Shape;476;p36"/>
            <p:cNvSpPr/>
            <p:nvPr/>
          </p:nvSpPr>
          <p:spPr>
            <a:xfrm>
              <a:off x="0" y="817628"/>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477" name="Google Shape;477;p36"/>
          <p:cNvSpPr/>
          <p:nvPr/>
        </p:nvSpPr>
        <p:spPr>
          <a:xfrm>
            <a:off x="3441393" y="343359"/>
            <a:ext cx="685924" cy="685924"/>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8" name="Google Shape;478;p36"/>
          <p:cNvSpPr/>
          <p:nvPr/>
        </p:nvSpPr>
        <p:spPr>
          <a:xfrm>
            <a:off x="3441393" y="343359"/>
            <a:ext cx="685924" cy="685924"/>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29803"/>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79" name="Google Shape;479;p36"/>
          <p:cNvSpPr/>
          <p:nvPr/>
        </p:nvSpPr>
        <p:spPr>
          <a:xfrm>
            <a:off x="482232" y="3709997"/>
            <a:ext cx="239956" cy="239956"/>
          </a:xfrm>
          <a:prstGeom prst="ellipse">
            <a:avLst/>
          </a:pr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80" name="Google Shape;480;p36"/>
          <p:cNvSpPr/>
          <p:nvPr/>
        </p:nvSpPr>
        <p:spPr>
          <a:xfrm>
            <a:off x="482232" y="3709997"/>
            <a:ext cx="239956" cy="239956"/>
          </a:xfrm>
          <a:prstGeom prst="ellipse">
            <a:avLst/>
          </a:prstGeom>
          <a:solidFill>
            <a:schemeClr val="accent2">
              <a:alpha val="29803"/>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81" name="Google Shape;481;p36"/>
          <p:cNvSpPr/>
          <p:nvPr/>
        </p:nvSpPr>
        <p:spPr>
          <a:xfrm>
            <a:off x="4676151" y="848135"/>
            <a:ext cx="3912880" cy="3263503"/>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chemeClr val="lt1"/>
              </a:buClr>
              <a:buSzPts val="1800"/>
              <a:buFont typeface="Arial"/>
              <a:buChar char="•"/>
            </a:pPr>
            <a:r>
              <a:rPr b="0" lang="en" sz="1800" cap="none">
                <a:solidFill>
                  <a:schemeClr val="lt1"/>
                </a:solidFill>
                <a:latin typeface="Calibri"/>
                <a:ea typeface="Calibri"/>
                <a:cs typeface="Calibri"/>
                <a:sym typeface="Calibri"/>
              </a:rPr>
              <a:t>Given the limitations of traditional databases and the </a:t>
            </a:r>
            <a:r>
              <a:rPr lang="en" sz="1800">
                <a:solidFill>
                  <a:schemeClr val="lt1"/>
                </a:solidFill>
                <a:latin typeface="Calibri"/>
                <a:ea typeface="Calibri"/>
                <a:cs typeface="Calibri"/>
                <a:sym typeface="Calibri"/>
              </a:rPr>
              <a:t>Increasing availability of commodity storage and the </a:t>
            </a:r>
            <a:r>
              <a:rPr lang="en" sz="1800">
                <a:solidFill>
                  <a:schemeClr val="lt1"/>
                </a:solidFill>
                <a:latin typeface="Calibri"/>
                <a:ea typeface="Calibri"/>
                <a:cs typeface="Calibri"/>
                <a:sym typeface="Calibri"/>
              </a:rPr>
              <a:t>exponential</a:t>
            </a:r>
            <a:r>
              <a:rPr lang="en" sz="1800">
                <a:solidFill>
                  <a:schemeClr val="lt1"/>
                </a:solidFill>
                <a:latin typeface="Calibri"/>
                <a:ea typeface="Calibri"/>
                <a:cs typeface="Calibri"/>
                <a:sym typeface="Calibri"/>
              </a:rPr>
              <a:t> increase of data, How did the tech industry respond to handle that data in a more </a:t>
            </a:r>
            <a:r>
              <a:rPr lang="en" sz="1800">
                <a:solidFill>
                  <a:schemeClr val="lt1"/>
                </a:solidFill>
                <a:latin typeface="Calibri"/>
                <a:ea typeface="Calibri"/>
                <a:cs typeface="Calibri"/>
                <a:sym typeface="Calibri"/>
              </a:rPr>
              <a:t>advanced way ? </a:t>
            </a:r>
            <a:endParaRPr b="0" sz="1800" cap="none">
              <a:solidFill>
                <a:schemeClr val="lt1"/>
              </a:solidFill>
              <a:latin typeface="Calibri"/>
              <a:ea typeface="Calibri"/>
              <a:cs typeface="Calibri"/>
              <a:sym typeface="Calibri"/>
            </a:endParaRPr>
          </a:p>
          <a:p>
            <a:pPr indent="114300" lvl="0" marL="0" marR="0" rtl="0" algn="l">
              <a:lnSpc>
                <a:spcPct val="90000"/>
              </a:lnSpc>
              <a:spcBef>
                <a:spcPts val="500"/>
              </a:spcBef>
              <a:spcAft>
                <a:spcPts val="0"/>
              </a:spcAft>
              <a:buClr>
                <a:schemeClr val="dk1"/>
              </a:buClr>
              <a:buSzPts val="1800"/>
              <a:buFont typeface="Arial"/>
              <a:buNone/>
            </a:pPr>
            <a:r>
              <a:t/>
            </a:r>
            <a:endParaRPr sz="1800">
              <a:solidFill>
                <a:schemeClr val="lt1"/>
              </a:solidFill>
              <a:latin typeface="Calibri"/>
              <a:ea typeface="Calibri"/>
              <a:cs typeface="Calibri"/>
              <a:sym typeface="Calibri"/>
            </a:endParaRPr>
          </a:p>
          <a:p>
            <a:pPr indent="0" lvl="0" marL="0" marR="0" rtl="0" algn="l">
              <a:lnSpc>
                <a:spcPct val="90000"/>
              </a:lnSpc>
              <a:spcBef>
                <a:spcPts val="500"/>
              </a:spcBef>
              <a:spcAft>
                <a:spcPts val="0"/>
              </a:spcAft>
              <a:buClr>
                <a:schemeClr val="lt1"/>
              </a:buClr>
              <a:buSzPts val="1800"/>
              <a:buFont typeface="Arial"/>
              <a:buChar char="•"/>
            </a:pPr>
            <a:r>
              <a:rPr b="0" lang="en" sz="1800" cap="none">
                <a:solidFill>
                  <a:schemeClr val="lt1"/>
                </a:solidFill>
                <a:latin typeface="Calibri"/>
                <a:ea typeface="Calibri"/>
                <a:cs typeface="Calibri"/>
                <a:sym typeface="Calibri"/>
              </a:rPr>
              <a:t> The tech industry started building new systems called dataflow engines.</a:t>
            </a:r>
            <a:r>
              <a:rPr lang="en" sz="1800">
                <a:solidFill>
                  <a:schemeClr val="lt1"/>
                </a:solidFill>
                <a:latin typeface="Calibri"/>
                <a:ea typeface="Calibri"/>
                <a:cs typeface="Calibri"/>
                <a:sym typeface="Calibri"/>
              </a:rPr>
              <a:t> But what are they? </a:t>
            </a:r>
            <a:endParaRPr b="0" sz="1800" cap="none">
              <a:solidFill>
                <a:schemeClr val="lt1"/>
              </a:solidFill>
              <a:latin typeface="Calibri"/>
              <a:ea typeface="Calibri"/>
              <a:cs typeface="Calibri"/>
              <a:sym typeface="Calibri"/>
            </a:endParaRPr>
          </a:p>
        </p:txBody>
      </p:sp>
      <p:grpSp>
        <p:nvGrpSpPr>
          <p:cNvPr id="482" name="Google Shape;482;p36"/>
          <p:cNvGrpSpPr/>
          <p:nvPr/>
        </p:nvGrpSpPr>
        <p:grpSpPr>
          <a:xfrm>
            <a:off x="7359179" y="4604598"/>
            <a:ext cx="790849" cy="352267"/>
            <a:chOff x="9841624" y="4115729"/>
            <a:chExt cx="602169" cy="268223"/>
          </a:xfrm>
        </p:grpSpPr>
        <p:sp>
          <p:nvSpPr>
            <p:cNvPr id="483" name="Google Shape;483;p36"/>
            <p:cNvSpPr/>
            <p:nvPr/>
          </p:nvSpPr>
          <p:spPr>
            <a:xfrm>
              <a:off x="9841624"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4" name="Google Shape;484;p36"/>
            <p:cNvSpPr/>
            <p:nvPr/>
          </p:nvSpPr>
          <p:spPr>
            <a:xfrm>
              <a:off x="9941445"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5" name="Google Shape;485;p36"/>
            <p:cNvSpPr/>
            <p:nvPr/>
          </p:nvSpPr>
          <p:spPr>
            <a:xfrm>
              <a:off x="10041267"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6" name="Google Shape;486;p36"/>
            <p:cNvSpPr/>
            <p:nvPr/>
          </p:nvSpPr>
          <p:spPr>
            <a:xfrm>
              <a:off x="10141090"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87" name="Google Shape;487;p36"/>
            <p:cNvSpPr/>
            <p:nvPr/>
          </p:nvSpPr>
          <p:spPr>
            <a:xfrm>
              <a:off x="10240911"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1" name="Shape 491"/>
        <p:cNvGrpSpPr/>
        <p:nvPr/>
      </p:nvGrpSpPr>
      <p:grpSpPr>
        <a:xfrm>
          <a:off x="0" y="0"/>
          <a:ext cx="0" cy="0"/>
          <a:chOff x="0" y="0"/>
          <a:chExt cx="0" cy="0"/>
        </a:xfrm>
      </p:grpSpPr>
      <p:sp>
        <p:nvSpPr>
          <p:cNvPr id="492" name="Google Shape;492;p37"/>
          <p:cNvSpPr/>
          <p:nvPr/>
        </p:nvSpPr>
        <p:spPr>
          <a:xfrm>
            <a:off x="0" y="7620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93" name="Google Shape;493;p37"/>
          <p:cNvSpPr/>
          <p:nvPr/>
        </p:nvSpPr>
        <p:spPr>
          <a:xfrm>
            <a:off x="630936" y="192024"/>
            <a:ext cx="7879842" cy="761238"/>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None/>
            </a:pPr>
            <a:r>
              <a:rPr i="0" lang="en" sz="3300" u="none" strike="noStrike">
                <a:solidFill>
                  <a:schemeClr val="dk1"/>
                </a:solidFill>
                <a:latin typeface="Calibri"/>
                <a:ea typeface="Calibri"/>
                <a:cs typeface="Calibri"/>
                <a:sym typeface="Calibri"/>
              </a:rPr>
              <a:t>Dataflow Engines</a:t>
            </a:r>
            <a:endParaRPr sz="3300">
              <a:solidFill>
                <a:schemeClr val="dk1"/>
              </a:solidFill>
              <a:latin typeface="Calibri"/>
              <a:ea typeface="Calibri"/>
              <a:cs typeface="Calibri"/>
              <a:sym typeface="Calibri"/>
            </a:endParaRPr>
          </a:p>
        </p:txBody>
      </p:sp>
      <p:sp>
        <p:nvSpPr>
          <p:cNvPr id="494" name="Google Shape;494;p37"/>
          <p:cNvSpPr/>
          <p:nvPr/>
        </p:nvSpPr>
        <p:spPr>
          <a:xfrm>
            <a:off x="649465" y="1225877"/>
            <a:ext cx="7838694"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495" name="Google Shape;495;p37"/>
          <p:cNvSpPr/>
          <p:nvPr/>
        </p:nvSpPr>
        <p:spPr>
          <a:xfrm flipH="1" rot="10800000">
            <a:off x="630936" y="1153632"/>
            <a:ext cx="1405093" cy="8236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id="496" name="Google Shape;496;p37"/>
          <p:cNvSpPr txBox="1"/>
          <p:nvPr/>
        </p:nvSpPr>
        <p:spPr>
          <a:xfrm>
            <a:off x="630936" y="1224859"/>
            <a:ext cx="7606200" cy="780000"/>
          </a:xfrm>
          <a:prstGeom prst="rect">
            <a:avLst/>
          </a:prstGeom>
          <a:noFill/>
          <a:ln>
            <a:noFill/>
          </a:ln>
        </p:spPr>
        <p:txBody>
          <a:bodyPr anchorCtr="0" anchor="t" bIns="34275" lIns="68575" spcFirstLastPara="1" rIns="68575" wrap="square" tIns="34275">
            <a:spAutoFit/>
          </a:bodyPr>
          <a:lstStyle/>
          <a:p>
            <a:pPr indent="-215900" lvl="0" marL="215900" marR="0" rtl="0" algn="l">
              <a:spcBef>
                <a:spcPts val="0"/>
              </a:spcBef>
              <a:spcAft>
                <a:spcPts val="0"/>
              </a:spcAft>
              <a:buClr>
                <a:schemeClr val="dk1"/>
              </a:buClr>
              <a:buSzPts val="1400"/>
              <a:buFont typeface="Arial"/>
              <a:buChar char="•"/>
            </a:pPr>
            <a:r>
              <a:rPr b="0" i="0" lang="en" sz="1400" u="none" strike="noStrike">
                <a:solidFill>
                  <a:schemeClr val="dk1"/>
                </a:solidFill>
                <a:latin typeface="Arial"/>
                <a:ea typeface="Arial"/>
                <a:cs typeface="Arial"/>
                <a:sym typeface="Arial"/>
              </a:rPr>
              <a:t>Dataflow engines are </a:t>
            </a:r>
            <a:r>
              <a:rPr lang="en">
                <a:solidFill>
                  <a:schemeClr val="dk1"/>
                </a:solidFill>
              </a:rPr>
              <a:t>advance computational framework that orchestrate </a:t>
            </a:r>
            <a:r>
              <a:rPr lang="en">
                <a:solidFill>
                  <a:schemeClr val="dk1"/>
                </a:solidFill>
              </a:rPr>
              <a:t>distributed</a:t>
            </a:r>
            <a:r>
              <a:rPr lang="en">
                <a:solidFill>
                  <a:schemeClr val="dk1"/>
                </a:solidFill>
              </a:rPr>
              <a:t> and </a:t>
            </a:r>
            <a:r>
              <a:rPr lang="en">
                <a:solidFill>
                  <a:schemeClr val="dk1"/>
                </a:solidFill>
              </a:rPr>
              <a:t>parallel</a:t>
            </a:r>
            <a:r>
              <a:rPr lang="en">
                <a:solidFill>
                  <a:schemeClr val="dk1"/>
                </a:solidFill>
              </a:rPr>
              <a:t> processing tasks across a network of nodes (interconnected </a:t>
            </a:r>
            <a:r>
              <a:rPr lang="en">
                <a:solidFill>
                  <a:schemeClr val="dk1"/>
                </a:solidFill>
              </a:rPr>
              <a:t>computers</a:t>
            </a:r>
            <a:r>
              <a:rPr lang="en">
                <a:solidFill>
                  <a:schemeClr val="dk1"/>
                </a:solidFill>
              </a:rPr>
              <a:t>).</a:t>
            </a:r>
            <a:endParaRPr sz="1100"/>
          </a:p>
          <a:p>
            <a:pPr indent="-215900" lvl="0" marL="215900" marR="0" rtl="0" algn="l">
              <a:spcBef>
                <a:spcPts val="500"/>
              </a:spcBef>
              <a:spcAft>
                <a:spcPts val="0"/>
              </a:spcAft>
              <a:buClr>
                <a:schemeClr val="dk1"/>
              </a:buClr>
              <a:buSzPts val="1400"/>
              <a:buFont typeface="Arial"/>
              <a:buChar char="•"/>
            </a:pPr>
            <a:r>
              <a:rPr b="0" i="0" lang="en" sz="1400" u="none" strike="noStrike">
                <a:solidFill>
                  <a:schemeClr val="dk1"/>
                </a:solidFill>
                <a:latin typeface="Arial"/>
                <a:ea typeface="Arial"/>
                <a:cs typeface="Arial"/>
                <a:sym typeface="Arial"/>
              </a:rPr>
              <a:t>In general, Dataflow engines employ a master node and a worker nodes.</a:t>
            </a:r>
            <a:endParaRPr sz="1100"/>
          </a:p>
        </p:txBody>
      </p:sp>
      <p:sp>
        <p:nvSpPr>
          <p:cNvPr id="497" name="Google Shape;497;p37"/>
          <p:cNvSpPr/>
          <p:nvPr/>
        </p:nvSpPr>
        <p:spPr>
          <a:xfrm>
            <a:off x="537426" y="2454400"/>
            <a:ext cx="5331600" cy="3603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900">
                <a:solidFill>
                  <a:schemeClr val="dk1"/>
                </a:solidFill>
                <a:latin typeface="Arial"/>
                <a:ea typeface="Arial"/>
                <a:cs typeface="Arial"/>
                <a:sym typeface="Arial"/>
              </a:rPr>
              <a:t>Responsibilities for each type of node</a:t>
            </a:r>
            <a:endParaRPr b="1" i="0" sz="1800" u="none" cap="none" strike="noStrike">
              <a:solidFill>
                <a:schemeClr val="dk1"/>
              </a:solidFill>
              <a:latin typeface="Arial"/>
              <a:ea typeface="Arial"/>
              <a:cs typeface="Arial"/>
              <a:sym typeface="Arial"/>
            </a:endParaRPr>
          </a:p>
        </p:txBody>
      </p:sp>
      <p:graphicFrame>
        <p:nvGraphicFramePr>
          <p:cNvPr id="498" name="Google Shape;498;p37"/>
          <p:cNvGraphicFramePr/>
          <p:nvPr/>
        </p:nvGraphicFramePr>
        <p:xfrm>
          <a:off x="537418" y="2882246"/>
          <a:ext cx="3000000" cy="3000000"/>
        </p:xfrm>
        <a:graphic>
          <a:graphicData uri="http://schemas.openxmlformats.org/drawingml/2006/table">
            <a:tbl>
              <a:tblPr bandRow="1" firstRow="1">
                <a:noFill/>
                <a:tableStyleId>{B60B4CB1-2DB2-400B-801F-07332CC85587}</a:tableStyleId>
              </a:tblPr>
              <a:tblGrid>
                <a:gridCol w="3330000"/>
                <a:gridCol w="3330000"/>
              </a:tblGrid>
              <a:tr h="398925">
                <a:tc>
                  <a:txBody>
                    <a:bodyPr/>
                    <a:lstStyle/>
                    <a:p>
                      <a:pPr indent="0" lvl="0" marL="0" marR="0" rtl="0" algn="l">
                        <a:spcBef>
                          <a:spcPts val="0"/>
                        </a:spcBef>
                        <a:spcAft>
                          <a:spcPts val="0"/>
                        </a:spcAft>
                        <a:buNone/>
                      </a:pPr>
                      <a:r>
                        <a:rPr lang="en" sz="1400" u="none" cap="none" strike="noStrike"/>
                        <a:t>Master Node</a:t>
                      </a:r>
                      <a:endParaRPr sz="1100"/>
                    </a:p>
                  </a:txBody>
                  <a:tcPr marT="34300" marB="34300" marR="68600" marL="68600"/>
                </a:tc>
                <a:tc>
                  <a:txBody>
                    <a:bodyPr/>
                    <a:lstStyle/>
                    <a:p>
                      <a:pPr indent="0" lvl="0" marL="0" marR="0" rtl="0" algn="l">
                        <a:spcBef>
                          <a:spcPts val="0"/>
                        </a:spcBef>
                        <a:spcAft>
                          <a:spcPts val="0"/>
                        </a:spcAft>
                        <a:buNone/>
                      </a:pPr>
                      <a:r>
                        <a:rPr lang="en" sz="1400"/>
                        <a:t>Worker Node</a:t>
                      </a:r>
                      <a:endParaRPr sz="1100"/>
                    </a:p>
                  </a:txBody>
                  <a:tcPr marT="34300" marB="34300" marR="68600" marL="68600"/>
                </a:tc>
              </a:tr>
              <a:tr h="983625">
                <a:tc>
                  <a:txBody>
                    <a:bodyPr/>
                    <a:lstStyle/>
                    <a:p>
                      <a:pPr indent="0" lvl="0" marL="0" marR="0" rtl="0" algn="l">
                        <a:spcBef>
                          <a:spcPts val="0"/>
                        </a:spcBef>
                        <a:spcAft>
                          <a:spcPts val="0"/>
                        </a:spcAft>
                        <a:buNone/>
                      </a:pPr>
                      <a:r>
                        <a:rPr lang="en" sz="1400"/>
                        <a:t>1- manage the distribution of the tasks and </a:t>
                      </a:r>
                      <a:r>
                        <a:rPr lang="en"/>
                        <a:t>partition</a:t>
                      </a:r>
                      <a:r>
                        <a:rPr lang="en"/>
                        <a:t> the data to the</a:t>
                      </a:r>
                      <a:r>
                        <a:rPr lang="en" sz="1400"/>
                        <a:t> worker </a:t>
                      </a:r>
                      <a:r>
                        <a:rPr lang="en"/>
                        <a:t>nodes</a:t>
                      </a:r>
                      <a:br>
                        <a:rPr lang="en" sz="1400"/>
                      </a:br>
                      <a:r>
                        <a:rPr lang="en" sz="1400"/>
                        <a:t>2- Monitor process of t</a:t>
                      </a:r>
                      <a:r>
                        <a:rPr lang="en"/>
                        <a:t>he worker nodes</a:t>
                      </a:r>
                      <a:br>
                        <a:rPr lang="en" sz="1400"/>
                      </a:br>
                      <a:r>
                        <a:rPr lang="en" sz="1400"/>
                        <a:t>3- handle failures during execution </a:t>
                      </a:r>
                      <a:r>
                        <a:rPr lang="en"/>
                        <a:t>by detecting the </a:t>
                      </a:r>
                      <a:r>
                        <a:rPr lang="en"/>
                        <a:t>failures</a:t>
                      </a:r>
                      <a:r>
                        <a:rPr lang="en"/>
                        <a:t> from the worker nodes.</a:t>
                      </a:r>
                      <a:endParaRPr sz="1100"/>
                    </a:p>
                  </a:txBody>
                  <a:tcPr marT="34300" marB="34300" marR="68600" marL="68600" anchor="ctr"/>
                </a:tc>
                <a:tc>
                  <a:txBody>
                    <a:bodyPr/>
                    <a:lstStyle/>
                    <a:p>
                      <a:pPr indent="0" lvl="0" marL="0" marR="0" rtl="0" algn="l">
                        <a:spcBef>
                          <a:spcPts val="0"/>
                        </a:spcBef>
                        <a:spcAft>
                          <a:spcPts val="0"/>
                        </a:spcAft>
                        <a:buNone/>
                      </a:pPr>
                      <a:r>
                        <a:rPr lang="en" sz="1400"/>
                        <a:t>1- Perform the actual data processing </a:t>
                      </a:r>
                      <a:br>
                        <a:rPr lang="en" sz="1400"/>
                      </a:br>
                      <a:r>
                        <a:rPr lang="en" sz="1400"/>
                        <a:t>2- Local Data Management</a:t>
                      </a:r>
                      <a:br>
                        <a:rPr lang="en" sz="1400"/>
                      </a:br>
                      <a:r>
                        <a:rPr lang="en" sz="1400"/>
                        <a:t>3- contribute to fault tolerance</a:t>
                      </a:r>
                      <a:endParaRPr sz="1100"/>
                    </a:p>
                  </a:txBody>
                  <a:tcPr marT="34300" marB="34300" marR="68600" marL="68600" anchor="ctr"/>
                </a:tc>
              </a:tr>
            </a:tbl>
          </a:graphicData>
        </a:graphic>
      </p:graphicFrame>
      <p:pic>
        <p:nvPicPr>
          <p:cNvPr descr="Apache Spark - Wikipedia" id="499" name="Google Shape;499;p37"/>
          <p:cNvPicPr preferRelativeResize="0"/>
          <p:nvPr/>
        </p:nvPicPr>
        <p:blipFill rotWithShape="1">
          <a:blip r:embed="rId3">
            <a:alphaModFix/>
          </a:blip>
          <a:srcRect b="0" l="0" r="0" t="0"/>
          <a:stretch/>
        </p:blipFill>
        <p:spPr>
          <a:xfrm>
            <a:off x="7629132" y="2822724"/>
            <a:ext cx="1255096" cy="651684"/>
          </a:xfrm>
          <a:prstGeom prst="rect">
            <a:avLst/>
          </a:prstGeom>
          <a:noFill/>
          <a:ln>
            <a:noFill/>
          </a:ln>
        </p:spPr>
      </p:pic>
      <p:pic>
        <p:nvPicPr>
          <p:cNvPr descr="Create &amp; Execute your First Hadoop MapReduce Project in Eclipse | by Ojas  Gupta | DataX Journal | Medium" id="500" name="Google Shape;500;p37"/>
          <p:cNvPicPr preferRelativeResize="0"/>
          <p:nvPr/>
        </p:nvPicPr>
        <p:blipFill rotWithShape="1">
          <a:blip r:embed="rId4">
            <a:alphaModFix/>
          </a:blip>
          <a:srcRect b="0" l="0" r="0" t="0"/>
          <a:stretch/>
        </p:blipFill>
        <p:spPr>
          <a:xfrm>
            <a:off x="7450282" y="3604018"/>
            <a:ext cx="1542229" cy="4879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4" name="Shape 504"/>
        <p:cNvGrpSpPr/>
        <p:nvPr/>
      </p:nvGrpSpPr>
      <p:grpSpPr>
        <a:xfrm>
          <a:off x="0" y="0"/>
          <a:ext cx="0" cy="0"/>
          <a:chOff x="0" y="0"/>
          <a:chExt cx="0" cy="0"/>
        </a:xfrm>
      </p:grpSpPr>
      <p:sp>
        <p:nvSpPr>
          <p:cNvPr id="505" name="Google Shape;505;p3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6" name="Google Shape;506;p38"/>
          <p:cNvSpPr/>
          <p:nvPr/>
        </p:nvSpPr>
        <p:spPr>
          <a:xfrm>
            <a:off x="473202" y="479640"/>
            <a:ext cx="2571750" cy="1289304"/>
          </a:xfrm>
          <a:prstGeom prst="rect">
            <a:avLst/>
          </a:prstGeom>
          <a:noFill/>
          <a:ln>
            <a:noFill/>
          </a:ln>
        </p:spPr>
        <p:txBody>
          <a:bodyPr anchorCtr="0" anchor="b" bIns="34275" lIns="68575" spcFirstLastPara="1" rIns="68575" wrap="square" tIns="34275">
            <a:noAutofit/>
          </a:bodyPr>
          <a:lstStyle/>
          <a:p>
            <a:pPr indent="0" lvl="0" marL="0" marR="0" rtl="0" algn="l">
              <a:lnSpc>
                <a:spcPct val="90000"/>
              </a:lnSpc>
              <a:spcBef>
                <a:spcPts val="0"/>
              </a:spcBef>
              <a:spcAft>
                <a:spcPts val="0"/>
              </a:spcAft>
              <a:buNone/>
            </a:pPr>
            <a:r>
              <a:rPr b="0" lang="en" sz="2900" cap="none">
                <a:solidFill>
                  <a:schemeClr val="dk1"/>
                </a:solidFill>
                <a:latin typeface="Calibri"/>
                <a:ea typeface="Calibri"/>
                <a:cs typeface="Calibri"/>
                <a:sym typeface="Calibri"/>
              </a:rPr>
              <a:t>Basic idea of how dataflow engines work</a:t>
            </a:r>
            <a:endParaRPr sz="1100"/>
          </a:p>
        </p:txBody>
      </p:sp>
      <p:sp>
        <p:nvSpPr>
          <p:cNvPr id="507" name="Google Shape;507;p38"/>
          <p:cNvSpPr/>
          <p:nvPr/>
        </p:nvSpPr>
        <p:spPr>
          <a:xfrm>
            <a:off x="482459" y="1930317"/>
            <a:ext cx="2441321" cy="13716"/>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08" name="Google Shape;508;p38"/>
          <p:cNvSpPr txBox="1"/>
          <p:nvPr/>
        </p:nvSpPr>
        <p:spPr>
          <a:xfrm>
            <a:off x="473201" y="2105406"/>
            <a:ext cx="2664853" cy="2688543"/>
          </a:xfrm>
          <a:prstGeom prst="rect">
            <a:avLst/>
          </a:prstGeom>
          <a:noFill/>
          <a:ln>
            <a:noFill/>
          </a:ln>
        </p:spPr>
        <p:txBody>
          <a:bodyPr anchorCtr="0" anchor="t" bIns="34275" lIns="68575" spcFirstLastPara="1" rIns="68575" wrap="square" tIns="34275">
            <a:normAutofit lnSpcReduction="10000"/>
          </a:bodyPr>
          <a:lstStyle/>
          <a:p>
            <a:pPr indent="-6350" lvl="0" marL="0" marR="0" rtl="0" algn="l">
              <a:lnSpc>
                <a:spcPct val="90000"/>
              </a:lnSpc>
              <a:spcBef>
                <a:spcPts val="0"/>
              </a:spcBef>
              <a:spcAft>
                <a:spcPts val="0"/>
              </a:spcAft>
              <a:buClr>
                <a:schemeClr val="dk1"/>
              </a:buClr>
              <a:buSzPts val="1300"/>
              <a:buFont typeface="Arial"/>
              <a:buChar char="•"/>
            </a:pPr>
            <a:r>
              <a:rPr lang="en" sz="1300">
                <a:solidFill>
                  <a:schemeClr val="dk1"/>
                </a:solidFill>
                <a:latin typeface="Calibri"/>
                <a:ea typeface="Calibri"/>
                <a:cs typeface="Calibri"/>
                <a:sym typeface="Calibri"/>
              </a:rPr>
              <a:t>For example, 100 GB of data needs to be processed with 10 Worker nodes</a:t>
            </a:r>
            <a:endParaRPr sz="1100"/>
          </a:p>
          <a:p>
            <a:pPr indent="-6350" lvl="0" marL="0" marR="0" rtl="0" algn="l">
              <a:lnSpc>
                <a:spcPct val="90000"/>
              </a:lnSpc>
              <a:spcBef>
                <a:spcPts val="500"/>
              </a:spcBef>
              <a:spcAft>
                <a:spcPts val="0"/>
              </a:spcAft>
              <a:buClr>
                <a:schemeClr val="dk1"/>
              </a:buClr>
              <a:buSzPts val="1300"/>
              <a:buFont typeface="Arial"/>
              <a:buChar char="•"/>
            </a:pPr>
            <a:r>
              <a:rPr lang="en" sz="1300">
                <a:solidFill>
                  <a:schemeClr val="dk1"/>
                </a:solidFill>
                <a:latin typeface="Calibri"/>
                <a:ea typeface="Calibri"/>
                <a:cs typeface="Calibri"/>
                <a:sym typeface="Calibri"/>
              </a:rPr>
              <a:t>Master Node: organize and manage the data across the cluster</a:t>
            </a:r>
            <a:endParaRPr sz="1100"/>
          </a:p>
          <a:p>
            <a:pPr indent="-6350" lvl="0" marL="0" marR="0" rtl="0" algn="l">
              <a:lnSpc>
                <a:spcPct val="90000"/>
              </a:lnSpc>
              <a:spcBef>
                <a:spcPts val="500"/>
              </a:spcBef>
              <a:spcAft>
                <a:spcPts val="0"/>
              </a:spcAft>
              <a:buClr>
                <a:schemeClr val="dk1"/>
              </a:buClr>
              <a:buSzPts val="1300"/>
              <a:buFont typeface="Arial"/>
              <a:buChar char="•"/>
            </a:pPr>
            <a:r>
              <a:rPr lang="en" sz="1300">
                <a:solidFill>
                  <a:schemeClr val="dk1"/>
                </a:solidFill>
                <a:latin typeface="Calibri"/>
                <a:ea typeface="Calibri"/>
                <a:cs typeface="Calibri"/>
                <a:sym typeface="Calibri"/>
              </a:rPr>
              <a:t>Worker nodes: perform operations on each chunk of data</a:t>
            </a:r>
            <a:endParaRPr sz="1100"/>
          </a:p>
          <a:p>
            <a:pPr indent="-6350" lvl="0" marL="0" marR="0" rtl="0" algn="l">
              <a:lnSpc>
                <a:spcPct val="90000"/>
              </a:lnSpc>
              <a:spcBef>
                <a:spcPts val="500"/>
              </a:spcBef>
              <a:spcAft>
                <a:spcPts val="0"/>
              </a:spcAft>
              <a:buClr>
                <a:schemeClr val="dk1"/>
              </a:buClr>
              <a:buSzPts val="1300"/>
              <a:buFont typeface="Arial"/>
              <a:buChar char="•"/>
            </a:pPr>
            <a:r>
              <a:rPr lang="en" sz="1300">
                <a:solidFill>
                  <a:schemeClr val="dk1"/>
                </a:solidFill>
                <a:latin typeface="Calibri"/>
                <a:ea typeface="Calibri"/>
                <a:cs typeface="Calibri"/>
                <a:sym typeface="Calibri"/>
              </a:rPr>
              <a:t>Process data edge: some operation like counting words</a:t>
            </a:r>
            <a:endParaRPr sz="1100"/>
          </a:p>
          <a:p>
            <a:pPr indent="-6350" lvl="0" marL="0" marR="0" rtl="0" algn="l">
              <a:lnSpc>
                <a:spcPct val="90000"/>
              </a:lnSpc>
              <a:spcBef>
                <a:spcPts val="500"/>
              </a:spcBef>
              <a:spcAft>
                <a:spcPts val="0"/>
              </a:spcAft>
              <a:buClr>
                <a:schemeClr val="dk1"/>
              </a:buClr>
              <a:buSzPts val="1300"/>
              <a:buFont typeface="Arial"/>
              <a:buChar char="•"/>
            </a:pPr>
            <a:r>
              <a:rPr lang="en" sz="1300">
                <a:solidFill>
                  <a:schemeClr val="dk1"/>
                </a:solidFill>
                <a:latin typeface="Calibri"/>
                <a:ea typeface="Calibri"/>
                <a:cs typeface="Calibri"/>
                <a:sym typeface="Calibri"/>
              </a:rPr>
              <a:t>Aggregated Result: The result aggregation depends on the system, and then the result is sent to a storage, database, application dashboard, etc.</a:t>
            </a:r>
            <a:endParaRPr sz="1100"/>
          </a:p>
        </p:txBody>
      </p:sp>
      <p:pic>
        <p:nvPicPr>
          <p:cNvPr id="509" name="Google Shape;509;p38"/>
          <p:cNvPicPr preferRelativeResize="0"/>
          <p:nvPr/>
        </p:nvPicPr>
        <p:blipFill rotWithShape="1">
          <a:blip r:embed="rId3">
            <a:alphaModFix/>
          </a:blip>
          <a:srcRect b="0" l="0" r="0" t="0"/>
          <a:stretch/>
        </p:blipFill>
        <p:spPr>
          <a:xfrm>
            <a:off x="3729403" y="480060"/>
            <a:ext cx="4700428" cy="41833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513" name="Shape 513"/>
        <p:cNvGrpSpPr/>
        <p:nvPr/>
      </p:nvGrpSpPr>
      <p:grpSpPr>
        <a:xfrm>
          <a:off x="0" y="0"/>
          <a:ext cx="0" cy="0"/>
          <a:chOff x="0" y="0"/>
          <a:chExt cx="0" cy="0"/>
        </a:xfrm>
      </p:grpSpPr>
      <p:sp>
        <p:nvSpPr>
          <p:cNvPr id="514" name="Google Shape;514;p39"/>
          <p:cNvSpPr/>
          <p:nvPr/>
        </p:nvSpPr>
        <p:spPr>
          <a:xfrm>
            <a:off x="1465326" y="0"/>
            <a:ext cx="6213348" cy="51435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15" name="Google Shape;515;p39"/>
          <p:cNvSpPr/>
          <p:nvPr/>
        </p:nvSpPr>
        <p:spPr>
          <a:xfrm>
            <a:off x="1588770" y="0"/>
            <a:ext cx="5966460" cy="51435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16" name="Google Shape;516;p39"/>
          <p:cNvSpPr/>
          <p:nvPr/>
        </p:nvSpPr>
        <p:spPr>
          <a:xfrm>
            <a:off x="1916723" y="1081453"/>
            <a:ext cx="5310600" cy="29805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500"/>
              </a:spcBef>
              <a:spcAft>
                <a:spcPts val="0"/>
              </a:spcAft>
              <a:buNone/>
            </a:pPr>
            <a:r>
              <a:rPr lang="en" sz="4100">
                <a:solidFill>
                  <a:srgbClr val="0C0C0C"/>
                </a:solidFill>
                <a:latin typeface="Calibri"/>
                <a:ea typeface="Calibri"/>
                <a:cs typeface="Calibri"/>
                <a:sym typeface="Calibri"/>
              </a:rPr>
              <a:t>MapReduce and its evolution </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0" name="Shape 520"/>
        <p:cNvGrpSpPr/>
        <p:nvPr/>
      </p:nvGrpSpPr>
      <p:grpSpPr>
        <a:xfrm>
          <a:off x="0" y="0"/>
          <a:ext cx="0" cy="0"/>
          <a:chOff x="0" y="0"/>
          <a:chExt cx="0" cy="0"/>
        </a:xfrm>
      </p:grpSpPr>
      <p:sp>
        <p:nvSpPr>
          <p:cNvPr id="521" name="Google Shape;521;p40"/>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2" name="Google Shape;522;p40"/>
          <p:cNvSpPr/>
          <p:nvPr/>
        </p:nvSpPr>
        <p:spPr>
          <a:xfrm>
            <a:off x="2357088" y="189855"/>
            <a:ext cx="4638300" cy="4638300"/>
          </a:xfrm>
          <a:prstGeom prst="ellipse">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3" name="Google Shape;523;p40"/>
          <p:cNvSpPr/>
          <p:nvPr/>
        </p:nvSpPr>
        <p:spPr>
          <a:xfrm>
            <a:off x="2343636" y="189855"/>
            <a:ext cx="4638300" cy="46383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3"/>
              </a:solidFill>
              <a:latin typeface="Calibri"/>
              <a:ea typeface="Calibri"/>
              <a:cs typeface="Calibri"/>
              <a:sym typeface="Calibri"/>
            </a:endParaRPr>
          </a:p>
        </p:txBody>
      </p:sp>
      <p:sp>
        <p:nvSpPr>
          <p:cNvPr id="524" name="Google Shape;524;p40"/>
          <p:cNvSpPr/>
          <p:nvPr/>
        </p:nvSpPr>
        <p:spPr>
          <a:xfrm>
            <a:off x="2252792" y="102394"/>
            <a:ext cx="4638300" cy="4638300"/>
          </a:xfrm>
          <a:prstGeom prst="ellipse">
            <a:avLst/>
          </a:prstGeom>
          <a:solidFill>
            <a:schemeClr val="dk1"/>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5" name="Google Shape;525;p40"/>
          <p:cNvSpPr/>
          <p:nvPr/>
        </p:nvSpPr>
        <p:spPr>
          <a:xfrm>
            <a:off x="2686050" y="724185"/>
            <a:ext cx="3903300" cy="2370300"/>
          </a:xfrm>
          <a:prstGeom prst="rect">
            <a:avLst/>
          </a:prstGeom>
          <a:noFill/>
          <a:ln>
            <a:noFill/>
          </a:ln>
        </p:spPr>
        <p:txBody>
          <a:bodyPr anchorCtr="0" anchor="b" bIns="34275" lIns="68575" spcFirstLastPara="1" rIns="68575" wrap="square" tIns="34275">
            <a:noAutofit/>
          </a:bodyPr>
          <a:lstStyle/>
          <a:p>
            <a:pPr indent="0" lvl="0" marL="0" marR="0" rtl="0" algn="ctr">
              <a:lnSpc>
                <a:spcPct val="90000"/>
              </a:lnSpc>
              <a:spcBef>
                <a:spcPts val="0"/>
              </a:spcBef>
              <a:spcAft>
                <a:spcPts val="0"/>
              </a:spcAft>
              <a:buNone/>
            </a:pPr>
            <a:r>
              <a:rPr lang="en" sz="4100">
                <a:solidFill>
                  <a:schemeClr val="lt1"/>
                </a:solidFill>
                <a:latin typeface="Calibri"/>
                <a:ea typeface="Calibri"/>
                <a:cs typeface="Calibri"/>
                <a:sym typeface="Calibri"/>
              </a:rPr>
              <a:t>Introduction of MapReduce</a:t>
            </a:r>
            <a:endParaRPr sz="1100"/>
          </a:p>
        </p:txBody>
      </p:sp>
      <p:sp>
        <p:nvSpPr>
          <p:cNvPr id="526" name="Google Shape;526;p40"/>
          <p:cNvSpPr/>
          <p:nvPr/>
        </p:nvSpPr>
        <p:spPr>
          <a:xfrm>
            <a:off x="7692206" y="731983"/>
            <a:ext cx="310752" cy="310752"/>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7" name="Google Shape;527;p40"/>
          <p:cNvSpPr/>
          <p:nvPr/>
        </p:nvSpPr>
        <p:spPr>
          <a:xfrm>
            <a:off x="7692206" y="731983"/>
            <a:ext cx="310752" cy="310752"/>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528" name="Google Shape;528;p40"/>
          <p:cNvGrpSpPr/>
          <p:nvPr/>
        </p:nvGrpSpPr>
        <p:grpSpPr>
          <a:xfrm>
            <a:off x="1560710" y="1316626"/>
            <a:ext cx="1199122" cy="398470"/>
            <a:chOff x="2504802" y="1755501"/>
            <a:chExt cx="1598829" cy="531293"/>
          </a:xfrm>
        </p:grpSpPr>
        <p:sp>
          <p:nvSpPr>
            <p:cNvPr id="529" name="Google Shape;529;p40"/>
            <p:cNvSpPr/>
            <p:nvPr/>
          </p:nvSpPr>
          <p:spPr>
            <a:xfrm>
              <a:off x="2504802" y="2113855"/>
              <a:ext cx="1598614" cy="172939"/>
            </a:xfrm>
            <a:custGeom>
              <a:rect b="b" l="l" r="r" t="t"/>
              <a:pathLst>
                <a:path extrusionOk="0" h="172939" w="1598614">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0" name="Google Shape;530;p40"/>
            <p:cNvSpPr/>
            <p:nvPr/>
          </p:nvSpPr>
          <p:spPr>
            <a:xfrm>
              <a:off x="2504802" y="1755501"/>
              <a:ext cx="1598829" cy="172724"/>
            </a:xfrm>
            <a:custGeom>
              <a:rect b="b" l="l" r="r" t="t"/>
              <a:pathLst>
                <a:path extrusionOk="0" h="172724" w="1598829">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531" name="Google Shape;531;p40"/>
          <p:cNvSpPr/>
          <p:nvPr/>
        </p:nvSpPr>
        <p:spPr>
          <a:xfrm>
            <a:off x="1289865" y="3177080"/>
            <a:ext cx="383100" cy="383100"/>
          </a:xfrm>
          <a:prstGeom prst="ellipse">
            <a:avLst/>
          </a:pr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2" name="Google Shape;532;p40"/>
          <p:cNvSpPr/>
          <p:nvPr/>
        </p:nvSpPr>
        <p:spPr>
          <a:xfrm>
            <a:off x="1289865" y="3177080"/>
            <a:ext cx="383100" cy="383100"/>
          </a:xfrm>
          <a:prstGeom prst="ellipse">
            <a:avLst/>
          </a:pr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533" name="Google Shape;533;p40"/>
          <p:cNvGrpSpPr/>
          <p:nvPr/>
        </p:nvGrpSpPr>
        <p:grpSpPr>
          <a:xfrm>
            <a:off x="6447862" y="3131974"/>
            <a:ext cx="1396081" cy="1396278"/>
            <a:chOff x="5734053" y="3067000"/>
            <a:chExt cx="724484" cy="724549"/>
          </a:xfrm>
        </p:grpSpPr>
        <p:sp>
          <p:nvSpPr>
            <p:cNvPr id="534" name="Google Shape;534;p40"/>
            <p:cNvSpPr/>
            <p:nvPr/>
          </p:nvSpPr>
          <p:spPr>
            <a:xfrm>
              <a:off x="5734055" y="3067000"/>
              <a:ext cx="14192" cy="14097"/>
            </a:xfrm>
            <a:custGeom>
              <a:rect b="b" l="l" r="r" t="t"/>
              <a:pathLst>
                <a:path extrusionOk="0" h="14097" w="14192">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5" name="Google Shape;535;p40"/>
            <p:cNvSpPr/>
            <p:nvPr/>
          </p:nvSpPr>
          <p:spPr>
            <a:xfrm>
              <a:off x="5793300" y="306700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6" name="Google Shape;536;p40"/>
            <p:cNvSpPr/>
            <p:nvPr/>
          </p:nvSpPr>
          <p:spPr>
            <a:xfrm>
              <a:off x="5852450"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7" name="Google Shape;537;p40"/>
            <p:cNvSpPr/>
            <p:nvPr/>
          </p:nvSpPr>
          <p:spPr>
            <a:xfrm>
              <a:off x="5911695"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8" name="Google Shape;538;p40"/>
            <p:cNvSpPr/>
            <p:nvPr/>
          </p:nvSpPr>
          <p:spPr>
            <a:xfrm>
              <a:off x="5970846"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9" name="Google Shape;539;p40"/>
            <p:cNvSpPr/>
            <p:nvPr/>
          </p:nvSpPr>
          <p:spPr>
            <a:xfrm>
              <a:off x="6030092" y="306700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0" name="Google Shape;540;p40"/>
            <p:cNvSpPr/>
            <p:nvPr/>
          </p:nvSpPr>
          <p:spPr>
            <a:xfrm>
              <a:off x="6089242"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1" name="Google Shape;541;p40"/>
            <p:cNvSpPr/>
            <p:nvPr/>
          </p:nvSpPr>
          <p:spPr>
            <a:xfrm>
              <a:off x="5734055" y="3126244"/>
              <a:ext cx="14192" cy="14097"/>
            </a:xfrm>
            <a:custGeom>
              <a:rect b="b" l="l" r="r" t="t"/>
              <a:pathLst>
                <a:path extrusionOk="0" h="14097" w="14192">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2" name="Google Shape;542;p40"/>
            <p:cNvSpPr/>
            <p:nvPr/>
          </p:nvSpPr>
          <p:spPr>
            <a:xfrm>
              <a:off x="5793300" y="3126242"/>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3" name="Google Shape;543;p40"/>
            <p:cNvSpPr/>
            <p:nvPr/>
          </p:nvSpPr>
          <p:spPr>
            <a:xfrm>
              <a:off x="5852450"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4" name="Google Shape;544;p40"/>
            <p:cNvSpPr/>
            <p:nvPr/>
          </p:nvSpPr>
          <p:spPr>
            <a:xfrm>
              <a:off x="5911695"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5" name="Google Shape;545;p40"/>
            <p:cNvSpPr/>
            <p:nvPr/>
          </p:nvSpPr>
          <p:spPr>
            <a:xfrm>
              <a:off x="5970846"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6" name="Google Shape;546;p40"/>
            <p:cNvSpPr/>
            <p:nvPr/>
          </p:nvSpPr>
          <p:spPr>
            <a:xfrm>
              <a:off x="6030091" y="3126244"/>
              <a:ext cx="14097" cy="14097"/>
            </a:xfrm>
            <a:custGeom>
              <a:rect b="b" l="l" r="r" t="t"/>
              <a:pathLst>
                <a:path extrusionOk="0" h="14097" w="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7" name="Google Shape;547;p40"/>
            <p:cNvSpPr/>
            <p:nvPr/>
          </p:nvSpPr>
          <p:spPr>
            <a:xfrm>
              <a:off x="6089242" y="3126242"/>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8" name="Google Shape;548;p40"/>
            <p:cNvSpPr/>
            <p:nvPr/>
          </p:nvSpPr>
          <p:spPr>
            <a:xfrm>
              <a:off x="5734055" y="3185393"/>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9" name="Google Shape;549;p40"/>
            <p:cNvSpPr/>
            <p:nvPr/>
          </p:nvSpPr>
          <p:spPr>
            <a:xfrm>
              <a:off x="5793300" y="3185393"/>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0" name="Google Shape;550;p40"/>
            <p:cNvSpPr/>
            <p:nvPr/>
          </p:nvSpPr>
          <p:spPr>
            <a:xfrm>
              <a:off x="5852450"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1" name="Google Shape;551;p40"/>
            <p:cNvSpPr/>
            <p:nvPr/>
          </p:nvSpPr>
          <p:spPr>
            <a:xfrm>
              <a:off x="5911695"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2" name="Google Shape;552;p40"/>
            <p:cNvSpPr/>
            <p:nvPr/>
          </p:nvSpPr>
          <p:spPr>
            <a:xfrm>
              <a:off x="5970846"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3" name="Google Shape;553;p40"/>
            <p:cNvSpPr/>
            <p:nvPr/>
          </p:nvSpPr>
          <p:spPr>
            <a:xfrm>
              <a:off x="6030092" y="3185393"/>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4" name="Google Shape;554;p40"/>
            <p:cNvSpPr/>
            <p:nvPr/>
          </p:nvSpPr>
          <p:spPr>
            <a:xfrm>
              <a:off x="6089242" y="318539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5" name="Google Shape;555;p40"/>
            <p:cNvSpPr/>
            <p:nvPr/>
          </p:nvSpPr>
          <p:spPr>
            <a:xfrm>
              <a:off x="5734055" y="3244637"/>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6" name="Google Shape;556;p40"/>
            <p:cNvSpPr/>
            <p:nvPr/>
          </p:nvSpPr>
          <p:spPr>
            <a:xfrm>
              <a:off x="5793300" y="3244635"/>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7" name="Google Shape;557;p40"/>
            <p:cNvSpPr/>
            <p:nvPr/>
          </p:nvSpPr>
          <p:spPr>
            <a:xfrm>
              <a:off x="5852450"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8" name="Google Shape;558;p40"/>
            <p:cNvSpPr/>
            <p:nvPr/>
          </p:nvSpPr>
          <p:spPr>
            <a:xfrm>
              <a:off x="5911695"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59" name="Google Shape;559;p40"/>
            <p:cNvSpPr/>
            <p:nvPr/>
          </p:nvSpPr>
          <p:spPr>
            <a:xfrm>
              <a:off x="5970846"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0" name="Google Shape;560;p40"/>
            <p:cNvSpPr/>
            <p:nvPr/>
          </p:nvSpPr>
          <p:spPr>
            <a:xfrm>
              <a:off x="6030091" y="3244637"/>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1" name="Google Shape;561;p40"/>
            <p:cNvSpPr/>
            <p:nvPr/>
          </p:nvSpPr>
          <p:spPr>
            <a:xfrm>
              <a:off x="6089242" y="324463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2" name="Google Shape;562;p40"/>
            <p:cNvSpPr/>
            <p:nvPr/>
          </p:nvSpPr>
          <p:spPr>
            <a:xfrm>
              <a:off x="5734055" y="3303786"/>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3" name="Google Shape;563;p40"/>
            <p:cNvSpPr/>
            <p:nvPr/>
          </p:nvSpPr>
          <p:spPr>
            <a:xfrm>
              <a:off x="5793300" y="3303786"/>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4" name="Google Shape;564;p40"/>
            <p:cNvSpPr/>
            <p:nvPr/>
          </p:nvSpPr>
          <p:spPr>
            <a:xfrm>
              <a:off x="5852450"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5" name="Google Shape;565;p40"/>
            <p:cNvSpPr/>
            <p:nvPr/>
          </p:nvSpPr>
          <p:spPr>
            <a:xfrm>
              <a:off x="5911695"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6" name="Google Shape;566;p40"/>
            <p:cNvSpPr/>
            <p:nvPr/>
          </p:nvSpPr>
          <p:spPr>
            <a:xfrm>
              <a:off x="5970846"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7" name="Google Shape;567;p40"/>
            <p:cNvSpPr/>
            <p:nvPr/>
          </p:nvSpPr>
          <p:spPr>
            <a:xfrm>
              <a:off x="6030091" y="3303786"/>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8" name="Google Shape;568;p40"/>
            <p:cNvSpPr/>
            <p:nvPr/>
          </p:nvSpPr>
          <p:spPr>
            <a:xfrm>
              <a:off x="6089242"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9" name="Google Shape;569;p40"/>
            <p:cNvSpPr/>
            <p:nvPr/>
          </p:nvSpPr>
          <p:spPr>
            <a:xfrm>
              <a:off x="5734055" y="3363031"/>
              <a:ext cx="14192" cy="14097"/>
            </a:xfrm>
            <a:custGeom>
              <a:rect b="b" l="l" r="r" t="t"/>
              <a:pathLst>
                <a:path extrusionOk="0" h="14097"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0" name="Google Shape;570;p40"/>
            <p:cNvSpPr/>
            <p:nvPr/>
          </p:nvSpPr>
          <p:spPr>
            <a:xfrm>
              <a:off x="5793300" y="3363029"/>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1" name="Google Shape;571;p40"/>
            <p:cNvSpPr/>
            <p:nvPr/>
          </p:nvSpPr>
          <p:spPr>
            <a:xfrm>
              <a:off x="5852450"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2" name="Google Shape;572;p40"/>
            <p:cNvSpPr/>
            <p:nvPr/>
          </p:nvSpPr>
          <p:spPr>
            <a:xfrm>
              <a:off x="5911695"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3" name="Google Shape;573;p40"/>
            <p:cNvSpPr/>
            <p:nvPr/>
          </p:nvSpPr>
          <p:spPr>
            <a:xfrm>
              <a:off x="5970846"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4" name="Google Shape;574;p40"/>
            <p:cNvSpPr/>
            <p:nvPr/>
          </p:nvSpPr>
          <p:spPr>
            <a:xfrm>
              <a:off x="6030091" y="3363031"/>
              <a:ext cx="14097" cy="14097"/>
            </a:xfrm>
            <a:custGeom>
              <a:rect b="b" l="l" r="r" t="t"/>
              <a:pathLst>
                <a:path extrusionOk="0" h="14097"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5" name="Google Shape;575;p40"/>
            <p:cNvSpPr/>
            <p:nvPr/>
          </p:nvSpPr>
          <p:spPr>
            <a:xfrm>
              <a:off x="6089242" y="3363029"/>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6" name="Google Shape;576;p40"/>
            <p:cNvSpPr/>
            <p:nvPr/>
          </p:nvSpPr>
          <p:spPr>
            <a:xfrm>
              <a:off x="5734055" y="3422181"/>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7" name="Google Shape;577;p40"/>
            <p:cNvSpPr/>
            <p:nvPr/>
          </p:nvSpPr>
          <p:spPr>
            <a:xfrm>
              <a:off x="5793300" y="3422181"/>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8" name="Google Shape;578;p40"/>
            <p:cNvSpPr/>
            <p:nvPr/>
          </p:nvSpPr>
          <p:spPr>
            <a:xfrm>
              <a:off x="5852450"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9" name="Google Shape;579;p40"/>
            <p:cNvSpPr/>
            <p:nvPr/>
          </p:nvSpPr>
          <p:spPr>
            <a:xfrm>
              <a:off x="5911695"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0" name="Google Shape;580;p40"/>
            <p:cNvSpPr/>
            <p:nvPr/>
          </p:nvSpPr>
          <p:spPr>
            <a:xfrm>
              <a:off x="5970846"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1" name="Google Shape;581;p40"/>
            <p:cNvSpPr/>
            <p:nvPr/>
          </p:nvSpPr>
          <p:spPr>
            <a:xfrm>
              <a:off x="6030091" y="3422181"/>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2" name="Google Shape;582;p40"/>
            <p:cNvSpPr/>
            <p:nvPr/>
          </p:nvSpPr>
          <p:spPr>
            <a:xfrm>
              <a:off x="6089242"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3" name="Google Shape;583;p40"/>
            <p:cNvSpPr/>
            <p:nvPr/>
          </p:nvSpPr>
          <p:spPr>
            <a:xfrm>
              <a:off x="6148487" y="3067000"/>
              <a:ext cx="14097" cy="14097"/>
            </a:xfrm>
            <a:custGeom>
              <a:rect b="b" l="l" r="r" t="t"/>
              <a:pathLst>
                <a:path extrusionOk="0" h="14097" w="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4" name="Google Shape;584;p40"/>
            <p:cNvSpPr/>
            <p:nvPr/>
          </p:nvSpPr>
          <p:spPr>
            <a:xfrm>
              <a:off x="6207638"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5" name="Google Shape;585;p40"/>
            <p:cNvSpPr/>
            <p:nvPr/>
          </p:nvSpPr>
          <p:spPr>
            <a:xfrm>
              <a:off x="6266883" y="3067000"/>
              <a:ext cx="14096" cy="14097"/>
            </a:xfrm>
            <a:custGeom>
              <a:rect b="b" l="l" r="r" t="t"/>
              <a:pathLst>
                <a:path extrusionOk="0" h="14097" w="14096">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6" name="Google Shape;586;p40"/>
            <p:cNvSpPr/>
            <p:nvPr/>
          </p:nvSpPr>
          <p:spPr>
            <a:xfrm>
              <a:off x="6326033"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7" name="Google Shape;587;p40"/>
            <p:cNvSpPr/>
            <p:nvPr/>
          </p:nvSpPr>
          <p:spPr>
            <a:xfrm>
              <a:off x="6385279" y="3067000"/>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8" name="Google Shape;588;p40"/>
            <p:cNvSpPr/>
            <p:nvPr/>
          </p:nvSpPr>
          <p:spPr>
            <a:xfrm>
              <a:off x="6444429" y="3067000"/>
              <a:ext cx="14096" cy="14097"/>
            </a:xfrm>
            <a:custGeom>
              <a:rect b="b" l="l" r="r" t="t"/>
              <a:pathLst>
                <a:path extrusionOk="0" h="14097" w="14096">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9" name="Google Shape;589;p40"/>
            <p:cNvSpPr/>
            <p:nvPr/>
          </p:nvSpPr>
          <p:spPr>
            <a:xfrm>
              <a:off x="6148487" y="3126241"/>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0" name="Google Shape;590;p40"/>
            <p:cNvSpPr/>
            <p:nvPr/>
          </p:nvSpPr>
          <p:spPr>
            <a:xfrm>
              <a:off x="6207638" y="3126241"/>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1" name="Google Shape;591;p40"/>
            <p:cNvSpPr/>
            <p:nvPr/>
          </p:nvSpPr>
          <p:spPr>
            <a:xfrm>
              <a:off x="6266883" y="3126241"/>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2" name="Google Shape;592;p40"/>
            <p:cNvSpPr/>
            <p:nvPr/>
          </p:nvSpPr>
          <p:spPr>
            <a:xfrm>
              <a:off x="6326033" y="3126241"/>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3" name="Google Shape;593;p40"/>
            <p:cNvSpPr/>
            <p:nvPr/>
          </p:nvSpPr>
          <p:spPr>
            <a:xfrm>
              <a:off x="6385279" y="312624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4" name="Google Shape;594;p40"/>
            <p:cNvSpPr/>
            <p:nvPr/>
          </p:nvSpPr>
          <p:spPr>
            <a:xfrm>
              <a:off x="6444429" y="3126242"/>
              <a:ext cx="14096" cy="14097"/>
            </a:xfrm>
            <a:custGeom>
              <a:rect b="b" l="l" r="r" t="t"/>
              <a:pathLst>
                <a:path extrusionOk="0" h="14097"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5" name="Google Shape;595;p40"/>
            <p:cNvSpPr/>
            <p:nvPr/>
          </p:nvSpPr>
          <p:spPr>
            <a:xfrm>
              <a:off x="6148487" y="3185391"/>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6" name="Google Shape;596;p40"/>
            <p:cNvSpPr/>
            <p:nvPr/>
          </p:nvSpPr>
          <p:spPr>
            <a:xfrm>
              <a:off x="6207638" y="318539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7" name="Google Shape;597;p40"/>
            <p:cNvSpPr/>
            <p:nvPr/>
          </p:nvSpPr>
          <p:spPr>
            <a:xfrm>
              <a:off x="6266883" y="3185391"/>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8" name="Google Shape;598;p40"/>
            <p:cNvSpPr/>
            <p:nvPr/>
          </p:nvSpPr>
          <p:spPr>
            <a:xfrm>
              <a:off x="6326033" y="318539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99" name="Google Shape;599;p40"/>
            <p:cNvSpPr/>
            <p:nvPr/>
          </p:nvSpPr>
          <p:spPr>
            <a:xfrm>
              <a:off x="6385279" y="318539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0" name="Google Shape;600;p40"/>
            <p:cNvSpPr/>
            <p:nvPr/>
          </p:nvSpPr>
          <p:spPr>
            <a:xfrm>
              <a:off x="6444429" y="3185391"/>
              <a:ext cx="14096" cy="14097"/>
            </a:xfrm>
            <a:custGeom>
              <a:rect b="b" l="l" r="r" t="t"/>
              <a:pathLst>
                <a:path extrusionOk="0" h="14097" w="14096">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1" name="Google Shape;601;p40"/>
            <p:cNvSpPr/>
            <p:nvPr/>
          </p:nvSpPr>
          <p:spPr>
            <a:xfrm>
              <a:off x="6148487" y="3244634"/>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2" name="Google Shape;602;p40"/>
            <p:cNvSpPr/>
            <p:nvPr/>
          </p:nvSpPr>
          <p:spPr>
            <a:xfrm>
              <a:off x="6207638" y="324463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3" name="Google Shape;603;p40"/>
            <p:cNvSpPr/>
            <p:nvPr/>
          </p:nvSpPr>
          <p:spPr>
            <a:xfrm>
              <a:off x="6266883" y="3244634"/>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4" name="Google Shape;604;p40"/>
            <p:cNvSpPr/>
            <p:nvPr/>
          </p:nvSpPr>
          <p:spPr>
            <a:xfrm>
              <a:off x="6326033" y="324463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5" name="Google Shape;605;p40"/>
            <p:cNvSpPr/>
            <p:nvPr/>
          </p:nvSpPr>
          <p:spPr>
            <a:xfrm>
              <a:off x="6385279" y="324463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6" name="Google Shape;606;p40"/>
            <p:cNvSpPr/>
            <p:nvPr/>
          </p:nvSpPr>
          <p:spPr>
            <a:xfrm>
              <a:off x="6444429" y="324463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7" name="Google Shape;607;p40"/>
            <p:cNvSpPr/>
            <p:nvPr/>
          </p:nvSpPr>
          <p:spPr>
            <a:xfrm>
              <a:off x="6148487" y="3303786"/>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8" name="Google Shape;608;p40"/>
            <p:cNvSpPr/>
            <p:nvPr/>
          </p:nvSpPr>
          <p:spPr>
            <a:xfrm>
              <a:off x="6207638"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09" name="Google Shape;609;p40"/>
            <p:cNvSpPr/>
            <p:nvPr/>
          </p:nvSpPr>
          <p:spPr>
            <a:xfrm>
              <a:off x="6266883" y="3303786"/>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0" name="Google Shape;610;p40"/>
            <p:cNvSpPr/>
            <p:nvPr/>
          </p:nvSpPr>
          <p:spPr>
            <a:xfrm>
              <a:off x="6326033"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1" name="Google Shape;611;p40"/>
            <p:cNvSpPr/>
            <p:nvPr/>
          </p:nvSpPr>
          <p:spPr>
            <a:xfrm>
              <a:off x="6385279" y="33037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2" name="Google Shape;612;p40"/>
            <p:cNvSpPr/>
            <p:nvPr/>
          </p:nvSpPr>
          <p:spPr>
            <a:xfrm>
              <a:off x="6444429" y="330378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3" name="Google Shape;613;p40"/>
            <p:cNvSpPr/>
            <p:nvPr/>
          </p:nvSpPr>
          <p:spPr>
            <a:xfrm>
              <a:off x="6148487" y="3363028"/>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4" name="Google Shape;614;p40"/>
            <p:cNvSpPr/>
            <p:nvPr/>
          </p:nvSpPr>
          <p:spPr>
            <a:xfrm>
              <a:off x="6207638" y="3363028"/>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5" name="Google Shape;615;p40"/>
            <p:cNvSpPr/>
            <p:nvPr/>
          </p:nvSpPr>
          <p:spPr>
            <a:xfrm>
              <a:off x="6266883" y="3363028"/>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6" name="Google Shape;616;p40"/>
            <p:cNvSpPr/>
            <p:nvPr/>
          </p:nvSpPr>
          <p:spPr>
            <a:xfrm>
              <a:off x="6326033" y="3363028"/>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7" name="Google Shape;617;p40"/>
            <p:cNvSpPr/>
            <p:nvPr/>
          </p:nvSpPr>
          <p:spPr>
            <a:xfrm>
              <a:off x="6385279" y="3363027"/>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8" name="Google Shape;618;p40"/>
            <p:cNvSpPr/>
            <p:nvPr/>
          </p:nvSpPr>
          <p:spPr>
            <a:xfrm>
              <a:off x="6444429" y="3363029"/>
              <a:ext cx="14096" cy="14097"/>
            </a:xfrm>
            <a:custGeom>
              <a:rect b="b" l="l" r="r" t="t"/>
              <a:pathLst>
                <a:path extrusionOk="0" h="14097"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19" name="Google Shape;619;p40"/>
            <p:cNvSpPr/>
            <p:nvPr/>
          </p:nvSpPr>
          <p:spPr>
            <a:xfrm>
              <a:off x="6148487" y="3422179"/>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0" name="Google Shape;620;p40"/>
            <p:cNvSpPr/>
            <p:nvPr/>
          </p:nvSpPr>
          <p:spPr>
            <a:xfrm>
              <a:off x="6207638" y="3422179"/>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1" name="Google Shape;621;p40"/>
            <p:cNvSpPr/>
            <p:nvPr/>
          </p:nvSpPr>
          <p:spPr>
            <a:xfrm>
              <a:off x="6266883" y="3422179"/>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2" name="Google Shape;622;p40"/>
            <p:cNvSpPr/>
            <p:nvPr/>
          </p:nvSpPr>
          <p:spPr>
            <a:xfrm>
              <a:off x="6326033" y="342217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3" name="Google Shape;623;p40"/>
            <p:cNvSpPr/>
            <p:nvPr/>
          </p:nvSpPr>
          <p:spPr>
            <a:xfrm>
              <a:off x="6385279" y="3422180"/>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4" name="Google Shape;624;p40"/>
            <p:cNvSpPr/>
            <p:nvPr/>
          </p:nvSpPr>
          <p:spPr>
            <a:xfrm>
              <a:off x="6444429" y="34221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5" name="Google Shape;625;p40"/>
            <p:cNvSpPr/>
            <p:nvPr/>
          </p:nvSpPr>
          <p:spPr>
            <a:xfrm>
              <a:off x="5734055" y="3481330"/>
              <a:ext cx="14192" cy="14096"/>
            </a:xfrm>
            <a:custGeom>
              <a:rect b="b" l="l" r="r" t="t"/>
              <a:pathLst>
                <a:path extrusionOk="0" h="14096" w="14192">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6" name="Google Shape;626;p40"/>
            <p:cNvSpPr/>
            <p:nvPr/>
          </p:nvSpPr>
          <p:spPr>
            <a:xfrm>
              <a:off x="5793300" y="348133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7" name="Google Shape;627;p40"/>
            <p:cNvSpPr/>
            <p:nvPr/>
          </p:nvSpPr>
          <p:spPr>
            <a:xfrm>
              <a:off x="5852450"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8" name="Google Shape;628;p40"/>
            <p:cNvSpPr/>
            <p:nvPr/>
          </p:nvSpPr>
          <p:spPr>
            <a:xfrm>
              <a:off x="5911695"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29" name="Google Shape;629;p40"/>
            <p:cNvSpPr/>
            <p:nvPr/>
          </p:nvSpPr>
          <p:spPr>
            <a:xfrm>
              <a:off x="5970846"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0" name="Google Shape;630;p40"/>
            <p:cNvSpPr/>
            <p:nvPr/>
          </p:nvSpPr>
          <p:spPr>
            <a:xfrm>
              <a:off x="6030092" y="3481330"/>
              <a:ext cx="14097" cy="14097"/>
            </a:xfrm>
            <a:custGeom>
              <a:rect b="b" l="l" r="r" t="t"/>
              <a:pathLst>
                <a:path extrusionOk="0" h="14097" w="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1" name="Google Shape;631;p40"/>
            <p:cNvSpPr/>
            <p:nvPr/>
          </p:nvSpPr>
          <p:spPr>
            <a:xfrm>
              <a:off x="6089242"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2" name="Google Shape;632;p40"/>
            <p:cNvSpPr/>
            <p:nvPr/>
          </p:nvSpPr>
          <p:spPr>
            <a:xfrm>
              <a:off x="5734055" y="3540575"/>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3" name="Google Shape;633;p40"/>
            <p:cNvSpPr/>
            <p:nvPr/>
          </p:nvSpPr>
          <p:spPr>
            <a:xfrm>
              <a:off x="5793300" y="3540575"/>
              <a:ext cx="14097" cy="14097"/>
            </a:xfrm>
            <a:custGeom>
              <a:rect b="b" l="l" r="r" t="t"/>
              <a:pathLst>
                <a:path extrusionOk="0" h="14097"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4" name="Google Shape;634;p40"/>
            <p:cNvSpPr/>
            <p:nvPr/>
          </p:nvSpPr>
          <p:spPr>
            <a:xfrm>
              <a:off x="5852450"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5" name="Google Shape;635;p40"/>
            <p:cNvSpPr/>
            <p:nvPr/>
          </p:nvSpPr>
          <p:spPr>
            <a:xfrm>
              <a:off x="5911695"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6" name="Google Shape;636;p40"/>
            <p:cNvSpPr/>
            <p:nvPr/>
          </p:nvSpPr>
          <p:spPr>
            <a:xfrm>
              <a:off x="5970846"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7" name="Google Shape;637;p40"/>
            <p:cNvSpPr/>
            <p:nvPr/>
          </p:nvSpPr>
          <p:spPr>
            <a:xfrm>
              <a:off x="6030092" y="3540575"/>
              <a:ext cx="14097" cy="14097"/>
            </a:xfrm>
            <a:custGeom>
              <a:rect b="b" l="l" r="r" t="t"/>
              <a:pathLst>
                <a:path extrusionOk="0" h="14097"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8" name="Google Shape;638;p40"/>
            <p:cNvSpPr/>
            <p:nvPr/>
          </p:nvSpPr>
          <p:spPr>
            <a:xfrm>
              <a:off x="6089242" y="354057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39" name="Google Shape;639;p40"/>
            <p:cNvSpPr/>
            <p:nvPr/>
          </p:nvSpPr>
          <p:spPr>
            <a:xfrm>
              <a:off x="5734055" y="3599725"/>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0" name="Google Shape;640;p40"/>
            <p:cNvSpPr/>
            <p:nvPr/>
          </p:nvSpPr>
          <p:spPr>
            <a:xfrm>
              <a:off x="5793300" y="3599725"/>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1" name="Google Shape;641;p40"/>
            <p:cNvSpPr/>
            <p:nvPr/>
          </p:nvSpPr>
          <p:spPr>
            <a:xfrm>
              <a:off x="5852450"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2" name="Google Shape;642;p40"/>
            <p:cNvSpPr/>
            <p:nvPr/>
          </p:nvSpPr>
          <p:spPr>
            <a:xfrm>
              <a:off x="5911695"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3" name="Google Shape;643;p40"/>
            <p:cNvSpPr/>
            <p:nvPr/>
          </p:nvSpPr>
          <p:spPr>
            <a:xfrm>
              <a:off x="5970846"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4" name="Google Shape;644;p40"/>
            <p:cNvSpPr/>
            <p:nvPr/>
          </p:nvSpPr>
          <p:spPr>
            <a:xfrm>
              <a:off x="6030091" y="3599725"/>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5" name="Google Shape;645;p40"/>
            <p:cNvSpPr/>
            <p:nvPr/>
          </p:nvSpPr>
          <p:spPr>
            <a:xfrm>
              <a:off x="6089242" y="359972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6" name="Google Shape;646;p40"/>
            <p:cNvSpPr/>
            <p:nvPr/>
          </p:nvSpPr>
          <p:spPr>
            <a:xfrm>
              <a:off x="5734053" y="3658968"/>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7" name="Google Shape;647;p40"/>
            <p:cNvSpPr/>
            <p:nvPr/>
          </p:nvSpPr>
          <p:spPr>
            <a:xfrm>
              <a:off x="5793299" y="3658968"/>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8" name="Google Shape;648;p40"/>
            <p:cNvSpPr/>
            <p:nvPr/>
          </p:nvSpPr>
          <p:spPr>
            <a:xfrm>
              <a:off x="5852449"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49" name="Google Shape;649;p40"/>
            <p:cNvSpPr/>
            <p:nvPr/>
          </p:nvSpPr>
          <p:spPr>
            <a:xfrm>
              <a:off x="5911695"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0" name="Google Shape;650;p40"/>
            <p:cNvSpPr/>
            <p:nvPr/>
          </p:nvSpPr>
          <p:spPr>
            <a:xfrm>
              <a:off x="5970845"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1" name="Google Shape;651;p40"/>
            <p:cNvSpPr/>
            <p:nvPr/>
          </p:nvSpPr>
          <p:spPr>
            <a:xfrm>
              <a:off x="6030090" y="3658968"/>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2" name="Google Shape;652;p40"/>
            <p:cNvSpPr/>
            <p:nvPr/>
          </p:nvSpPr>
          <p:spPr>
            <a:xfrm>
              <a:off x="6089242" y="365896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3" name="Google Shape;653;p40"/>
            <p:cNvSpPr/>
            <p:nvPr/>
          </p:nvSpPr>
          <p:spPr>
            <a:xfrm>
              <a:off x="5734055" y="3718118"/>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4" name="Google Shape;654;p40"/>
            <p:cNvSpPr/>
            <p:nvPr/>
          </p:nvSpPr>
          <p:spPr>
            <a:xfrm>
              <a:off x="5793300" y="3718118"/>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5" name="Google Shape;655;p40"/>
            <p:cNvSpPr/>
            <p:nvPr/>
          </p:nvSpPr>
          <p:spPr>
            <a:xfrm>
              <a:off x="5852450"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6" name="Google Shape;656;p40"/>
            <p:cNvSpPr/>
            <p:nvPr/>
          </p:nvSpPr>
          <p:spPr>
            <a:xfrm>
              <a:off x="5911696"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7" name="Google Shape;657;p40"/>
            <p:cNvSpPr/>
            <p:nvPr/>
          </p:nvSpPr>
          <p:spPr>
            <a:xfrm>
              <a:off x="5970846"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8" name="Google Shape;658;p40"/>
            <p:cNvSpPr/>
            <p:nvPr/>
          </p:nvSpPr>
          <p:spPr>
            <a:xfrm>
              <a:off x="6030091" y="3718118"/>
              <a:ext cx="14097" cy="14096"/>
            </a:xfrm>
            <a:custGeom>
              <a:rect b="b" l="l" r="r" t="t"/>
              <a:pathLst>
                <a:path extrusionOk="0" h="14096" w="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59" name="Google Shape;659;p40"/>
            <p:cNvSpPr/>
            <p:nvPr/>
          </p:nvSpPr>
          <p:spPr>
            <a:xfrm>
              <a:off x="6089242" y="371811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0" name="Google Shape;660;p40"/>
            <p:cNvSpPr/>
            <p:nvPr/>
          </p:nvSpPr>
          <p:spPr>
            <a:xfrm>
              <a:off x="5734057" y="3777362"/>
              <a:ext cx="14192" cy="14096"/>
            </a:xfrm>
            <a:custGeom>
              <a:rect b="b" l="l" r="r" t="t"/>
              <a:pathLst>
                <a:path extrusionOk="0" h="14096" w="14192">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1" name="Google Shape;661;p40"/>
            <p:cNvSpPr/>
            <p:nvPr/>
          </p:nvSpPr>
          <p:spPr>
            <a:xfrm>
              <a:off x="5793301" y="3777362"/>
              <a:ext cx="14097" cy="14096"/>
            </a:xfrm>
            <a:custGeom>
              <a:rect b="b" l="l" r="r" t="t"/>
              <a:pathLst>
                <a:path extrusionOk="0" h="14096"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2" name="Google Shape;662;p40"/>
            <p:cNvSpPr/>
            <p:nvPr/>
          </p:nvSpPr>
          <p:spPr>
            <a:xfrm>
              <a:off x="5852453"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3" name="Google Shape;663;p40"/>
            <p:cNvSpPr/>
            <p:nvPr/>
          </p:nvSpPr>
          <p:spPr>
            <a:xfrm>
              <a:off x="5911701"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4" name="Google Shape;664;p40"/>
            <p:cNvSpPr/>
            <p:nvPr/>
          </p:nvSpPr>
          <p:spPr>
            <a:xfrm>
              <a:off x="5970854"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5" name="Google Shape;665;p40"/>
            <p:cNvSpPr/>
            <p:nvPr/>
          </p:nvSpPr>
          <p:spPr>
            <a:xfrm>
              <a:off x="6030102" y="3777362"/>
              <a:ext cx="14097" cy="14096"/>
            </a:xfrm>
            <a:custGeom>
              <a:rect b="b" l="l" r="r" t="t"/>
              <a:pathLst>
                <a:path extrusionOk="0" h="14096" w="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6" name="Google Shape;666;p40"/>
            <p:cNvSpPr/>
            <p:nvPr/>
          </p:nvSpPr>
          <p:spPr>
            <a:xfrm>
              <a:off x="6089250" y="377736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7" name="Google Shape;667;p40"/>
            <p:cNvSpPr/>
            <p:nvPr/>
          </p:nvSpPr>
          <p:spPr>
            <a:xfrm>
              <a:off x="6148495" y="3481330"/>
              <a:ext cx="14097" cy="14096"/>
            </a:xfrm>
            <a:custGeom>
              <a:rect b="b" l="l" r="r" t="t"/>
              <a:pathLst>
                <a:path extrusionOk="0" h="14096" w="14097">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8" name="Google Shape;668;p40"/>
            <p:cNvSpPr/>
            <p:nvPr/>
          </p:nvSpPr>
          <p:spPr>
            <a:xfrm>
              <a:off x="6207646"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69" name="Google Shape;669;p40"/>
            <p:cNvSpPr/>
            <p:nvPr/>
          </p:nvSpPr>
          <p:spPr>
            <a:xfrm>
              <a:off x="6266891" y="3481330"/>
              <a:ext cx="14096" cy="14096"/>
            </a:xfrm>
            <a:custGeom>
              <a:rect b="b" l="l" r="r" t="t"/>
              <a:pathLst>
                <a:path extrusionOk="0" h="14096" w="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0" name="Google Shape;670;p40"/>
            <p:cNvSpPr/>
            <p:nvPr/>
          </p:nvSpPr>
          <p:spPr>
            <a:xfrm>
              <a:off x="6326042"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1" name="Google Shape;671;p40"/>
            <p:cNvSpPr/>
            <p:nvPr/>
          </p:nvSpPr>
          <p:spPr>
            <a:xfrm>
              <a:off x="6385288" y="3481330"/>
              <a:ext cx="14096" cy="14096"/>
            </a:xfrm>
            <a:custGeom>
              <a:rect b="b" l="l" r="r" t="t"/>
              <a:pathLst>
                <a:path extrusionOk="0" h="14096" w="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2" name="Google Shape;672;p40"/>
            <p:cNvSpPr/>
            <p:nvPr/>
          </p:nvSpPr>
          <p:spPr>
            <a:xfrm>
              <a:off x="6444437" y="3481329"/>
              <a:ext cx="14096" cy="14097"/>
            </a:xfrm>
            <a:custGeom>
              <a:rect b="b" l="l" r="r" t="t"/>
              <a:pathLst>
                <a:path extrusionOk="0" h="14097" w="14096">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3" name="Google Shape;673;p40"/>
            <p:cNvSpPr/>
            <p:nvPr/>
          </p:nvSpPr>
          <p:spPr>
            <a:xfrm>
              <a:off x="6148495" y="3540578"/>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4" name="Google Shape;674;p40"/>
            <p:cNvSpPr/>
            <p:nvPr/>
          </p:nvSpPr>
          <p:spPr>
            <a:xfrm>
              <a:off x="6207646" y="35405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5" name="Google Shape;675;p40"/>
            <p:cNvSpPr/>
            <p:nvPr/>
          </p:nvSpPr>
          <p:spPr>
            <a:xfrm>
              <a:off x="6266891" y="3540584"/>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6" name="Google Shape;676;p40"/>
            <p:cNvSpPr/>
            <p:nvPr/>
          </p:nvSpPr>
          <p:spPr>
            <a:xfrm>
              <a:off x="6326042" y="3540584"/>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7" name="Google Shape;677;p40"/>
            <p:cNvSpPr/>
            <p:nvPr/>
          </p:nvSpPr>
          <p:spPr>
            <a:xfrm>
              <a:off x="6385288" y="3540586"/>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8" name="Google Shape;678;p40"/>
            <p:cNvSpPr/>
            <p:nvPr/>
          </p:nvSpPr>
          <p:spPr>
            <a:xfrm>
              <a:off x="6444437" y="3540588"/>
              <a:ext cx="14096" cy="14097"/>
            </a:xfrm>
            <a:custGeom>
              <a:rect b="b" l="l" r="r" t="t"/>
              <a:pathLst>
                <a:path extrusionOk="0" h="14097" w="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79" name="Google Shape;679;p40"/>
            <p:cNvSpPr/>
            <p:nvPr/>
          </p:nvSpPr>
          <p:spPr>
            <a:xfrm>
              <a:off x="6148495" y="3599737"/>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0" name="Google Shape;680;p40"/>
            <p:cNvSpPr/>
            <p:nvPr/>
          </p:nvSpPr>
          <p:spPr>
            <a:xfrm>
              <a:off x="6207646" y="3599737"/>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1" name="Google Shape;681;p40"/>
            <p:cNvSpPr/>
            <p:nvPr/>
          </p:nvSpPr>
          <p:spPr>
            <a:xfrm>
              <a:off x="6266891" y="3599737"/>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2" name="Google Shape;682;p40"/>
            <p:cNvSpPr/>
            <p:nvPr/>
          </p:nvSpPr>
          <p:spPr>
            <a:xfrm>
              <a:off x="6326042" y="3599737"/>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3" name="Google Shape;683;p40"/>
            <p:cNvSpPr/>
            <p:nvPr/>
          </p:nvSpPr>
          <p:spPr>
            <a:xfrm>
              <a:off x="6385288" y="3599735"/>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4" name="Google Shape;684;p40"/>
            <p:cNvSpPr/>
            <p:nvPr/>
          </p:nvSpPr>
          <p:spPr>
            <a:xfrm>
              <a:off x="6444437" y="3599737"/>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5" name="Google Shape;685;p40"/>
            <p:cNvSpPr/>
            <p:nvPr/>
          </p:nvSpPr>
          <p:spPr>
            <a:xfrm>
              <a:off x="6148495" y="3658981"/>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6" name="Google Shape;686;p40"/>
            <p:cNvSpPr/>
            <p:nvPr/>
          </p:nvSpPr>
          <p:spPr>
            <a:xfrm>
              <a:off x="6207646" y="36589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7" name="Google Shape;687;p40"/>
            <p:cNvSpPr/>
            <p:nvPr/>
          </p:nvSpPr>
          <p:spPr>
            <a:xfrm>
              <a:off x="6266891" y="3658981"/>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8" name="Google Shape;688;p40"/>
            <p:cNvSpPr/>
            <p:nvPr/>
          </p:nvSpPr>
          <p:spPr>
            <a:xfrm>
              <a:off x="6326042" y="36589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89" name="Google Shape;689;p40"/>
            <p:cNvSpPr/>
            <p:nvPr/>
          </p:nvSpPr>
          <p:spPr>
            <a:xfrm>
              <a:off x="6385288" y="3658981"/>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0" name="Google Shape;690;p40"/>
            <p:cNvSpPr/>
            <p:nvPr/>
          </p:nvSpPr>
          <p:spPr>
            <a:xfrm>
              <a:off x="6444441" y="3658979"/>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1" name="Google Shape;691;p40"/>
            <p:cNvSpPr/>
            <p:nvPr/>
          </p:nvSpPr>
          <p:spPr>
            <a:xfrm>
              <a:off x="6148499" y="3718130"/>
              <a:ext cx="14097" cy="14096"/>
            </a:xfrm>
            <a:custGeom>
              <a:rect b="b" l="l" r="r" t="t"/>
              <a:pathLst>
                <a:path extrusionOk="0" h="14096" w="14097">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2" name="Google Shape;692;p40"/>
            <p:cNvSpPr/>
            <p:nvPr/>
          </p:nvSpPr>
          <p:spPr>
            <a:xfrm>
              <a:off x="6207650" y="3718130"/>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3" name="Google Shape;693;p40"/>
            <p:cNvSpPr/>
            <p:nvPr/>
          </p:nvSpPr>
          <p:spPr>
            <a:xfrm>
              <a:off x="6266895" y="3718130"/>
              <a:ext cx="14096" cy="14096"/>
            </a:xfrm>
            <a:custGeom>
              <a:rect b="b" l="l" r="r" t="t"/>
              <a:pathLst>
                <a:path extrusionOk="0" h="14096" w="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4" name="Google Shape;694;p40"/>
            <p:cNvSpPr/>
            <p:nvPr/>
          </p:nvSpPr>
          <p:spPr>
            <a:xfrm>
              <a:off x="6326045" y="3718130"/>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5" name="Google Shape;695;p40"/>
            <p:cNvSpPr/>
            <p:nvPr/>
          </p:nvSpPr>
          <p:spPr>
            <a:xfrm>
              <a:off x="6385292" y="3718128"/>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6" name="Google Shape;696;p40"/>
            <p:cNvSpPr/>
            <p:nvPr/>
          </p:nvSpPr>
          <p:spPr>
            <a:xfrm>
              <a:off x="6444440" y="3718133"/>
              <a:ext cx="14096" cy="14096"/>
            </a:xfrm>
            <a:custGeom>
              <a:rect b="b" l="l" r="r" t="t"/>
              <a:pathLst>
                <a:path extrusionOk="0" h="14096" w="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7" name="Google Shape;697;p40"/>
            <p:cNvSpPr/>
            <p:nvPr/>
          </p:nvSpPr>
          <p:spPr>
            <a:xfrm>
              <a:off x="6148495" y="3777375"/>
              <a:ext cx="14097" cy="14099"/>
            </a:xfrm>
            <a:custGeom>
              <a:rect b="b" l="l" r="r" t="t"/>
              <a:pathLst>
                <a:path extrusionOk="0" h="14099" w="14097">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8" name="Google Shape;698;p40"/>
            <p:cNvSpPr/>
            <p:nvPr/>
          </p:nvSpPr>
          <p:spPr>
            <a:xfrm>
              <a:off x="6207650" y="3777375"/>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699" name="Google Shape;699;p40"/>
            <p:cNvSpPr/>
            <p:nvPr/>
          </p:nvSpPr>
          <p:spPr>
            <a:xfrm>
              <a:off x="6266896" y="3777375"/>
              <a:ext cx="14096" cy="14099"/>
            </a:xfrm>
            <a:custGeom>
              <a:rect b="b" l="l" r="r" t="t"/>
              <a:pathLst>
                <a:path extrusionOk="0" h="14099" w="14096">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0" name="Google Shape;700;p40"/>
            <p:cNvSpPr/>
            <p:nvPr/>
          </p:nvSpPr>
          <p:spPr>
            <a:xfrm>
              <a:off x="6326055" y="3777354"/>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1" name="Google Shape;701;p40"/>
            <p:cNvSpPr/>
            <p:nvPr/>
          </p:nvSpPr>
          <p:spPr>
            <a:xfrm>
              <a:off x="6385314" y="3777450"/>
              <a:ext cx="14096" cy="14099"/>
            </a:xfrm>
            <a:custGeom>
              <a:rect b="b" l="l" r="r" t="t"/>
              <a:pathLst>
                <a:path extrusionOk="0" h="14099" w="14096">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2" name="Google Shape;702;p40"/>
            <p:cNvSpPr/>
            <p:nvPr/>
          </p:nvSpPr>
          <p:spPr>
            <a:xfrm>
              <a:off x="6444424" y="3777424"/>
              <a:ext cx="14096" cy="14096"/>
            </a:xfrm>
            <a:custGeom>
              <a:rect b="b" l="l" r="r" t="t"/>
              <a:pathLst>
                <a:path extrusionOk="0" h="14096" w="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6" name="Shape 706"/>
        <p:cNvGrpSpPr/>
        <p:nvPr/>
      </p:nvGrpSpPr>
      <p:grpSpPr>
        <a:xfrm>
          <a:off x="0" y="0"/>
          <a:ext cx="0" cy="0"/>
          <a:chOff x="0" y="0"/>
          <a:chExt cx="0" cy="0"/>
        </a:xfrm>
      </p:grpSpPr>
      <p:sp>
        <p:nvSpPr>
          <p:cNvPr id="707" name="Google Shape;707;p41"/>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08" name="Google Shape;708;p41"/>
          <p:cNvSpPr/>
          <p:nvPr/>
        </p:nvSpPr>
        <p:spPr>
          <a:xfrm>
            <a:off x="666296" y="780628"/>
            <a:ext cx="3566100" cy="3566100"/>
          </a:xfrm>
          <a:prstGeom prst="ellipse">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09" name="Google Shape;709;p41"/>
          <p:cNvSpPr/>
          <p:nvPr/>
        </p:nvSpPr>
        <p:spPr>
          <a:xfrm>
            <a:off x="659558" y="772205"/>
            <a:ext cx="3566100" cy="35661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10" name="Google Shape;710;p41"/>
          <p:cNvSpPr/>
          <p:nvPr/>
        </p:nvSpPr>
        <p:spPr>
          <a:xfrm>
            <a:off x="554970" y="701141"/>
            <a:ext cx="3566100" cy="3566100"/>
          </a:xfrm>
          <a:prstGeom prst="ellipse">
            <a:avLst/>
          </a:prstGeom>
          <a:solidFill>
            <a:schemeClr val="dk1"/>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711" name="Google Shape;711;p41"/>
          <p:cNvGrpSpPr/>
          <p:nvPr/>
        </p:nvGrpSpPr>
        <p:grpSpPr>
          <a:xfrm>
            <a:off x="0" y="283420"/>
            <a:ext cx="1396391" cy="538136"/>
            <a:chOff x="0" y="377893"/>
            <a:chExt cx="1861854" cy="717514"/>
          </a:xfrm>
        </p:grpSpPr>
        <p:sp>
          <p:nvSpPr>
            <p:cNvPr id="712" name="Google Shape;712;p41"/>
            <p:cNvSpPr/>
            <p:nvPr/>
          </p:nvSpPr>
          <p:spPr>
            <a:xfrm>
              <a:off x="0" y="377893"/>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3" name="Google Shape;713;p41"/>
            <p:cNvSpPr/>
            <p:nvPr/>
          </p:nvSpPr>
          <p:spPr>
            <a:xfrm>
              <a:off x="0" y="817628"/>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14" name="Google Shape;714;p41"/>
          <p:cNvSpPr/>
          <p:nvPr/>
        </p:nvSpPr>
        <p:spPr>
          <a:xfrm>
            <a:off x="3441393" y="343359"/>
            <a:ext cx="686076" cy="686076"/>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15" name="Google Shape;715;p41"/>
          <p:cNvSpPr/>
          <p:nvPr/>
        </p:nvSpPr>
        <p:spPr>
          <a:xfrm>
            <a:off x="3441393" y="343359"/>
            <a:ext cx="686076" cy="686076"/>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16" name="Google Shape;716;p41"/>
          <p:cNvSpPr/>
          <p:nvPr/>
        </p:nvSpPr>
        <p:spPr>
          <a:xfrm>
            <a:off x="482232" y="3709997"/>
            <a:ext cx="240000" cy="240000"/>
          </a:xfrm>
          <a:prstGeom prst="ellipse">
            <a:avLst/>
          </a:pr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17" name="Google Shape;717;p41"/>
          <p:cNvSpPr/>
          <p:nvPr/>
        </p:nvSpPr>
        <p:spPr>
          <a:xfrm>
            <a:off x="482232" y="3709997"/>
            <a:ext cx="240000" cy="240000"/>
          </a:xfrm>
          <a:prstGeom prst="ellipse">
            <a:avLst/>
          </a:pr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18" name="Google Shape;718;p41"/>
          <p:cNvSpPr/>
          <p:nvPr/>
        </p:nvSpPr>
        <p:spPr>
          <a:xfrm>
            <a:off x="4676151" y="848135"/>
            <a:ext cx="3912900" cy="3263400"/>
          </a:xfrm>
          <a:prstGeom prst="rect">
            <a:avLst/>
          </a:prstGeom>
          <a:noFill/>
          <a:ln>
            <a:noFill/>
          </a:ln>
        </p:spPr>
        <p:txBody>
          <a:bodyPr anchorCtr="0" anchor="t" bIns="34275" lIns="68575" spcFirstLastPara="1" rIns="68575" wrap="square" tIns="34275">
            <a:noAutofit/>
          </a:bodyPr>
          <a:lstStyle/>
          <a:p>
            <a:pPr indent="-342900" lvl="0" marL="457200" rtl="0" algn="l">
              <a:lnSpc>
                <a:spcPct val="90000"/>
              </a:lnSpc>
              <a:spcBef>
                <a:spcPts val="0"/>
              </a:spcBef>
              <a:spcAft>
                <a:spcPts val="0"/>
              </a:spcAft>
              <a:buClr>
                <a:schemeClr val="lt1"/>
              </a:buClr>
              <a:buSzPts val="1800"/>
              <a:buChar char="•"/>
            </a:pPr>
            <a:r>
              <a:rPr lang="en" sz="1800">
                <a:solidFill>
                  <a:schemeClr val="lt1"/>
                </a:solidFill>
                <a:latin typeface="Calibri"/>
                <a:ea typeface="Calibri"/>
                <a:cs typeface="Calibri"/>
                <a:sym typeface="Calibri"/>
              </a:rPr>
              <a:t>Growing demand for processing large-scale datasets generated by web services and other applications.</a:t>
            </a:r>
            <a:endParaRPr sz="1800">
              <a:solidFill>
                <a:schemeClr val="lt1"/>
              </a:solidFill>
              <a:latin typeface="Calibri"/>
              <a:ea typeface="Calibri"/>
              <a:cs typeface="Calibri"/>
              <a:sym typeface="Calibri"/>
            </a:endParaRPr>
          </a:p>
          <a:p>
            <a:pPr indent="-342900" lvl="0" marL="457200" rtl="0" algn="l">
              <a:lnSpc>
                <a:spcPct val="90000"/>
              </a:lnSpc>
              <a:spcBef>
                <a:spcPts val="0"/>
              </a:spcBef>
              <a:spcAft>
                <a:spcPts val="0"/>
              </a:spcAft>
              <a:buClr>
                <a:schemeClr val="lt1"/>
              </a:buClr>
              <a:buSzPts val="1800"/>
              <a:buChar char="•"/>
            </a:pPr>
            <a:r>
              <a:rPr lang="en" sz="1800">
                <a:solidFill>
                  <a:schemeClr val="lt1"/>
                </a:solidFill>
                <a:latin typeface="Calibri"/>
                <a:ea typeface="Calibri"/>
                <a:cs typeface="Calibri"/>
                <a:sym typeface="Calibri"/>
              </a:rPr>
              <a:t>Traditional parallel processing approaches are insufficient for handling massive datasets effectively.</a:t>
            </a:r>
            <a:endParaRPr b="0" sz="1800" cap="none">
              <a:solidFill>
                <a:schemeClr val="lt1"/>
              </a:solidFill>
              <a:latin typeface="Calibri"/>
              <a:ea typeface="Calibri"/>
              <a:cs typeface="Calibri"/>
              <a:sym typeface="Calibri"/>
            </a:endParaRPr>
          </a:p>
        </p:txBody>
      </p:sp>
      <p:grpSp>
        <p:nvGrpSpPr>
          <p:cNvPr id="719" name="Google Shape;719;p41"/>
          <p:cNvGrpSpPr/>
          <p:nvPr/>
        </p:nvGrpSpPr>
        <p:grpSpPr>
          <a:xfrm>
            <a:off x="7358837" y="4604452"/>
            <a:ext cx="790829" cy="352257"/>
            <a:chOff x="9841624" y="4115729"/>
            <a:chExt cx="602169" cy="268223"/>
          </a:xfrm>
        </p:grpSpPr>
        <p:sp>
          <p:nvSpPr>
            <p:cNvPr id="720" name="Google Shape;720;p41"/>
            <p:cNvSpPr/>
            <p:nvPr/>
          </p:nvSpPr>
          <p:spPr>
            <a:xfrm>
              <a:off x="9841624"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1" name="Google Shape;721;p41"/>
            <p:cNvSpPr/>
            <p:nvPr/>
          </p:nvSpPr>
          <p:spPr>
            <a:xfrm>
              <a:off x="9941445"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2" name="Google Shape;722;p41"/>
            <p:cNvSpPr/>
            <p:nvPr/>
          </p:nvSpPr>
          <p:spPr>
            <a:xfrm>
              <a:off x="10041267"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3" name="Google Shape;723;p41"/>
            <p:cNvSpPr/>
            <p:nvPr/>
          </p:nvSpPr>
          <p:spPr>
            <a:xfrm>
              <a:off x="10141090"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24" name="Google Shape;724;p41"/>
            <p:cNvSpPr/>
            <p:nvPr/>
          </p:nvSpPr>
          <p:spPr>
            <a:xfrm>
              <a:off x="10240911"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25" name="Google Shape;725;p41"/>
          <p:cNvSpPr txBox="1"/>
          <p:nvPr/>
        </p:nvSpPr>
        <p:spPr>
          <a:xfrm>
            <a:off x="1084625" y="2092875"/>
            <a:ext cx="2506800" cy="11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Calibri"/>
                <a:ea typeface="Calibri"/>
                <a:cs typeface="Calibri"/>
                <a:sym typeface="Calibri"/>
              </a:rPr>
              <a:t>Motivation</a:t>
            </a:r>
            <a:endParaRPr sz="24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9" name="Shape 729"/>
        <p:cNvGrpSpPr/>
        <p:nvPr/>
      </p:nvGrpSpPr>
      <p:grpSpPr>
        <a:xfrm>
          <a:off x="0" y="0"/>
          <a:ext cx="0" cy="0"/>
          <a:chOff x="0" y="0"/>
          <a:chExt cx="0" cy="0"/>
        </a:xfrm>
      </p:grpSpPr>
      <p:sp>
        <p:nvSpPr>
          <p:cNvPr id="730" name="Google Shape;730;p42"/>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31" name="Google Shape;731;p42"/>
          <p:cNvSpPr/>
          <p:nvPr/>
        </p:nvSpPr>
        <p:spPr>
          <a:xfrm>
            <a:off x="666296" y="780628"/>
            <a:ext cx="3566100" cy="3566100"/>
          </a:xfrm>
          <a:prstGeom prst="ellipse">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32" name="Google Shape;732;p42"/>
          <p:cNvSpPr/>
          <p:nvPr/>
        </p:nvSpPr>
        <p:spPr>
          <a:xfrm>
            <a:off x="659558" y="772205"/>
            <a:ext cx="3566100" cy="35661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33" name="Google Shape;733;p42"/>
          <p:cNvSpPr/>
          <p:nvPr/>
        </p:nvSpPr>
        <p:spPr>
          <a:xfrm>
            <a:off x="554970" y="701141"/>
            <a:ext cx="3566100" cy="3566100"/>
          </a:xfrm>
          <a:prstGeom prst="ellipse">
            <a:avLst/>
          </a:prstGeom>
          <a:solidFill>
            <a:schemeClr val="dk1"/>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734" name="Google Shape;734;p42"/>
          <p:cNvGrpSpPr/>
          <p:nvPr/>
        </p:nvGrpSpPr>
        <p:grpSpPr>
          <a:xfrm>
            <a:off x="0" y="283420"/>
            <a:ext cx="1396391" cy="538136"/>
            <a:chOff x="0" y="377893"/>
            <a:chExt cx="1861854" cy="717514"/>
          </a:xfrm>
        </p:grpSpPr>
        <p:sp>
          <p:nvSpPr>
            <p:cNvPr id="735" name="Google Shape;735;p42"/>
            <p:cNvSpPr/>
            <p:nvPr/>
          </p:nvSpPr>
          <p:spPr>
            <a:xfrm>
              <a:off x="0" y="377893"/>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36" name="Google Shape;736;p42"/>
            <p:cNvSpPr/>
            <p:nvPr/>
          </p:nvSpPr>
          <p:spPr>
            <a:xfrm>
              <a:off x="0" y="817628"/>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37" name="Google Shape;737;p42"/>
          <p:cNvSpPr/>
          <p:nvPr/>
        </p:nvSpPr>
        <p:spPr>
          <a:xfrm>
            <a:off x="3441393" y="343359"/>
            <a:ext cx="686076" cy="686076"/>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38" name="Google Shape;738;p42"/>
          <p:cNvSpPr/>
          <p:nvPr/>
        </p:nvSpPr>
        <p:spPr>
          <a:xfrm>
            <a:off x="3441393" y="343359"/>
            <a:ext cx="686076" cy="686076"/>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39" name="Google Shape;739;p42"/>
          <p:cNvSpPr/>
          <p:nvPr/>
        </p:nvSpPr>
        <p:spPr>
          <a:xfrm>
            <a:off x="482232" y="3709997"/>
            <a:ext cx="240000" cy="240000"/>
          </a:xfrm>
          <a:prstGeom prst="ellipse">
            <a:avLst/>
          </a:pr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40" name="Google Shape;740;p42"/>
          <p:cNvSpPr/>
          <p:nvPr/>
        </p:nvSpPr>
        <p:spPr>
          <a:xfrm>
            <a:off x="482232" y="3709997"/>
            <a:ext cx="240000" cy="240000"/>
          </a:xfrm>
          <a:prstGeom prst="ellipse">
            <a:avLst/>
          </a:pr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41" name="Google Shape;741;p42"/>
          <p:cNvSpPr/>
          <p:nvPr/>
        </p:nvSpPr>
        <p:spPr>
          <a:xfrm>
            <a:off x="4676151" y="848135"/>
            <a:ext cx="3912900" cy="3263400"/>
          </a:xfrm>
          <a:prstGeom prst="rect">
            <a:avLst/>
          </a:prstGeom>
          <a:noFill/>
          <a:ln>
            <a:noFill/>
          </a:ln>
        </p:spPr>
        <p:txBody>
          <a:bodyPr anchorCtr="0" anchor="t" bIns="34275" lIns="68575" spcFirstLastPara="1" rIns="68575" wrap="square" tIns="34275">
            <a:noAutofit/>
          </a:bodyPr>
          <a:lstStyle/>
          <a:p>
            <a:pPr indent="-342900" lvl="0" marL="457200" rtl="0" algn="l">
              <a:lnSpc>
                <a:spcPct val="90000"/>
              </a:lnSpc>
              <a:spcBef>
                <a:spcPts val="0"/>
              </a:spcBef>
              <a:spcAft>
                <a:spcPts val="0"/>
              </a:spcAft>
              <a:buClr>
                <a:schemeClr val="lt1"/>
              </a:buClr>
              <a:buSzPts val="1800"/>
              <a:buChar char="•"/>
            </a:pPr>
            <a:r>
              <a:rPr lang="en" sz="1800">
                <a:solidFill>
                  <a:schemeClr val="lt1"/>
                </a:solidFill>
                <a:latin typeface="Calibri"/>
                <a:ea typeface="Calibri"/>
                <a:cs typeface="Calibri"/>
                <a:sym typeface="Calibri"/>
              </a:rPr>
              <a:t>Scalability, fault tolerance, and ease of programming are major challenges in processing large-scale data.</a:t>
            </a:r>
            <a:endParaRPr sz="1800">
              <a:solidFill>
                <a:schemeClr val="lt1"/>
              </a:solidFill>
              <a:latin typeface="Calibri"/>
              <a:ea typeface="Calibri"/>
              <a:cs typeface="Calibri"/>
              <a:sym typeface="Calibri"/>
            </a:endParaRPr>
          </a:p>
          <a:p>
            <a:pPr indent="-342900" lvl="0" marL="457200" rtl="0" algn="l">
              <a:lnSpc>
                <a:spcPct val="90000"/>
              </a:lnSpc>
              <a:spcBef>
                <a:spcPts val="0"/>
              </a:spcBef>
              <a:spcAft>
                <a:spcPts val="0"/>
              </a:spcAft>
              <a:buClr>
                <a:schemeClr val="lt1"/>
              </a:buClr>
              <a:buSzPts val="1800"/>
              <a:buChar char="•"/>
            </a:pPr>
            <a:r>
              <a:rPr lang="en" sz="1800">
                <a:solidFill>
                  <a:schemeClr val="lt1"/>
                </a:solidFill>
                <a:latin typeface="Calibri"/>
                <a:ea typeface="Calibri"/>
                <a:cs typeface="Calibri"/>
                <a:sym typeface="Calibri"/>
              </a:rPr>
              <a:t>Existing parallel programming models are complex and lack efficient fault tolerance and scalability mechanisms.</a:t>
            </a:r>
            <a:endParaRPr sz="1800">
              <a:solidFill>
                <a:schemeClr val="lt1"/>
              </a:solidFill>
              <a:latin typeface="Calibri"/>
              <a:ea typeface="Calibri"/>
              <a:cs typeface="Calibri"/>
              <a:sym typeface="Calibri"/>
            </a:endParaRPr>
          </a:p>
          <a:p>
            <a:pPr indent="0" lvl="0" marL="457200" rtl="0" algn="l">
              <a:lnSpc>
                <a:spcPct val="90000"/>
              </a:lnSpc>
              <a:spcBef>
                <a:spcPts val="0"/>
              </a:spcBef>
              <a:spcAft>
                <a:spcPts val="0"/>
              </a:spcAft>
              <a:buNone/>
            </a:pPr>
            <a:r>
              <a:t/>
            </a:r>
            <a:endParaRPr sz="1800">
              <a:solidFill>
                <a:schemeClr val="lt1"/>
              </a:solidFill>
              <a:latin typeface="Calibri"/>
              <a:ea typeface="Calibri"/>
              <a:cs typeface="Calibri"/>
              <a:sym typeface="Calibri"/>
            </a:endParaRPr>
          </a:p>
        </p:txBody>
      </p:sp>
      <p:grpSp>
        <p:nvGrpSpPr>
          <p:cNvPr id="742" name="Google Shape;742;p42"/>
          <p:cNvGrpSpPr/>
          <p:nvPr/>
        </p:nvGrpSpPr>
        <p:grpSpPr>
          <a:xfrm>
            <a:off x="7358837" y="4604452"/>
            <a:ext cx="790829" cy="352257"/>
            <a:chOff x="9841624" y="4115729"/>
            <a:chExt cx="602169" cy="268223"/>
          </a:xfrm>
        </p:grpSpPr>
        <p:sp>
          <p:nvSpPr>
            <p:cNvPr id="743" name="Google Shape;743;p42"/>
            <p:cNvSpPr/>
            <p:nvPr/>
          </p:nvSpPr>
          <p:spPr>
            <a:xfrm>
              <a:off x="9841624"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4" name="Google Shape;744;p42"/>
            <p:cNvSpPr/>
            <p:nvPr/>
          </p:nvSpPr>
          <p:spPr>
            <a:xfrm>
              <a:off x="9941445"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5" name="Google Shape;745;p42"/>
            <p:cNvSpPr/>
            <p:nvPr/>
          </p:nvSpPr>
          <p:spPr>
            <a:xfrm>
              <a:off x="10041267"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6" name="Google Shape;746;p42"/>
            <p:cNvSpPr/>
            <p:nvPr/>
          </p:nvSpPr>
          <p:spPr>
            <a:xfrm>
              <a:off x="10141090"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47" name="Google Shape;747;p42"/>
            <p:cNvSpPr/>
            <p:nvPr/>
          </p:nvSpPr>
          <p:spPr>
            <a:xfrm>
              <a:off x="10240911"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48" name="Google Shape;748;p42"/>
          <p:cNvSpPr txBox="1"/>
          <p:nvPr/>
        </p:nvSpPr>
        <p:spPr>
          <a:xfrm>
            <a:off x="1084625" y="2092875"/>
            <a:ext cx="2506800" cy="11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Calibri"/>
                <a:ea typeface="Calibri"/>
                <a:cs typeface="Calibri"/>
                <a:sym typeface="Calibri"/>
              </a:rPr>
              <a:t>Challenges</a:t>
            </a:r>
            <a:endParaRPr sz="24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2" name="Shape 752"/>
        <p:cNvGrpSpPr/>
        <p:nvPr/>
      </p:nvGrpSpPr>
      <p:grpSpPr>
        <a:xfrm>
          <a:off x="0" y="0"/>
          <a:ext cx="0" cy="0"/>
          <a:chOff x="0" y="0"/>
          <a:chExt cx="0" cy="0"/>
        </a:xfrm>
      </p:grpSpPr>
      <p:sp>
        <p:nvSpPr>
          <p:cNvPr id="753" name="Google Shape;753;p43"/>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54" name="Google Shape;754;p43"/>
          <p:cNvSpPr/>
          <p:nvPr/>
        </p:nvSpPr>
        <p:spPr>
          <a:xfrm>
            <a:off x="666296" y="780628"/>
            <a:ext cx="3566100" cy="3566100"/>
          </a:xfrm>
          <a:prstGeom prst="ellipse">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55" name="Google Shape;755;p43"/>
          <p:cNvSpPr/>
          <p:nvPr/>
        </p:nvSpPr>
        <p:spPr>
          <a:xfrm>
            <a:off x="659558" y="772205"/>
            <a:ext cx="3566100" cy="35661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56" name="Google Shape;756;p43"/>
          <p:cNvSpPr/>
          <p:nvPr/>
        </p:nvSpPr>
        <p:spPr>
          <a:xfrm>
            <a:off x="554970" y="701141"/>
            <a:ext cx="3566100" cy="3566100"/>
          </a:xfrm>
          <a:prstGeom prst="ellipse">
            <a:avLst/>
          </a:prstGeom>
          <a:solidFill>
            <a:schemeClr val="dk1"/>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757" name="Google Shape;757;p43"/>
          <p:cNvGrpSpPr/>
          <p:nvPr/>
        </p:nvGrpSpPr>
        <p:grpSpPr>
          <a:xfrm>
            <a:off x="0" y="283420"/>
            <a:ext cx="1396391" cy="538136"/>
            <a:chOff x="0" y="377893"/>
            <a:chExt cx="1861854" cy="717514"/>
          </a:xfrm>
        </p:grpSpPr>
        <p:sp>
          <p:nvSpPr>
            <p:cNvPr id="758" name="Google Shape;758;p43"/>
            <p:cNvSpPr/>
            <p:nvPr/>
          </p:nvSpPr>
          <p:spPr>
            <a:xfrm>
              <a:off x="0" y="377893"/>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59" name="Google Shape;759;p43"/>
            <p:cNvSpPr/>
            <p:nvPr/>
          </p:nvSpPr>
          <p:spPr>
            <a:xfrm>
              <a:off x="0" y="817628"/>
              <a:ext cx="1861854" cy="277779"/>
            </a:xfrm>
            <a:custGeom>
              <a:rect b="b" l="l" r="r" t="t"/>
              <a:pathLst>
                <a:path extrusionOk="0" h="277779" w="1861854">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60" name="Google Shape;760;p43"/>
          <p:cNvSpPr/>
          <p:nvPr/>
        </p:nvSpPr>
        <p:spPr>
          <a:xfrm>
            <a:off x="3441393" y="343359"/>
            <a:ext cx="686076" cy="686076"/>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61" name="Google Shape;761;p43"/>
          <p:cNvSpPr/>
          <p:nvPr/>
        </p:nvSpPr>
        <p:spPr>
          <a:xfrm>
            <a:off x="3441393" y="343359"/>
            <a:ext cx="686076" cy="686076"/>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62" name="Google Shape;762;p43"/>
          <p:cNvSpPr/>
          <p:nvPr/>
        </p:nvSpPr>
        <p:spPr>
          <a:xfrm>
            <a:off x="482232" y="3709997"/>
            <a:ext cx="240000" cy="240000"/>
          </a:xfrm>
          <a:prstGeom prst="ellipse">
            <a:avLst/>
          </a:pr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63" name="Google Shape;763;p43"/>
          <p:cNvSpPr/>
          <p:nvPr/>
        </p:nvSpPr>
        <p:spPr>
          <a:xfrm>
            <a:off x="482232" y="3709997"/>
            <a:ext cx="240000" cy="240000"/>
          </a:xfrm>
          <a:prstGeom prst="ellipse">
            <a:avLst/>
          </a:pr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64" name="Google Shape;764;p43"/>
          <p:cNvSpPr/>
          <p:nvPr/>
        </p:nvSpPr>
        <p:spPr>
          <a:xfrm>
            <a:off x="4676151" y="848135"/>
            <a:ext cx="3912900" cy="3263400"/>
          </a:xfrm>
          <a:prstGeom prst="rect">
            <a:avLst/>
          </a:prstGeom>
          <a:noFill/>
          <a:ln>
            <a:noFill/>
          </a:ln>
        </p:spPr>
        <p:txBody>
          <a:bodyPr anchorCtr="0" anchor="t" bIns="34275" lIns="68575" spcFirstLastPara="1" rIns="68575" wrap="square" tIns="34275">
            <a:noAutofit/>
          </a:bodyPr>
          <a:lstStyle/>
          <a:p>
            <a:pPr indent="-342900" lvl="0" marL="457200" rtl="0" algn="l">
              <a:lnSpc>
                <a:spcPct val="90000"/>
              </a:lnSpc>
              <a:spcBef>
                <a:spcPts val="0"/>
              </a:spcBef>
              <a:spcAft>
                <a:spcPts val="0"/>
              </a:spcAft>
              <a:buClr>
                <a:schemeClr val="lt1"/>
              </a:buClr>
              <a:buSzPts val="1800"/>
              <a:buChar char="•"/>
            </a:pPr>
            <a:r>
              <a:rPr lang="en" sz="1800">
                <a:solidFill>
                  <a:schemeClr val="lt1"/>
                </a:solidFill>
                <a:latin typeface="Calibri"/>
                <a:ea typeface="Calibri"/>
                <a:cs typeface="Calibri"/>
                <a:sym typeface="Calibri"/>
              </a:rPr>
              <a:t>MapReduce aims to provide a simple and scalable programming model for processing large-scale datasets on distributed clusters.</a:t>
            </a:r>
            <a:endParaRPr sz="1800">
              <a:solidFill>
                <a:schemeClr val="lt1"/>
              </a:solidFill>
              <a:latin typeface="Calibri"/>
              <a:ea typeface="Calibri"/>
              <a:cs typeface="Calibri"/>
              <a:sym typeface="Calibri"/>
            </a:endParaRPr>
          </a:p>
          <a:p>
            <a:pPr indent="-342900" lvl="0" marL="457200" rtl="0" algn="l">
              <a:lnSpc>
                <a:spcPct val="90000"/>
              </a:lnSpc>
              <a:spcBef>
                <a:spcPts val="0"/>
              </a:spcBef>
              <a:spcAft>
                <a:spcPts val="0"/>
              </a:spcAft>
              <a:buClr>
                <a:schemeClr val="lt1"/>
              </a:buClr>
              <a:buSzPts val="1800"/>
              <a:buChar char="•"/>
            </a:pPr>
            <a:r>
              <a:rPr lang="en" sz="1800">
                <a:solidFill>
                  <a:schemeClr val="lt1"/>
                </a:solidFill>
                <a:latin typeface="Calibri"/>
                <a:ea typeface="Calibri"/>
                <a:cs typeface="Calibri"/>
                <a:sym typeface="Calibri"/>
              </a:rPr>
              <a:t>It enables developers to write parallelizable computations easily while handling distributed system complexities transparently.</a:t>
            </a:r>
            <a:endParaRPr sz="1800">
              <a:solidFill>
                <a:schemeClr val="lt1"/>
              </a:solidFill>
              <a:latin typeface="Calibri"/>
              <a:ea typeface="Calibri"/>
              <a:cs typeface="Calibri"/>
              <a:sym typeface="Calibri"/>
            </a:endParaRPr>
          </a:p>
          <a:p>
            <a:pPr indent="0" lvl="0" marL="0" rtl="0" algn="l">
              <a:lnSpc>
                <a:spcPct val="90000"/>
              </a:lnSpc>
              <a:spcBef>
                <a:spcPts val="0"/>
              </a:spcBef>
              <a:spcAft>
                <a:spcPts val="0"/>
              </a:spcAft>
              <a:buNone/>
            </a:pPr>
            <a:r>
              <a:t/>
            </a:r>
            <a:endParaRPr sz="1800">
              <a:solidFill>
                <a:schemeClr val="lt1"/>
              </a:solidFill>
              <a:latin typeface="Calibri"/>
              <a:ea typeface="Calibri"/>
              <a:cs typeface="Calibri"/>
              <a:sym typeface="Calibri"/>
            </a:endParaRPr>
          </a:p>
          <a:p>
            <a:pPr indent="0" lvl="0" marL="457200" rtl="0" algn="l">
              <a:lnSpc>
                <a:spcPct val="90000"/>
              </a:lnSpc>
              <a:spcBef>
                <a:spcPts val="0"/>
              </a:spcBef>
              <a:spcAft>
                <a:spcPts val="0"/>
              </a:spcAft>
              <a:buNone/>
            </a:pPr>
            <a:r>
              <a:t/>
            </a:r>
            <a:endParaRPr sz="1800">
              <a:solidFill>
                <a:schemeClr val="lt1"/>
              </a:solidFill>
              <a:latin typeface="Calibri"/>
              <a:ea typeface="Calibri"/>
              <a:cs typeface="Calibri"/>
              <a:sym typeface="Calibri"/>
            </a:endParaRPr>
          </a:p>
        </p:txBody>
      </p:sp>
      <p:grpSp>
        <p:nvGrpSpPr>
          <p:cNvPr id="765" name="Google Shape;765;p43"/>
          <p:cNvGrpSpPr/>
          <p:nvPr/>
        </p:nvGrpSpPr>
        <p:grpSpPr>
          <a:xfrm>
            <a:off x="7358837" y="4604452"/>
            <a:ext cx="790829" cy="352257"/>
            <a:chOff x="9841624" y="4115729"/>
            <a:chExt cx="602169" cy="268223"/>
          </a:xfrm>
        </p:grpSpPr>
        <p:sp>
          <p:nvSpPr>
            <p:cNvPr id="766" name="Google Shape;766;p43"/>
            <p:cNvSpPr/>
            <p:nvPr/>
          </p:nvSpPr>
          <p:spPr>
            <a:xfrm>
              <a:off x="9841624"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7" name="Google Shape;767;p43"/>
            <p:cNvSpPr/>
            <p:nvPr/>
          </p:nvSpPr>
          <p:spPr>
            <a:xfrm>
              <a:off x="9941445" y="4115729"/>
              <a:ext cx="202882" cy="268223"/>
            </a:xfrm>
            <a:custGeom>
              <a:rect b="b" l="l" r="r" t="t"/>
              <a:pathLst>
                <a:path extrusionOk="0" h="268223" w="202882">
                  <a:moveTo>
                    <a:pt x="20765"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8" name="Google Shape;768;p43"/>
            <p:cNvSpPr/>
            <p:nvPr/>
          </p:nvSpPr>
          <p:spPr>
            <a:xfrm>
              <a:off x="10041267"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69" name="Google Shape;769;p43"/>
            <p:cNvSpPr/>
            <p:nvPr/>
          </p:nvSpPr>
          <p:spPr>
            <a:xfrm>
              <a:off x="10141090"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70" name="Google Shape;770;p43"/>
            <p:cNvSpPr/>
            <p:nvPr/>
          </p:nvSpPr>
          <p:spPr>
            <a:xfrm>
              <a:off x="10240911" y="4115729"/>
              <a:ext cx="202882" cy="268223"/>
            </a:xfrm>
            <a:custGeom>
              <a:rect b="b" l="l" r="r" t="t"/>
              <a:pathLst>
                <a:path extrusionOk="0" h="268223" w="202882">
                  <a:moveTo>
                    <a:pt x="20669" y="268224"/>
                  </a:moveTo>
                  <a:lnTo>
                    <a:pt x="0" y="268224"/>
                  </a:lnTo>
                  <a:lnTo>
                    <a:pt x="182118" y="0"/>
                  </a:lnTo>
                  <a:lnTo>
                    <a:pt x="202883" y="0"/>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71" name="Google Shape;771;p43"/>
          <p:cNvSpPr txBox="1"/>
          <p:nvPr/>
        </p:nvSpPr>
        <p:spPr>
          <a:xfrm>
            <a:off x="1084625" y="2092875"/>
            <a:ext cx="2506800" cy="11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Calibri"/>
                <a:ea typeface="Calibri"/>
                <a:cs typeface="Calibri"/>
                <a:sym typeface="Calibri"/>
              </a:rPr>
              <a:t>Objective</a:t>
            </a:r>
            <a:endParaRPr sz="24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5" name="Shape 775"/>
        <p:cNvGrpSpPr/>
        <p:nvPr/>
      </p:nvGrpSpPr>
      <p:grpSpPr>
        <a:xfrm>
          <a:off x="0" y="0"/>
          <a:ext cx="0" cy="0"/>
          <a:chOff x="0" y="0"/>
          <a:chExt cx="0" cy="0"/>
        </a:xfrm>
      </p:grpSpPr>
      <p:sp>
        <p:nvSpPr>
          <p:cNvPr id="776" name="Google Shape;776;p4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77" name="Google Shape;777;p44"/>
          <p:cNvSpPr/>
          <p:nvPr/>
        </p:nvSpPr>
        <p:spPr>
          <a:xfrm flipH="1">
            <a:off x="0" y="0"/>
            <a:ext cx="9144000" cy="1182000"/>
          </a:xfrm>
          <a:prstGeom prst="rect">
            <a:avLst/>
          </a:prstGeom>
          <a:gradFill>
            <a:gsLst>
              <a:gs pos="0">
                <a:srgbClr val="000000">
                  <a:alpha val="95686"/>
                </a:srgbClr>
              </a:gs>
              <a:gs pos="100000">
                <a:srgbClr val="2F5496"/>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78" name="Google Shape;778;p44"/>
          <p:cNvSpPr/>
          <p:nvPr/>
        </p:nvSpPr>
        <p:spPr>
          <a:xfrm flipH="1" rot="10800000">
            <a:off x="6096643" y="9"/>
            <a:ext cx="3047400" cy="1182300"/>
          </a:xfrm>
          <a:prstGeom prst="rect">
            <a:avLst/>
          </a:prstGeom>
          <a:gradFill>
            <a:gsLst>
              <a:gs pos="0">
                <a:srgbClr val="1F3864">
                  <a:alpha val="67843"/>
                </a:srgbClr>
              </a:gs>
              <a:gs pos="19000">
                <a:srgbClr val="1F3864">
                  <a:alpha val="67843"/>
                </a:srgbClr>
              </a:gs>
              <a:gs pos="100000">
                <a:srgbClr val="4472C4">
                  <a:alpha val="78823"/>
                </a:srgbClr>
              </a:gs>
            </a:gsLst>
            <a:lin ang="1920016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79" name="Google Shape;779;p44"/>
          <p:cNvSpPr/>
          <p:nvPr/>
        </p:nvSpPr>
        <p:spPr>
          <a:xfrm rot="5400000">
            <a:off x="3980851" y="-3980850"/>
            <a:ext cx="1182300" cy="9144000"/>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80" name="Google Shape;780;p44"/>
          <p:cNvSpPr/>
          <p:nvPr/>
        </p:nvSpPr>
        <p:spPr>
          <a:xfrm>
            <a:off x="1432700" y="261650"/>
            <a:ext cx="7128900" cy="658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None/>
            </a:pPr>
            <a:r>
              <a:rPr lang="en" sz="3000">
                <a:solidFill>
                  <a:srgbClr val="FFFFFF"/>
                </a:solidFill>
                <a:latin typeface="Calibri"/>
                <a:ea typeface="Calibri"/>
                <a:cs typeface="Calibri"/>
                <a:sym typeface="Calibri"/>
              </a:rPr>
              <a:t>MapReduce</a:t>
            </a:r>
            <a:endParaRPr sz="1100"/>
          </a:p>
        </p:txBody>
      </p:sp>
      <p:sp>
        <p:nvSpPr>
          <p:cNvPr id="781" name="Google Shape;781;p44"/>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MapReduce is a programming model and processing framework designed for handling large-scale data processing tasks in a distributed manner.</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It is widely used for processing and generating insights from massive datasets, leveraging the power of parallelism and fault tolerance.</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MapReduce breaks down a large task into smaller, manageable tasks, processes them in parallel across multiple nodes, and then combines the results to obtain the final output.</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Popularized by Google and later implemented in open-source frameworks like Apache Hadoop.</a:t>
            </a:r>
            <a:endParaRPr sz="1800">
              <a:solidFill>
                <a:srgbClr val="595959"/>
              </a:solidFill>
            </a:endParaRPr>
          </a:p>
        </p:txBody>
      </p:sp>
      <p:grpSp>
        <p:nvGrpSpPr>
          <p:cNvPr id="782" name="Google Shape;782;p44"/>
          <p:cNvGrpSpPr/>
          <p:nvPr/>
        </p:nvGrpSpPr>
        <p:grpSpPr>
          <a:xfrm>
            <a:off x="-1" y="152184"/>
            <a:ext cx="1432688" cy="532245"/>
            <a:chOff x="2267504" y="2540250"/>
            <a:chExt cx="1990951" cy="739640"/>
          </a:xfrm>
        </p:grpSpPr>
        <p:sp>
          <p:nvSpPr>
            <p:cNvPr id="783" name="Google Shape;783;p44"/>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84" name="Google Shape;784;p44"/>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8" name="Shape 788"/>
        <p:cNvGrpSpPr/>
        <p:nvPr/>
      </p:nvGrpSpPr>
      <p:grpSpPr>
        <a:xfrm>
          <a:off x="0" y="0"/>
          <a:ext cx="0" cy="0"/>
          <a:chOff x="0" y="0"/>
          <a:chExt cx="0" cy="0"/>
        </a:xfrm>
      </p:grpSpPr>
      <p:sp>
        <p:nvSpPr>
          <p:cNvPr id="789" name="Google Shape;789;p45"/>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90" name="Google Shape;790;p45"/>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791" name="Google Shape;791;p45"/>
          <p:cNvSpPr txBox="1"/>
          <p:nvPr>
            <p:ph type="title"/>
          </p:nvPr>
        </p:nvSpPr>
        <p:spPr>
          <a:xfrm>
            <a:off x="628650" y="896773"/>
            <a:ext cx="2400300" cy="31785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1100"/>
              <a:buFont typeface="Arial"/>
              <a:buNone/>
            </a:pPr>
            <a:r>
              <a:rPr lang="en">
                <a:solidFill>
                  <a:schemeClr val="lt1"/>
                </a:solidFill>
              </a:rPr>
              <a:t>Components of MapReduce</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lnSpc>
                <a:spcPct val="90000"/>
              </a:lnSpc>
              <a:spcBef>
                <a:spcPts val="0"/>
              </a:spcBef>
              <a:spcAft>
                <a:spcPts val="0"/>
              </a:spcAft>
              <a:buClr>
                <a:schemeClr val="lt1"/>
              </a:buClr>
              <a:buSzPts val="3300"/>
              <a:buFont typeface="Calibri"/>
              <a:buNone/>
            </a:pPr>
            <a:r>
              <a:t/>
            </a:r>
            <a:endParaRPr/>
          </a:p>
        </p:txBody>
      </p:sp>
      <p:grpSp>
        <p:nvGrpSpPr>
          <p:cNvPr id="792" name="Google Shape;792;p45"/>
          <p:cNvGrpSpPr/>
          <p:nvPr/>
        </p:nvGrpSpPr>
        <p:grpSpPr>
          <a:xfrm>
            <a:off x="-1" y="152184"/>
            <a:ext cx="1432688" cy="532245"/>
            <a:chOff x="2267504" y="2540250"/>
            <a:chExt cx="1990951" cy="739640"/>
          </a:xfrm>
        </p:grpSpPr>
        <p:sp>
          <p:nvSpPr>
            <p:cNvPr id="793" name="Google Shape;793;p45"/>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4" name="Google Shape;794;p45"/>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795" name="Google Shape;795;p45"/>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96" name="Google Shape;796;p45"/>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797" name="Google Shape;797;p45"/>
          <p:cNvGrpSpPr/>
          <p:nvPr/>
        </p:nvGrpSpPr>
        <p:grpSpPr>
          <a:xfrm>
            <a:off x="3082209" y="4154928"/>
            <a:ext cx="731373" cy="731374"/>
            <a:chOff x="5829300" y="3162300"/>
            <a:chExt cx="532256" cy="532257"/>
          </a:xfrm>
        </p:grpSpPr>
        <p:sp>
          <p:nvSpPr>
            <p:cNvPr id="798" name="Google Shape;798;p45"/>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99" name="Google Shape;799;p45"/>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0" name="Google Shape;800;p45"/>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1" name="Google Shape;801;p45"/>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2" name="Google Shape;802;p45"/>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3" name="Google Shape;803;p45"/>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4" name="Google Shape;804;p45"/>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5" name="Google Shape;805;p45"/>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6" name="Google Shape;806;p45"/>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7" name="Google Shape;807;p45"/>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8" name="Google Shape;808;p45"/>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09" name="Google Shape;809;p45"/>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10" name="Google Shape;810;p45"/>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811" name="Google Shape;811;p45"/>
          <p:cNvSpPr/>
          <p:nvPr/>
        </p:nvSpPr>
        <p:spPr>
          <a:xfrm>
            <a:off x="5184323" y="359984"/>
            <a:ext cx="3654900" cy="92745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nvGrpSpPr>
          <p:cNvPr id="812" name="Google Shape;812;p45"/>
          <p:cNvGrpSpPr/>
          <p:nvPr/>
        </p:nvGrpSpPr>
        <p:grpSpPr>
          <a:xfrm>
            <a:off x="4112960" y="359962"/>
            <a:ext cx="4726125" cy="1159498"/>
            <a:chOff x="4113104" y="359984"/>
            <a:chExt cx="4726125" cy="927450"/>
          </a:xfrm>
        </p:grpSpPr>
        <p:sp>
          <p:nvSpPr>
            <p:cNvPr id="813" name="Google Shape;813;p45"/>
            <p:cNvSpPr/>
            <p:nvPr/>
          </p:nvSpPr>
          <p:spPr>
            <a:xfrm>
              <a:off x="4113104" y="359984"/>
              <a:ext cx="4726125" cy="92745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4" name="Google Shape;814;p45"/>
            <p:cNvSpPr/>
            <p:nvPr/>
          </p:nvSpPr>
          <p:spPr>
            <a:xfrm>
              <a:off x="4386204" y="505183"/>
              <a:ext cx="607500" cy="6075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5" name="Google Shape;815;p45"/>
            <p:cNvSpPr txBox="1"/>
            <p:nvPr/>
          </p:nvSpPr>
          <p:spPr>
            <a:xfrm>
              <a:off x="5184323" y="359984"/>
              <a:ext cx="3654900" cy="92745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t/>
              </a:r>
              <a:endParaRPr sz="1700">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700"/>
                <a:buFont typeface="Calibri"/>
                <a:buNone/>
              </a:pPr>
              <a:r>
                <a:t/>
              </a:r>
              <a:endParaRPr sz="1700">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Mapper Function: </a:t>
              </a:r>
              <a:r>
                <a:rPr lang="en" sz="1700">
                  <a:solidFill>
                    <a:schemeClr val="dk1"/>
                  </a:solidFill>
                  <a:latin typeface="Calibri"/>
                  <a:ea typeface="Calibri"/>
                  <a:cs typeface="Calibri"/>
                  <a:sym typeface="Calibri"/>
                </a:rPr>
                <a:t>Transforms input data into intermediate key-value pairs.</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t/>
              </a:r>
              <a:endParaRPr sz="1700">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700"/>
                <a:buFont typeface="Calibri"/>
                <a:buNone/>
              </a:pPr>
              <a:r>
                <a:t/>
              </a:r>
              <a:endParaRPr sz="1700">
                <a:solidFill>
                  <a:schemeClr val="dk1"/>
                </a:solidFill>
                <a:latin typeface="Calibri"/>
                <a:ea typeface="Calibri"/>
                <a:cs typeface="Calibri"/>
                <a:sym typeface="Calibri"/>
              </a:endParaRPr>
            </a:p>
          </p:txBody>
        </p:sp>
      </p:grpSp>
      <p:sp>
        <p:nvSpPr>
          <p:cNvPr id="816" name="Google Shape;816;p45"/>
          <p:cNvSpPr/>
          <p:nvPr/>
        </p:nvSpPr>
        <p:spPr>
          <a:xfrm>
            <a:off x="5184323" y="1519313"/>
            <a:ext cx="3654900" cy="92745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7" name="Google Shape;817;p45"/>
          <p:cNvSpPr/>
          <p:nvPr/>
        </p:nvSpPr>
        <p:spPr>
          <a:xfrm>
            <a:off x="5184323" y="2678641"/>
            <a:ext cx="3654900" cy="92745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nvGrpSpPr>
          <p:cNvPr id="818" name="Google Shape;818;p45"/>
          <p:cNvGrpSpPr/>
          <p:nvPr/>
        </p:nvGrpSpPr>
        <p:grpSpPr>
          <a:xfrm>
            <a:off x="4112920" y="3509375"/>
            <a:ext cx="4802764" cy="1256283"/>
            <a:chOff x="4113104" y="2678641"/>
            <a:chExt cx="4726200" cy="927625"/>
          </a:xfrm>
        </p:grpSpPr>
        <p:sp>
          <p:nvSpPr>
            <p:cNvPr id="819" name="Google Shape;819;p45"/>
            <p:cNvSpPr/>
            <p:nvPr/>
          </p:nvSpPr>
          <p:spPr>
            <a:xfrm>
              <a:off x="4113104" y="2678641"/>
              <a:ext cx="4726200" cy="927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0" name="Google Shape;820;p45"/>
            <p:cNvSpPr txBox="1"/>
            <p:nvPr/>
          </p:nvSpPr>
          <p:spPr>
            <a:xfrm>
              <a:off x="5184323" y="2678666"/>
              <a:ext cx="3654900" cy="927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Partitioner: </a:t>
              </a:r>
              <a:r>
                <a:rPr lang="en" sz="1700">
                  <a:solidFill>
                    <a:schemeClr val="dk1"/>
                  </a:solidFill>
                  <a:latin typeface="Calibri"/>
                  <a:ea typeface="Calibri"/>
                  <a:cs typeface="Calibri"/>
                  <a:sym typeface="Calibri"/>
                </a:rPr>
                <a:t>Determines which reducer should receive each intermediate key-value pair based on a partitioning function.</a:t>
              </a:r>
              <a:endParaRPr sz="1100"/>
            </a:p>
          </p:txBody>
        </p:sp>
        <p:sp>
          <p:nvSpPr>
            <p:cNvPr id="821" name="Google Shape;821;p45"/>
            <p:cNvSpPr/>
            <p:nvPr/>
          </p:nvSpPr>
          <p:spPr>
            <a:xfrm>
              <a:off x="4445914" y="2929598"/>
              <a:ext cx="489300" cy="4257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grpSp>
        <p:nvGrpSpPr>
          <p:cNvPr id="822" name="Google Shape;822;p45"/>
          <p:cNvGrpSpPr/>
          <p:nvPr/>
        </p:nvGrpSpPr>
        <p:grpSpPr>
          <a:xfrm>
            <a:off x="4113125" y="1958849"/>
            <a:ext cx="4726200" cy="1159535"/>
            <a:chOff x="4113104" y="1463088"/>
            <a:chExt cx="4726200" cy="983824"/>
          </a:xfrm>
        </p:grpSpPr>
        <p:sp>
          <p:nvSpPr>
            <p:cNvPr id="823" name="Google Shape;823;p45"/>
            <p:cNvSpPr/>
            <p:nvPr/>
          </p:nvSpPr>
          <p:spPr>
            <a:xfrm>
              <a:off x="4113104" y="1519313"/>
              <a:ext cx="4726200" cy="927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4" name="Google Shape;824;p45"/>
            <p:cNvSpPr txBox="1"/>
            <p:nvPr/>
          </p:nvSpPr>
          <p:spPr>
            <a:xfrm>
              <a:off x="5184329" y="1463088"/>
              <a:ext cx="3654900" cy="9837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Reducer Function:</a:t>
              </a:r>
              <a:r>
                <a:rPr lang="en" sz="1700">
                  <a:solidFill>
                    <a:schemeClr val="dk1"/>
                  </a:solidFill>
                  <a:latin typeface="Calibri"/>
                  <a:ea typeface="Calibri"/>
                  <a:cs typeface="Calibri"/>
                  <a:sym typeface="Calibri"/>
                </a:rPr>
                <a:t> Aggregates and processes intermediate key-value pairs to produce the final output.</a:t>
              </a:r>
              <a:r>
                <a:rPr lang="en" sz="1700">
                  <a:solidFill>
                    <a:schemeClr val="dk1"/>
                  </a:solidFill>
                  <a:latin typeface="Calibri"/>
                  <a:ea typeface="Calibri"/>
                  <a:cs typeface="Calibri"/>
                  <a:sym typeface="Calibri"/>
                </a:rPr>
                <a:t> </a:t>
              </a:r>
              <a:endParaRPr sz="1100"/>
            </a:p>
          </p:txBody>
        </p:sp>
        <p:sp>
          <p:nvSpPr>
            <p:cNvPr id="825" name="Google Shape;825;p45"/>
            <p:cNvSpPr/>
            <p:nvPr/>
          </p:nvSpPr>
          <p:spPr>
            <a:xfrm>
              <a:off x="4386204" y="1719039"/>
              <a:ext cx="592800" cy="528000"/>
            </a:xfrm>
            <a:prstGeom prst="rect">
              <a:avLst/>
            </a:prstGeom>
            <a:blipFill rotWithShape="1">
              <a:blip r:embed="rId5">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9" name="Shape 829"/>
        <p:cNvGrpSpPr/>
        <p:nvPr/>
      </p:nvGrpSpPr>
      <p:grpSpPr>
        <a:xfrm>
          <a:off x="0" y="0"/>
          <a:ext cx="0" cy="0"/>
          <a:chOff x="0" y="0"/>
          <a:chExt cx="0" cy="0"/>
        </a:xfrm>
      </p:grpSpPr>
      <p:sp>
        <p:nvSpPr>
          <p:cNvPr id="830" name="Google Shape;830;p46"/>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31" name="Google Shape;831;p46"/>
          <p:cNvSpPr/>
          <p:nvPr/>
        </p:nvSpPr>
        <p:spPr>
          <a:xfrm flipH="1">
            <a:off x="0" y="0"/>
            <a:ext cx="9144000" cy="1182000"/>
          </a:xfrm>
          <a:prstGeom prst="rect">
            <a:avLst/>
          </a:prstGeom>
          <a:gradFill>
            <a:gsLst>
              <a:gs pos="0">
                <a:srgbClr val="000000">
                  <a:alpha val="95686"/>
                </a:srgbClr>
              </a:gs>
              <a:gs pos="100000">
                <a:srgbClr val="2F5496"/>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32" name="Google Shape;832;p46"/>
          <p:cNvSpPr/>
          <p:nvPr/>
        </p:nvSpPr>
        <p:spPr>
          <a:xfrm flipH="1" rot="10800000">
            <a:off x="6096643" y="9"/>
            <a:ext cx="3047400" cy="1182300"/>
          </a:xfrm>
          <a:prstGeom prst="rect">
            <a:avLst/>
          </a:prstGeom>
          <a:gradFill>
            <a:gsLst>
              <a:gs pos="0">
                <a:srgbClr val="1F3864">
                  <a:alpha val="67843"/>
                </a:srgbClr>
              </a:gs>
              <a:gs pos="19000">
                <a:srgbClr val="1F3864">
                  <a:alpha val="67843"/>
                </a:srgbClr>
              </a:gs>
              <a:gs pos="100000">
                <a:srgbClr val="4472C4">
                  <a:alpha val="78823"/>
                </a:srgbClr>
              </a:gs>
            </a:gsLst>
            <a:lin ang="1920016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33" name="Google Shape;833;p46"/>
          <p:cNvSpPr/>
          <p:nvPr/>
        </p:nvSpPr>
        <p:spPr>
          <a:xfrm rot="5400000">
            <a:off x="3980851" y="-3980850"/>
            <a:ext cx="1182300" cy="9144000"/>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34" name="Google Shape;834;p46"/>
          <p:cNvSpPr/>
          <p:nvPr/>
        </p:nvSpPr>
        <p:spPr>
          <a:xfrm>
            <a:off x="1255100" y="261650"/>
            <a:ext cx="7306500" cy="658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None/>
            </a:pPr>
            <a:r>
              <a:rPr lang="en" sz="3000">
                <a:solidFill>
                  <a:srgbClr val="FFFFFF"/>
                </a:solidFill>
                <a:latin typeface="Calibri"/>
                <a:ea typeface="Calibri"/>
                <a:cs typeface="Calibri"/>
                <a:sym typeface="Calibri"/>
              </a:rPr>
              <a:t>Execution Flow of MapReduce</a:t>
            </a:r>
            <a:endParaRPr sz="1100"/>
          </a:p>
        </p:txBody>
      </p:sp>
      <p:sp>
        <p:nvSpPr>
          <p:cNvPr id="835" name="Google Shape;835;p46"/>
          <p:cNvSpPr txBox="1"/>
          <p:nvPr/>
        </p:nvSpPr>
        <p:spPr>
          <a:xfrm>
            <a:off x="334775" y="1543375"/>
            <a:ext cx="85206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1200"/>
              </a:spcAft>
              <a:buNone/>
            </a:pPr>
            <a:r>
              <a:t/>
            </a:r>
            <a:endParaRPr sz="1800">
              <a:solidFill>
                <a:srgbClr val="595959"/>
              </a:solidFill>
            </a:endParaRPr>
          </a:p>
        </p:txBody>
      </p:sp>
      <p:grpSp>
        <p:nvGrpSpPr>
          <p:cNvPr id="836" name="Google Shape;836;p46"/>
          <p:cNvGrpSpPr/>
          <p:nvPr/>
        </p:nvGrpSpPr>
        <p:grpSpPr>
          <a:xfrm>
            <a:off x="485950" y="1720750"/>
            <a:ext cx="8218250" cy="2860050"/>
            <a:chOff x="485950" y="1276500"/>
            <a:chExt cx="8218250" cy="2860050"/>
          </a:xfrm>
        </p:grpSpPr>
        <p:sp>
          <p:nvSpPr>
            <p:cNvPr id="837" name="Google Shape;837;p46"/>
            <p:cNvSpPr/>
            <p:nvPr/>
          </p:nvSpPr>
          <p:spPr>
            <a:xfrm>
              <a:off x="611047" y="2020061"/>
              <a:ext cx="1099800" cy="1379700"/>
            </a:xfrm>
            <a:prstGeom prst="rect">
              <a:avLst/>
            </a:prstGeom>
            <a:blipFill rotWithShape="1">
              <a:blip r:embed="rId3">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8" name="Google Shape;838;p46"/>
            <p:cNvSpPr txBox="1"/>
            <p:nvPr/>
          </p:nvSpPr>
          <p:spPr>
            <a:xfrm>
              <a:off x="485950" y="3473379"/>
              <a:ext cx="1350000" cy="350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Calibri"/>
                <a:buNone/>
              </a:pPr>
              <a:r>
                <a:rPr lang="en" sz="1100">
                  <a:latin typeface="Calibri"/>
                  <a:ea typeface="Calibri"/>
                  <a:cs typeface="Calibri"/>
                  <a:sym typeface="Calibri"/>
                </a:rPr>
                <a:t>Input: Big data</a:t>
              </a:r>
              <a:endParaRPr/>
            </a:p>
          </p:txBody>
        </p:sp>
        <p:sp>
          <p:nvSpPr>
            <p:cNvPr id="839" name="Google Shape;839;p46"/>
            <p:cNvSpPr/>
            <p:nvPr/>
          </p:nvSpPr>
          <p:spPr>
            <a:xfrm>
              <a:off x="2334400" y="1595675"/>
              <a:ext cx="1482600" cy="525300"/>
            </a:xfrm>
            <a:prstGeom prst="roundRect">
              <a:avLst>
                <a:gd fmla="val 16667" name="adj"/>
              </a:avLst>
            </a:prstGeom>
            <a:solidFill>
              <a:srgbClr val="EEFF41">
                <a:alpha val="29800"/>
              </a:srgbClr>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000000"/>
                  </a:solidFill>
                  <a:latin typeface="Roboto"/>
                  <a:ea typeface="Roboto"/>
                  <a:cs typeface="Roboto"/>
                  <a:sym typeface="Roboto"/>
                </a:rPr>
                <a:t>Mapper</a:t>
              </a:r>
              <a:endParaRPr sz="1100">
                <a:solidFill>
                  <a:srgbClr val="000000"/>
                </a:solidFill>
                <a:latin typeface="Roboto"/>
                <a:ea typeface="Roboto"/>
                <a:cs typeface="Roboto"/>
                <a:sym typeface="Roboto"/>
              </a:endParaRPr>
            </a:p>
          </p:txBody>
        </p:sp>
        <p:sp>
          <p:nvSpPr>
            <p:cNvPr id="840" name="Google Shape;840;p46"/>
            <p:cNvSpPr/>
            <p:nvPr/>
          </p:nvSpPr>
          <p:spPr>
            <a:xfrm>
              <a:off x="2334400" y="3298825"/>
              <a:ext cx="1482600" cy="525300"/>
            </a:xfrm>
            <a:prstGeom prst="roundRect">
              <a:avLst>
                <a:gd fmla="val 16667" name="adj"/>
              </a:avLst>
            </a:prstGeom>
            <a:solidFill>
              <a:srgbClr val="EEFF41">
                <a:alpha val="29800"/>
              </a:srgbClr>
            </a:solidFill>
            <a:ln cap="flat" cmpd="sng" w="9525">
              <a:solidFill>
                <a:srgbClr val="4141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3D3D3D"/>
                  </a:solidFill>
                  <a:latin typeface="Roboto"/>
                  <a:ea typeface="Roboto"/>
                  <a:cs typeface="Roboto"/>
                  <a:sym typeface="Roboto"/>
                </a:rPr>
                <a:t>Mapper</a:t>
              </a:r>
              <a:endParaRPr sz="1100">
                <a:solidFill>
                  <a:srgbClr val="3D3D3D"/>
                </a:solidFill>
                <a:latin typeface="Roboto"/>
                <a:ea typeface="Roboto"/>
                <a:cs typeface="Roboto"/>
                <a:sym typeface="Roboto"/>
              </a:endParaRPr>
            </a:p>
          </p:txBody>
        </p:sp>
        <p:sp>
          <p:nvSpPr>
            <p:cNvPr id="841" name="Google Shape;841;p46"/>
            <p:cNvSpPr/>
            <p:nvPr/>
          </p:nvSpPr>
          <p:spPr>
            <a:xfrm>
              <a:off x="2334400" y="2447250"/>
              <a:ext cx="1482600" cy="525300"/>
            </a:xfrm>
            <a:prstGeom prst="roundRect">
              <a:avLst>
                <a:gd fmla="val 16667" name="adj"/>
              </a:avLst>
            </a:prstGeom>
            <a:solidFill>
              <a:srgbClr val="EEFF41">
                <a:alpha val="29800"/>
              </a:srgbClr>
            </a:solidFill>
            <a:ln cap="flat" cmpd="sng" w="9525">
              <a:solidFill>
                <a:srgbClr val="505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000000"/>
                  </a:solidFill>
                  <a:latin typeface="Roboto"/>
                  <a:ea typeface="Roboto"/>
                  <a:cs typeface="Roboto"/>
                  <a:sym typeface="Roboto"/>
                </a:rPr>
                <a:t>Mapper</a:t>
              </a:r>
              <a:endParaRPr sz="1100">
                <a:solidFill>
                  <a:srgbClr val="000000"/>
                </a:solidFill>
                <a:latin typeface="Roboto"/>
                <a:ea typeface="Roboto"/>
                <a:cs typeface="Roboto"/>
                <a:sym typeface="Roboto"/>
              </a:endParaRPr>
            </a:p>
          </p:txBody>
        </p:sp>
        <p:sp>
          <p:nvSpPr>
            <p:cNvPr id="842" name="Google Shape;842;p46"/>
            <p:cNvSpPr/>
            <p:nvPr/>
          </p:nvSpPr>
          <p:spPr>
            <a:xfrm>
              <a:off x="5474650" y="1595675"/>
              <a:ext cx="1524300" cy="525300"/>
            </a:xfrm>
            <a:prstGeom prst="roundRect">
              <a:avLst>
                <a:gd fmla="val 16667" name="adj"/>
              </a:avLst>
            </a:prstGeom>
            <a:solidFill>
              <a:srgbClr val="3D3D3D"/>
            </a:solidFill>
            <a:ln cap="flat" cmpd="sng" w="9525">
              <a:solidFill>
                <a:srgbClr val="505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Reducer</a:t>
              </a:r>
              <a:endParaRPr sz="1100">
                <a:solidFill>
                  <a:srgbClr val="FFFFFF"/>
                </a:solidFill>
                <a:latin typeface="Roboto"/>
                <a:ea typeface="Roboto"/>
                <a:cs typeface="Roboto"/>
                <a:sym typeface="Roboto"/>
              </a:endParaRPr>
            </a:p>
          </p:txBody>
        </p:sp>
        <p:sp>
          <p:nvSpPr>
            <p:cNvPr id="843" name="Google Shape;843;p46"/>
            <p:cNvSpPr/>
            <p:nvPr/>
          </p:nvSpPr>
          <p:spPr>
            <a:xfrm>
              <a:off x="5474650" y="2447250"/>
              <a:ext cx="1524300" cy="525300"/>
            </a:xfrm>
            <a:prstGeom prst="roundRect">
              <a:avLst>
                <a:gd fmla="val 16667" name="adj"/>
              </a:avLst>
            </a:prstGeom>
            <a:solidFill>
              <a:srgbClr val="3D3D3D"/>
            </a:solidFill>
            <a:ln cap="flat" cmpd="sng" w="9525">
              <a:solidFill>
                <a:srgbClr val="505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100">
                  <a:solidFill>
                    <a:srgbClr val="FFFFFF"/>
                  </a:solidFill>
                  <a:latin typeface="Roboto"/>
                  <a:ea typeface="Roboto"/>
                  <a:cs typeface="Roboto"/>
                  <a:sym typeface="Roboto"/>
                </a:rPr>
                <a:t>Reducer</a:t>
              </a:r>
              <a:endParaRPr sz="1100">
                <a:solidFill>
                  <a:srgbClr val="FFFFFF"/>
                </a:solidFill>
                <a:latin typeface="Roboto"/>
                <a:ea typeface="Roboto"/>
                <a:cs typeface="Roboto"/>
                <a:sym typeface="Roboto"/>
              </a:endParaRPr>
            </a:p>
          </p:txBody>
        </p:sp>
        <p:sp>
          <p:nvSpPr>
            <p:cNvPr id="844" name="Google Shape;844;p46"/>
            <p:cNvSpPr/>
            <p:nvPr/>
          </p:nvSpPr>
          <p:spPr>
            <a:xfrm>
              <a:off x="5474650" y="3298825"/>
              <a:ext cx="1524300" cy="525300"/>
            </a:xfrm>
            <a:prstGeom prst="roundRect">
              <a:avLst>
                <a:gd fmla="val 16667" name="adj"/>
              </a:avLst>
            </a:prstGeom>
            <a:solidFill>
              <a:srgbClr val="3D3D3D"/>
            </a:solidFill>
            <a:ln cap="flat" cmpd="sng" w="9525">
              <a:solidFill>
                <a:srgbClr val="50505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100">
                  <a:solidFill>
                    <a:srgbClr val="FFFFFF"/>
                  </a:solidFill>
                  <a:latin typeface="Roboto"/>
                  <a:ea typeface="Roboto"/>
                  <a:cs typeface="Roboto"/>
                  <a:sym typeface="Roboto"/>
                </a:rPr>
                <a:t>Reducer</a:t>
              </a:r>
              <a:endParaRPr sz="1100">
                <a:solidFill>
                  <a:srgbClr val="FFFFFF"/>
                </a:solidFill>
                <a:latin typeface="Roboto"/>
                <a:ea typeface="Roboto"/>
                <a:cs typeface="Roboto"/>
                <a:sym typeface="Roboto"/>
              </a:endParaRPr>
            </a:p>
          </p:txBody>
        </p:sp>
        <p:cxnSp>
          <p:nvCxnSpPr>
            <p:cNvPr id="845" name="Google Shape;845;p46"/>
            <p:cNvCxnSpPr>
              <a:stCxn id="837" idx="3"/>
              <a:endCxn id="839" idx="1"/>
            </p:cNvCxnSpPr>
            <p:nvPr/>
          </p:nvCxnSpPr>
          <p:spPr>
            <a:xfrm flipH="1" rot="10800000">
              <a:off x="1710847" y="1858211"/>
              <a:ext cx="623700" cy="851700"/>
            </a:xfrm>
            <a:prstGeom prst="straightConnector1">
              <a:avLst/>
            </a:prstGeom>
            <a:noFill/>
            <a:ln cap="flat" cmpd="sng" w="9525">
              <a:solidFill>
                <a:srgbClr val="595959"/>
              </a:solidFill>
              <a:prstDash val="solid"/>
              <a:round/>
              <a:headEnd len="med" w="med" type="none"/>
              <a:tailEnd len="med" w="med" type="triangle"/>
            </a:ln>
          </p:spPr>
        </p:cxnSp>
        <p:cxnSp>
          <p:nvCxnSpPr>
            <p:cNvPr id="846" name="Google Shape;846;p46"/>
            <p:cNvCxnSpPr>
              <a:stCxn id="837" idx="3"/>
              <a:endCxn id="840" idx="1"/>
            </p:cNvCxnSpPr>
            <p:nvPr/>
          </p:nvCxnSpPr>
          <p:spPr>
            <a:xfrm>
              <a:off x="1710847" y="2709911"/>
              <a:ext cx="623700" cy="851700"/>
            </a:xfrm>
            <a:prstGeom prst="straightConnector1">
              <a:avLst/>
            </a:prstGeom>
            <a:noFill/>
            <a:ln cap="flat" cmpd="sng" w="9525">
              <a:solidFill>
                <a:srgbClr val="595959"/>
              </a:solidFill>
              <a:prstDash val="solid"/>
              <a:round/>
              <a:headEnd len="med" w="med" type="none"/>
              <a:tailEnd len="med" w="med" type="triangle"/>
            </a:ln>
          </p:spPr>
        </p:cxnSp>
        <p:cxnSp>
          <p:nvCxnSpPr>
            <p:cNvPr id="847" name="Google Shape;847;p46"/>
            <p:cNvCxnSpPr>
              <a:stCxn id="837" idx="3"/>
              <a:endCxn id="841" idx="1"/>
            </p:cNvCxnSpPr>
            <p:nvPr/>
          </p:nvCxnSpPr>
          <p:spPr>
            <a:xfrm>
              <a:off x="1710847" y="2709911"/>
              <a:ext cx="623700" cy="0"/>
            </a:xfrm>
            <a:prstGeom prst="straightConnector1">
              <a:avLst/>
            </a:prstGeom>
            <a:noFill/>
            <a:ln cap="flat" cmpd="sng" w="9525">
              <a:solidFill>
                <a:srgbClr val="595959"/>
              </a:solidFill>
              <a:prstDash val="solid"/>
              <a:round/>
              <a:headEnd len="med" w="med" type="none"/>
              <a:tailEnd len="med" w="med" type="triangle"/>
            </a:ln>
          </p:spPr>
        </p:cxnSp>
        <p:cxnSp>
          <p:nvCxnSpPr>
            <p:cNvPr id="848" name="Google Shape;848;p46"/>
            <p:cNvCxnSpPr>
              <a:stCxn id="839" idx="3"/>
              <a:endCxn id="842" idx="1"/>
            </p:cNvCxnSpPr>
            <p:nvPr/>
          </p:nvCxnSpPr>
          <p:spPr>
            <a:xfrm>
              <a:off x="3817000" y="1858325"/>
              <a:ext cx="1657800" cy="0"/>
            </a:xfrm>
            <a:prstGeom prst="straightConnector1">
              <a:avLst/>
            </a:prstGeom>
            <a:noFill/>
            <a:ln cap="flat" cmpd="sng" w="9525">
              <a:solidFill>
                <a:srgbClr val="595959"/>
              </a:solidFill>
              <a:prstDash val="solid"/>
              <a:round/>
              <a:headEnd len="med" w="med" type="none"/>
              <a:tailEnd len="med" w="med" type="triangle"/>
            </a:ln>
          </p:spPr>
        </p:cxnSp>
        <p:cxnSp>
          <p:nvCxnSpPr>
            <p:cNvPr id="849" name="Google Shape;849;p46"/>
            <p:cNvCxnSpPr>
              <a:stCxn id="839" idx="3"/>
              <a:endCxn id="843" idx="1"/>
            </p:cNvCxnSpPr>
            <p:nvPr/>
          </p:nvCxnSpPr>
          <p:spPr>
            <a:xfrm>
              <a:off x="3817000" y="1858325"/>
              <a:ext cx="1657800" cy="851700"/>
            </a:xfrm>
            <a:prstGeom prst="straightConnector1">
              <a:avLst/>
            </a:prstGeom>
            <a:noFill/>
            <a:ln cap="flat" cmpd="sng" w="9525">
              <a:solidFill>
                <a:srgbClr val="595959"/>
              </a:solidFill>
              <a:prstDash val="solid"/>
              <a:round/>
              <a:headEnd len="med" w="med" type="none"/>
              <a:tailEnd len="med" w="med" type="triangle"/>
            </a:ln>
          </p:spPr>
        </p:cxnSp>
        <p:cxnSp>
          <p:nvCxnSpPr>
            <p:cNvPr id="850" name="Google Shape;850;p46"/>
            <p:cNvCxnSpPr>
              <a:stCxn id="839" idx="3"/>
              <a:endCxn id="844" idx="1"/>
            </p:cNvCxnSpPr>
            <p:nvPr/>
          </p:nvCxnSpPr>
          <p:spPr>
            <a:xfrm>
              <a:off x="3817000" y="1858325"/>
              <a:ext cx="1657800" cy="1703100"/>
            </a:xfrm>
            <a:prstGeom prst="straightConnector1">
              <a:avLst/>
            </a:prstGeom>
            <a:noFill/>
            <a:ln cap="flat" cmpd="sng" w="9525">
              <a:solidFill>
                <a:srgbClr val="595959"/>
              </a:solidFill>
              <a:prstDash val="solid"/>
              <a:round/>
              <a:headEnd len="med" w="med" type="none"/>
              <a:tailEnd len="med" w="med" type="triangle"/>
            </a:ln>
          </p:spPr>
        </p:cxnSp>
        <p:cxnSp>
          <p:nvCxnSpPr>
            <p:cNvPr id="851" name="Google Shape;851;p46"/>
            <p:cNvCxnSpPr>
              <a:stCxn id="841" idx="3"/>
              <a:endCxn id="842" idx="1"/>
            </p:cNvCxnSpPr>
            <p:nvPr/>
          </p:nvCxnSpPr>
          <p:spPr>
            <a:xfrm flipH="1" rot="10800000">
              <a:off x="3817000" y="1858200"/>
              <a:ext cx="1657800" cy="851700"/>
            </a:xfrm>
            <a:prstGeom prst="straightConnector1">
              <a:avLst/>
            </a:prstGeom>
            <a:noFill/>
            <a:ln cap="flat" cmpd="sng" w="9525">
              <a:solidFill>
                <a:srgbClr val="595959"/>
              </a:solidFill>
              <a:prstDash val="solid"/>
              <a:round/>
              <a:headEnd len="med" w="med" type="none"/>
              <a:tailEnd len="med" w="med" type="triangle"/>
            </a:ln>
          </p:spPr>
        </p:cxnSp>
        <p:cxnSp>
          <p:nvCxnSpPr>
            <p:cNvPr id="852" name="Google Shape;852;p46"/>
            <p:cNvCxnSpPr>
              <a:stCxn id="841" idx="3"/>
              <a:endCxn id="843" idx="1"/>
            </p:cNvCxnSpPr>
            <p:nvPr/>
          </p:nvCxnSpPr>
          <p:spPr>
            <a:xfrm>
              <a:off x="3817000" y="2709900"/>
              <a:ext cx="1657800" cy="0"/>
            </a:xfrm>
            <a:prstGeom prst="straightConnector1">
              <a:avLst/>
            </a:prstGeom>
            <a:noFill/>
            <a:ln cap="flat" cmpd="sng" w="9525">
              <a:solidFill>
                <a:srgbClr val="595959"/>
              </a:solidFill>
              <a:prstDash val="solid"/>
              <a:round/>
              <a:headEnd len="med" w="med" type="none"/>
              <a:tailEnd len="med" w="med" type="triangle"/>
            </a:ln>
          </p:spPr>
        </p:cxnSp>
        <p:cxnSp>
          <p:nvCxnSpPr>
            <p:cNvPr id="853" name="Google Shape;853;p46"/>
            <p:cNvCxnSpPr>
              <a:stCxn id="841" idx="3"/>
              <a:endCxn id="844" idx="1"/>
            </p:cNvCxnSpPr>
            <p:nvPr/>
          </p:nvCxnSpPr>
          <p:spPr>
            <a:xfrm>
              <a:off x="3817000" y="2709900"/>
              <a:ext cx="1657800" cy="851700"/>
            </a:xfrm>
            <a:prstGeom prst="straightConnector1">
              <a:avLst/>
            </a:prstGeom>
            <a:noFill/>
            <a:ln cap="flat" cmpd="sng" w="9525">
              <a:solidFill>
                <a:srgbClr val="595959"/>
              </a:solidFill>
              <a:prstDash val="solid"/>
              <a:round/>
              <a:headEnd len="med" w="med" type="none"/>
              <a:tailEnd len="med" w="med" type="triangle"/>
            </a:ln>
          </p:spPr>
        </p:cxnSp>
        <p:cxnSp>
          <p:nvCxnSpPr>
            <p:cNvPr id="854" name="Google Shape;854;p46"/>
            <p:cNvCxnSpPr>
              <a:stCxn id="840" idx="3"/>
              <a:endCxn id="842" idx="1"/>
            </p:cNvCxnSpPr>
            <p:nvPr/>
          </p:nvCxnSpPr>
          <p:spPr>
            <a:xfrm flipH="1" rot="10800000">
              <a:off x="3817000" y="1858375"/>
              <a:ext cx="1657800" cy="1703100"/>
            </a:xfrm>
            <a:prstGeom prst="straightConnector1">
              <a:avLst/>
            </a:prstGeom>
            <a:noFill/>
            <a:ln cap="flat" cmpd="sng" w="9525">
              <a:solidFill>
                <a:srgbClr val="595959"/>
              </a:solidFill>
              <a:prstDash val="solid"/>
              <a:round/>
              <a:headEnd len="med" w="med" type="none"/>
              <a:tailEnd len="med" w="med" type="triangle"/>
            </a:ln>
          </p:spPr>
        </p:cxnSp>
        <p:cxnSp>
          <p:nvCxnSpPr>
            <p:cNvPr id="855" name="Google Shape;855;p46"/>
            <p:cNvCxnSpPr>
              <a:stCxn id="840" idx="3"/>
              <a:endCxn id="843" idx="1"/>
            </p:cNvCxnSpPr>
            <p:nvPr/>
          </p:nvCxnSpPr>
          <p:spPr>
            <a:xfrm flipH="1" rot="10800000">
              <a:off x="3817000" y="2709775"/>
              <a:ext cx="1657800" cy="851700"/>
            </a:xfrm>
            <a:prstGeom prst="straightConnector1">
              <a:avLst/>
            </a:prstGeom>
            <a:noFill/>
            <a:ln cap="flat" cmpd="sng" w="9525">
              <a:solidFill>
                <a:srgbClr val="595959"/>
              </a:solidFill>
              <a:prstDash val="solid"/>
              <a:round/>
              <a:headEnd len="med" w="med" type="none"/>
              <a:tailEnd len="med" w="med" type="triangle"/>
            </a:ln>
          </p:spPr>
        </p:cxnSp>
        <p:cxnSp>
          <p:nvCxnSpPr>
            <p:cNvPr id="856" name="Google Shape;856;p46"/>
            <p:cNvCxnSpPr>
              <a:stCxn id="840" idx="3"/>
              <a:endCxn id="844" idx="1"/>
            </p:cNvCxnSpPr>
            <p:nvPr/>
          </p:nvCxnSpPr>
          <p:spPr>
            <a:xfrm>
              <a:off x="3817000" y="3561475"/>
              <a:ext cx="1657800" cy="0"/>
            </a:xfrm>
            <a:prstGeom prst="straightConnector1">
              <a:avLst/>
            </a:prstGeom>
            <a:noFill/>
            <a:ln cap="flat" cmpd="sng" w="9525">
              <a:solidFill>
                <a:srgbClr val="595959"/>
              </a:solidFill>
              <a:prstDash val="solid"/>
              <a:round/>
              <a:headEnd len="med" w="med" type="none"/>
              <a:tailEnd len="med" w="med" type="triangle"/>
            </a:ln>
          </p:spPr>
        </p:cxnSp>
        <p:sp>
          <p:nvSpPr>
            <p:cNvPr id="857" name="Google Shape;857;p46"/>
            <p:cNvSpPr/>
            <p:nvPr/>
          </p:nvSpPr>
          <p:spPr>
            <a:xfrm>
              <a:off x="7668299" y="2338172"/>
              <a:ext cx="721800" cy="743400"/>
            </a:xfrm>
            <a:prstGeom prst="rect">
              <a:avLst/>
            </a:prstGeom>
            <a:blipFill rotWithShape="1">
              <a:blip r:embed="rId4">
                <a:alphaModFix/>
              </a:blip>
              <a:stretch>
                <a:fillRect b="0" l="0" r="0" t="0"/>
              </a:stretch>
            </a:blip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cxnSp>
          <p:nvCxnSpPr>
            <p:cNvPr id="858" name="Google Shape;858;p46"/>
            <p:cNvCxnSpPr>
              <a:stCxn id="842" idx="3"/>
              <a:endCxn id="857" idx="1"/>
            </p:cNvCxnSpPr>
            <p:nvPr/>
          </p:nvCxnSpPr>
          <p:spPr>
            <a:xfrm>
              <a:off x="6998950" y="1858325"/>
              <a:ext cx="669300" cy="851400"/>
            </a:xfrm>
            <a:prstGeom prst="straightConnector1">
              <a:avLst/>
            </a:prstGeom>
            <a:noFill/>
            <a:ln cap="flat" cmpd="sng" w="9525">
              <a:solidFill>
                <a:srgbClr val="595959"/>
              </a:solidFill>
              <a:prstDash val="solid"/>
              <a:round/>
              <a:headEnd len="med" w="med" type="none"/>
              <a:tailEnd len="med" w="med" type="triangle"/>
            </a:ln>
          </p:spPr>
        </p:cxnSp>
        <p:cxnSp>
          <p:nvCxnSpPr>
            <p:cNvPr id="859" name="Google Shape;859;p46"/>
            <p:cNvCxnSpPr>
              <a:stCxn id="843" idx="3"/>
              <a:endCxn id="857" idx="1"/>
            </p:cNvCxnSpPr>
            <p:nvPr/>
          </p:nvCxnSpPr>
          <p:spPr>
            <a:xfrm>
              <a:off x="6998950" y="2709900"/>
              <a:ext cx="669300" cy="0"/>
            </a:xfrm>
            <a:prstGeom prst="straightConnector1">
              <a:avLst/>
            </a:prstGeom>
            <a:noFill/>
            <a:ln cap="flat" cmpd="sng" w="9525">
              <a:solidFill>
                <a:srgbClr val="595959"/>
              </a:solidFill>
              <a:prstDash val="solid"/>
              <a:round/>
              <a:headEnd len="med" w="med" type="none"/>
              <a:tailEnd len="med" w="med" type="triangle"/>
            </a:ln>
          </p:spPr>
        </p:cxnSp>
        <p:cxnSp>
          <p:nvCxnSpPr>
            <p:cNvPr id="860" name="Google Shape;860;p46"/>
            <p:cNvCxnSpPr>
              <a:stCxn id="844" idx="3"/>
              <a:endCxn id="857" idx="1"/>
            </p:cNvCxnSpPr>
            <p:nvPr/>
          </p:nvCxnSpPr>
          <p:spPr>
            <a:xfrm flipH="1" rot="10800000">
              <a:off x="6998950" y="2709775"/>
              <a:ext cx="669300" cy="851700"/>
            </a:xfrm>
            <a:prstGeom prst="straightConnector1">
              <a:avLst/>
            </a:prstGeom>
            <a:noFill/>
            <a:ln cap="flat" cmpd="sng" w="9525">
              <a:solidFill>
                <a:srgbClr val="595959"/>
              </a:solidFill>
              <a:prstDash val="solid"/>
              <a:round/>
              <a:headEnd len="med" w="med" type="none"/>
              <a:tailEnd len="med" w="med" type="triangle"/>
            </a:ln>
          </p:spPr>
        </p:cxnSp>
        <p:sp>
          <p:nvSpPr>
            <p:cNvPr id="861" name="Google Shape;861;p46"/>
            <p:cNvSpPr txBox="1"/>
            <p:nvPr/>
          </p:nvSpPr>
          <p:spPr>
            <a:xfrm>
              <a:off x="7354200" y="3473379"/>
              <a:ext cx="1350000" cy="350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Calibri"/>
                <a:buNone/>
              </a:pPr>
              <a:r>
                <a:rPr lang="en" sz="1100">
                  <a:latin typeface="Calibri"/>
                  <a:ea typeface="Calibri"/>
                  <a:cs typeface="Calibri"/>
                  <a:sym typeface="Calibri"/>
                </a:rPr>
                <a:t>Output</a:t>
              </a:r>
              <a:endParaRPr/>
            </a:p>
          </p:txBody>
        </p:sp>
        <p:cxnSp>
          <p:nvCxnSpPr>
            <p:cNvPr id="862" name="Google Shape;862;p46"/>
            <p:cNvCxnSpPr/>
            <p:nvPr/>
          </p:nvCxnSpPr>
          <p:spPr>
            <a:xfrm>
              <a:off x="3992150" y="1339050"/>
              <a:ext cx="25800" cy="2758200"/>
            </a:xfrm>
            <a:prstGeom prst="straightConnector1">
              <a:avLst/>
            </a:prstGeom>
            <a:noFill/>
            <a:ln cap="flat" cmpd="sng" w="9525">
              <a:solidFill>
                <a:srgbClr val="595959"/>
              </a:solidFill>
              <a:prstDash val="lgDash"/>
              <a:round/>
              <a:headEnd len="med" w="med" type="none"/>
              <a:tailEnd len="med" w="med" type="none"/>
            </a:ln>
          </p:spPr>
        </p:cxnSp>
        <p:cxnSp>
          <p:nvCxnSpPr>
            <p:cNvPr id="863" name="Google Shape;863;p46"/>
            <p:cNvCxnSpPr/>
            <p:nvPr/>
          </p:nvCxnSpPr>
          <p:spPr>
            <a:xfrm>
              <a:off x="5283400" y="1339050"/>
              <a:ext cx="17100" cy="2797500"/>
            </a:xfrm>
            <a:prstGeom prst="straightConnector1">
              <a:avLst/>
            </a:prstGeom>
            <a:noFill/>
            <a:ln cap="flat" cmpd="sng" w="9525">
              <a:solidFill>
                <a:srgbClr val="595959"/>
              </a:solidFill>
              <a:prstDash val="lgDash"/>
              <a:round/>
              <a:headEnd len="med" w="med" type="none"/>
              <a:tailEnd len="med" w="med" type="none"/>
            </a:ln>
          </p:spPr>
        </p:cxnSp>
        <p:sp>
          <p:nvSpPr>
            <p:cNvPr id="864" name="Google Shape;864;p46"/>
            <p:cNvSpPr txBox="1"/>
            <p:nvPr/>
          </p:nvSpPr>
          <p:spPr>
            <a:xfrm>
              <a:off x="4017950" y="1276500"/>
              <a:ext cx="1265400" cy="35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595959"/>
                  </a:solidFill>
                </a:rPr>
                <a:t>Shuffling &amp; sorting</a:t>
              </a:r>
              <a:endParaRPr sz="1000">
                <a:solidFill>
                  <a:srgbClr val="595959"/>
                </a:solidFill>
              </a:endParaRPr>
            </a:p>
          </p:txBody>
        </p:sp>
      </p:grpSp>
      <p:grpSp>
        <p:nvGrpSpPr>
          <p:cNvPr id="865" name="Google Shape;865;p46"/>
          <p:cNvGrpSpPr/>
          <p:nvPr/>
        </p:nvGrpSpPr>
        <p:grpSpPr>
          <a:xfrm>
            <a:off x="-1" y="152184"/>
            <a:ext cx="1432688" cy="532245"/>
            <a:chOff x="2267504" y="2540250"/>
            <a:chExt cx="1990951" cy="739640"/>
          </a:xfrm>
        </p:grpSpPr>
        <p:sp>
          <p:nvSpPr>
            <p:cNvPr id="866" name="Google Shape;866;p46"/>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67" name="Google Shape;867;p46"/>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1" name="Shape 871"/>
        <p:cNvGrpSpPr/>
        <p:nvPr/>
      </p:nvGrpSpPr>
      <p:grpSpPr>
        <a:xfrm>
          <a:off x="0" y="0"/>
          <a:ext cx="0" cy="0"/>
          <a:chOff x="0" y="0"/>
          <a:chExt cx="0" cy="0"/>
        </a:xfrm>
      </p:grpSpPr>
      <p:sp>
        <p:nvSpPr>
          <p:cNvPr id="872" name="Google Shape;872;p47"/>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73" name="Google Shape;873;p47"/>
          <p:cNvSpPr/>
          <p:nvPr/>
        </p:nvSpPr>
        <p:spPr>
          <a:xfrm flipH="1">
            <a:off x="0" y="0"/>
            <a:ext cx="9144000" cy="1182000"/>
          </a:xfrm>
          <a:prstGeom prst="rect">
            <a:avLst/>
          </a:prstGeom>
          <a:gradFill>
            <a:gsLst>
              <a:gs pos="0">
                <a:srgbClr val="000000">
                  <a:alpha val="95686"/>
                </a:srgbClr>
              </a:gs>
              <a:gs pos="100000">
                <a:srgbClr val="2F5496"/>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74" name="Google Shape;874;p47"/>
          <p:cNvSpPr/>
          <p:nvPr/>
        </p:nvSpPr>
        <p:spPr>
          <a:xfrm flipH="1" rot="10800000">
            <a:off x="6096643" y="9"/>
            <a:ext cx="3047400" cy="1182300"/>
          </a:xfrm>
          <a:prstGeom prst="rect">
            <a:avLst/>
          </a:prstGeom>
          <a:gradFill>
            <a:gsLst>
              <a:gs pos="0">
                <a:srgbClr val="1F3864">
                  <a:alpha val="67843"/>
                </a:srgbClr>
              </a:gs>
              <a:gs pos="19000">
                <a:srgbClr val="1F3864">
                  <a:alpha val="67843"/>
                </a:srgbClr>
              </a:gs>
              <a:gs pos="100000">
                <a:srgbClr val="4472C4">
                  <a:alpha val="78823"/>
                </a:srgbClr>
              </a:gs>
            </a:gsLst>
            <a:lin ang="1920016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75" name="Google Shape;875;p47"/>
          <p:cNvSpPr/>
          <p:nvPr/>
        </p:nvSpPr>
        <p:spPr>
          <a:xfrm rot="5400000">
            <a:off x="3980851" y="-3980850"/>
            <a:ext cx="1182300" cy="9144000"/>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76" name="Google Shape;876;p47"/>
          <p:cNvSpPr/>
          <p:nvPr/>
        </p:nvSpPr>
        <p:spPr>
          <a:xfrm>
            <a:off x="1279725" y="261650"/>
            <a:ext cx="7281900" cy="658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None/>
            </a:pPr>
            <a:r>
              <a:rPr lang="en" sz="3000">
                <a:solidFill>
                  <a:srgbClr val="FFFFFF"/>
                </a:solidFill>
                <a:latin typeface="Calibri"/>
                <a:ea typeface="Calibri"/>
                <a:cs typeface="Calibri"/>
                <a:sym typeface="Calibri"/>
              </a:rPr>
              <a:t>Example</a:t>
            </a:r>
            <a:endParaRPr sz="1100"/>
          </a:p>
        </p:txBody>
      </p:sp>
      <p:sp>
        <p:nvSpPr>
          <p:cNvPr id="877" name="Google Shape;877;p47"/>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457200" rtl="0" algn="l">
              <a:lnSpc>
                <a:spcPct val="115000"/>
              </a:lnSpc>
              <a:spcBef>
                <a:spcPts val="0"/>
              </a:spcBef>
              <a:spcAft>
                <a:spcPts val="1200"/>
              </a:spcAft>
              <a:buNone/>
            </a:pPr>
            <a:r>
              <a:t/>
            </a:r>
            <a:endParaRPr sz="1800">
              <a:solidFill>
                <a:srgbClr val="595959"/>
              </a:solidFill>
            </a:endParaRPr>
          </a:p>
        </p:txBody>
      </p:sp>
      <p:grpSp>
        <p:nvGrpSpPr>
          <p:cNvPr id="878" name="Google Shape;878;p47"/>
          <p:cNvGrpSpPr/>
          <p:nvPr/>
        </p:nvGrpSpPr>
        <p:grpSpPr>
          <a:xfrm>
            <a:off x="830525" y="1513238"/>
            <a:ext cx="7482950" cy="3228975"/>
            <a:chOff x="914400" y="1152463"/>
            <a:chExt cx="7482950" cy="3228975"/>
          </a:xfrm>
        </p:grpSpPr>
        <p:pic>
          <p:nvPicPr>
            <p:cNvPr id="879" name="Google Shape;879;p47"/>
            <p:cNvPicPr preferRelativeResize="0"/>
            <p:nvPr/>
          </p:nvPicPr>
          <p:blipFill>
            <a:blip r:embed="rId3">
              <a:alphaModFix/>
            </a:blip>
            <a:stretch>
              <a:fillRect/>
            </a:stretch>
          </p:blipFill>
          <p:spPr>
            <a:xfrm>
              <a:off x="914400" y="1152463"/>
              <a:ext cx="7315200" cy="3228975"/>
            </a:xfrm>
            <a:prstGeom prst="rect">
              <a:avLst/>
            </a:prstGeom>
            <a:noFill/>
            <a:ln>
              <a:noFill/>
            </a:ln>
          </p:spPr>
        </p:pic>
        <p:sp>
          <p:nvSpPr>
            <p:cNvPr id="880" name="Google Shape;880;p47"/>
            <p:cNvSpPr txBox="1"/>
            <p:nvPr/>
          </p:nvSpPr>
          <p:spPr>
            <a:xfrm>
              <a:off x="7291550" y="1196275"/>
              <a:ext cx="1105800" cy="4050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595959"/>
                </a:solidFill>
              </a:endParaRPr>
            </a:p>
          </p:txBody>
        </p:sp>
      </p:grpSp>
      <p:grpSp>
        <p:nvGrpSpPr>
          <p:cNvPr id="881" name="Google Shape;881;p47"/>
          <p:cNvGrpSpPr/>
          <p:nvPr/>
        </p:nvGrpSpPr>
        <p:grpSpPr>
          <a:xfrm>
            <a:off x="-1" y="152184"/>
            <a:ext cx="1432688" cy="532245"/>
            <a:chOff x="2267504" y="2540250"/>
            <a:chExt cx="1990951" cy="739640"/>
          </a:xfrm>
        </p:grpSpPr>
        <p:sp>
          <p:nvSpPr>
            <p:cNvPr id="882" name="Google Shape;882;p47"/>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3" name="Google Shape;883;p47"/>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7" name="Shape 887"/>
        <p:cNvGrpSpPr/>
        <p:nvPr/>
      </p:nvGrpSpPr>
      <p:grpSpPr>
        <a:xfrm>
          <a:off x="0" y="0"/>
          <a:ext cx="0" cy="0"/>
          <a:chOff x="0" y="0"/>
          <a:chExt cx="0" cy="0"/>
        </a:xfrm>
      </p:grpSpPr>
      <p:sp>
        <p:nvSpPr>
          <p:cNvPr id="888" name="Google Shape;888;p4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89" name="Google Shape;889;p48"/>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890" name="Google Shape;890;p48"/>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Advantages of </a:t>
            </a:r>
            <a:r>
              <a:rPr lang="en">
                <a:solidFill>
                  <a:schemeClr val="lt1"/>
                </a:solidFill>
              </a:rPr>
              <a:t>MapReduce Implementation</a:t>
            </a:r>
            <a:endParaRPr/>
          </a:p>
        </p:txBody>
      </p:sp>
      <p:grpSp>
        <p:nvGrpSpPr>
          <p:cNvPr id="891" name="Google Shape;891;p48"/>
          <p:cNvGrpSpPr/>
          <p:nvPr/>
        </p:nvGrpSpPr>
        <p:grpSpPr>
          <a:xfrm>
            <a:off x="-1" y="152184"/>
            <a:ext cx="1432688" cy="532245"/>
            <a:chOff x="2267504" y="2540250"/>
            <a:chExt cx="1990951" cy="739640"/>
          </a:xfrm>
        </p:grpSpPr>
        <p:sp>
          <p:nvSpPr>
            <p:cNvPr id="892" name="Google Shape;892;p48"/>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3" name="Google Shape;893;p48"/>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894" name="Google Shape;894;p48"/>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95" name="Google Shape;895;p48"/>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896" name="Google Shape;896;p48"/>
          <p:cNvGrpSpPr/>
          <p:nvPr/>
        </p:nvGrpSpPr>
        <p:grpSpPr>
          <a:xfrm>
            <a:off x="3082209" y="4154928"/>
            <a:ext cx="731373" cy="731374"/>
            <a:chOff x="5829300" y="3162300"/>
            <a:chExt cx="532256" cy="532257"/>
          </a:xfrm>
        </p:grpSpPr>
        <p:sp>
          <p:nvSpPr>
            <p:cNvPr id="897" name="Google Shape;897;p48"/>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8" name="Google Shape;898;p48"/>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99" name="Google Shape;899;p48"/>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0" name="Google Shape;900;p48"/>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1" name="Google Shape;901;p48"/>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2" name="Google Shape;902;p48"/>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3" name="Google Shape;903;p48"/>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4" name="Google Shape;904;p48"/>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5" name="Google Shape;905;p48"/>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6" name="Google Shape;906;p48"/>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7" name="Google Shape;907;p48"/>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8" name="Google Shape;908;p48"/>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09" name="Google Shape;909;p48"/>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910" name="Google Shape;910;p48"/>
          <p:cNvSpPr/>
          <p:nvPr/>
        </p:nvSpPr>
        <p:spPr>
          <a:xfrm>
            <a:off x="4113104" y="359984"/>
            <a:ext cx="4726125" cy="92745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1" name="Google Shape;911;p48"/>
          <p:cNvSpPr/>
          <p:nvPr/>
        </p:nvSpPr>
        <p:spPr>
          <a:xfrm>
            <a:off x="5184323" y="359984"/>
            <a:ext cx="3654900" cy="92745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2" name="Google Shape;912;p48"/>
          <p:cNvSpPr txBox="1"/>
          <p:nvPr/>
        </p:nvSpPr>
        <p:spPr>
          <a:xfrm>
            <a:off x="4113101" y="359975"/>
            <a:ext cx="4726125" cy="92745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None/>
            </a:pPr>
            <a:r>
              <a:rPr b="1" lang="en" sz="1700">
                <a:latin typeface="Calibri"/>
                <a:ea typeface="Calibri"/>
                <a:cs typeface="Calibri"/>
                <a:sym typeface="Calibri"/>
              </a:rPr>
              <a:t>Scalability: </a:t>
            </a:r>
            <a:r>
              <a:rPr lang="en" sz="1700">
                <a:latin typeface="Calibri"/>
                <a:ea typeface="Calibri"/>
                <a:cs typeface="Calibri"/>
                <a:sym typeface="Calibri"/>
              </a:rPr>
              <a:t>Enables processing of large datasets by distributing the workload across multiple nodes.</a:t>
            </a:r>
            <a:endParaRPr sz="1700">
              <a:latin typeface="Calibri"/>
              <a:ea typeface="Calibri"/>
              <a:cs typeface="Calibri"/>
              <a:sym typeface="Calibri"/>
            </a:endParaRPr>
          </a:p>
        </p:txBody>
      </p:sp>
      <p:sp>
        <p:nvSpPr>
          <p:cNvPr id="913" name="Google Shape;913;p48"/>
          <p:cNvSpPr/>
          <p:nvPr/>
        </p:nvSpPr>
        <p:spPr>
          <a:xfrm>
            <a:off x="4113104" y="1519313"/>
            <a:ext cx="4726125" cy="92745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4" name="Google Shape;914;p48"/>
          <p:cNvSpPr/>
          <p:nvPr/>
        </p:nvSpPr>
        <p:spPr>
          <a:xfrm>
            <a:off x="5184323" y="1519313"/>
            <a:ext cx="3654900" cy="92745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5" name="Google Shape;915;p48"/>
          <p:cNvSpPr txBox="1"/>
          <p:nvPr/>
        </p:nvSpPr>
        <p:spPr>
          <a:xfrm>
            <a:off x="4113100" y="1519325"/>
            <a:ext cx="4726125" cy="92745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Fault Tolerance:</a:t>
            </a:r>
            <a:r>
              <a:rPr lang="en" sz="1700">
                <a:solidFill>
                  <a:schemeClr val="dk1"/>
                </a:solidFill>
                <a:latin typeface="Calibri"/>
                <a:ea typeface="Calibri"/>
                <a:cs typeface="Calibri"/>
                <a:sym typeface="Calibri"/>
              </a:rPr>
              <a:t> Provides fault tolerance by replicating data and re-executing failed tasks.</a:t>
            </a:r>
            <a:endParaRPr sz="1100"/>
          </a:p>
        </p:txBody>
      </p:sp>
      <p:sp>
        <p:nvSpPr>
          <p:cNvPr id="916" name="Google Shape;916;p48"/>
          <p:cNvSpPr/>
          <p:nvPr/>
        </p:nvSpPr>
        <p:spPr>
          <a:xfrm>
            <a:off x="4113104" y="2678641"/>
            <a:ext cx="4726200" cy="927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7" name="Google Shape;917;p48"/>
          <p:cNvSpPr/>
          <p:nvPr/>
        </p:nvSpPr>
        <p:spPr>
          <a:xfrm>
            <a:off x="5184323" y="2678641"/>
            <a:ext cx="3654900" cy="927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8" name="Google Shape;918;p48"/>
          <p:cNvSpPr txBox="1"/>
          <p:nvPr/>
        </p:nvSpPr>
        <p:spPr>
          <a:xfrm>
            <a:off x="4113101" y="2678675"/>
            <a:ext cx="4726200" cy="927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Parallelism: </a:t>
            </a:r>
            <a:r>
              <a:rPr lang="en" sz="1700">
                <a:solidFill>
                  <a:schemeClr val="dk1"/>
                </a:solidFill>
                <a:latin typeface="Calibri"/>
                <a:ea typeface="Calibri"/>
                <a:cs typeface="Calibri"/>
                <a:sym typeface="Calibri"/>
              </a:rPr>
              <a:t>Processes data in parallel, leading to high throughput and reduced processing time.</a:t>
            </a:r>
            <a:endParaRPr sz="1100"/>
          </a:p>
        </p:txBody>
      </p:sp>
      <p:sp>
        <p:nvSpPr>
          <p:cNvPr id="919" name="Google Shape;919;p48"/>
          <p:cNvSpPr txBox="1"/>
          <p:nvPr/>
        </p:nvSpPr>
        <p:spPr>
          <a:xfrm>
            <a:off x="4229551" y="4056813"/>
            <a:ext cx="4726200" cy="927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Parallelism: </a:t>
            </a:r>
            <a:r>
              <a:rPr lang="en" sz="1700">
                <a:solidFill>
                  <a:schemeClr val="dk1"/>
                </a:solidFill>
                <a:latin typeface="Calibri"/>
                <a:ea typeface="Calibri"/>
                <a:cs typeface="Calibri"/>
                <a:sym typeface="Calibri"/>
              </a:rPr>
              <a:t>Processes data in parallel, leading to high throughput and reduced processing time.</a:t>
            </a:r>
            <a:endParaRPr sz="1100"/>
          </a:p>
        </p:txBody>
      </p:sp>
      <p:sp>
        <p:nvSpPr>
          <p:cNvPr id="920" name="Google Shape;920;p48"/>
          <p:cNvSpPr/>
          <p:nvPr/>
        </p:nvSpPr>
        <p:spPr>
          <a:xfrm>
            <a:off x="4113104" y="3838166"/>
            <a:ext cx="4726200" cy="927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rPr b="1" lang="en" sz="1700">
                <a:latin typeface="Calibri"/>
                <a:ea typeface="Calibri"/>
                <a:cs typeface="Calibri"/>
                <a:sym typeface="Calibri"/>
              </a:rPr>
              <a:t>Ecosystem Support:</a:t>
            </a:r>
            <a:r>
              <a:rPr lang="en" sz="1700">
                <a:latin typeface="Calibri"/>
                <a:ea typeface="Calibri"/>
                <a:cs typeface="Calibri"/>
                <a:sym typeface="Calibri"/>
              </a:rPr>
              <a:t> Rich ecosystem of tools and libraries extends functionality.</a:t>
            </a:r>
            <a:endParaRPr sz="17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4" name="Shape 924"/>
        <p:cNvGrpSpPr/>
        <p:nvPr/>
      </p:nvGrpSpPr>
      <p:grpSpPr>
        <a:xfrm>
          <a:off x="0" y="0"/>
          <a:ext cx="0" cy="0"/>
          <a:chOff x="0" y="0"/>
          <a:chExt cx="0" cy="0"/>
        </a:xfrm>
      </p:grpSpPr>
      <p:sp>
        <p:nvSpPr>
          <p:cNvPr id="925" name="Google Shape;925;p49"/>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26" name="Google Shape;926;p49"/>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27" name="Google Shape;927;p49"/>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Shortcomings of </a:t>
            </a:r>
            <a:r>
              <a:rPr lang="en">
                <a:solidFill>
                  <a:schemeClr val="lt1"/>
                </a:solidFill>
              </a:rPr>
              <a:t>MapReduce Implementation</a:t>
            </a:r>
            <a:endParaRPr/>
          </a:p>
        </p:txBody>
      </p:sp>
      <p:grpSp>
        <p:nvGrpSpPr>
          <p:cNvPr id="928" name="Google Shape;928;p49"/>
          <p:cNvGrpSpPr/>
          <p:nvPr/>
        </p:nvGrpSpPr>
        <p:grpSpPr>
          <a:xfrm>
            <a:off x="-1" y="152184"/>
            <a:ext cx="1432688" cy="532245"/>
            <a:chOff x="2267504" y="2540250"/>
            <a:chExt cx="1990951" cy="739640"/>
          </a:xfrm>
        </p:grpSpPr>
        <p:sp>
          <p:nvSpPr>
            <p:cNvPr id="929" name="Google Shape;929;p49"/>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0" name="Google Shape;930;p49"/>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931" name="Google Shape;931;p49"/>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32" name="Google Shape;932;p49"/>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933" name="Google Shape;933;p49"/>
          <p:cNvGrpSpPr/>
          <p:nvPr/>
        </p:nvGrpSpPr>
        <p:grpSpPr>
          <a:xfrm>
            <a:off x="3082209" y="4154928"/>
            <a:ext cx="731373" cy="731374"/>
            <a:chOff x="5829300" y="3162300"/>
            <a:chExt cx="532256" cy="532257"/>
          </a:xfrm>
        </p:grpSpPr>
        <p:sp>
          <p:nvSpPr>
            <p:cNvPr id="934" name="Google Shape;934;p49"/>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5" name="Google Shape;935;p49"/>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6" name="Google Shape;936;p49"/>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7" name="Google Shape;937;p49"/>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8" name="Google Shape;938;p49"/>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39" name="Google Shape;939;p49"/>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0" name="Google Shape;940;p49"/>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1" name="Google Shape;941;p49"/>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2" name="Google Shape;942;p49"/>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3" name="Google Shape;943;p49"/>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4" name="Google Shape;944;p49"/>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5" name="Google Shape;945;p49"/>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46" name="Google Shape;946;p49"/>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947" name="Google Shape;947;p49"/>
          <p:cNvGrpSpPr/>
          <p:nvPr/>
        </p:nvGrpSpPr>
        <p:grpSpPr>
          <a:xfrm>
            <a:off x="4113100" y="359975"/>
            <a:ext cx="4726129" cy="4405450"/>
            <a:chOff x="-5" y="2427"/>
            <a:chExt cx="6301505" cy="5873933"/>
          </a:xfrm>
        </p:grpSpPr>
        <p:sp>
          <p:nvSpPr>
            <p:cNvPr id="948" name="Google Shape;948;p49"/>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9" name="Google Shape;949;p49"/>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0" name="Google Shape;950;p49"/>
            <p:cNvSpPr txBox="1"/>
            <p:nvPr/>
          </p:nvSpPr>
          <p:spPr>
            <a:xfrm>
              <a:off x="-5" y="2427"/>
              <a:ext cx="6301500" cy="1236600"/>
            </a:xfrm>
            <a:prstGeom prst="rect">
              <a:avLst/>
            </a:prstGeom>
            <a:noFill/>
            <a:ln>
              <a:noFill/>
            </a:ln>
          </p:spPr>
          <p:txBody>
            <a:bodyPr anchorCtr="0" anchor="ctr" bIns="98150" lIns="98150" spcFirstLastPara="1" rIns="98150" wrap="square" tIns="98150">
              <a:noAutofit/>
            </a:bodyPr>
            <a:lstStyle/>
            <a:p>
              <a:pPr indent="0" lvl="0" marL="0" rtl="0" algn="ctr">
                <a:lnSpc>
                  <a:spcPct val="90000"/>
                </a:lnSpc>
                <a:spcBef>
                  <a:spcPts val="0"/>
                </a:spcBef>
                <a:spcAft>
                  <a:spcPts val="0"/>
                </a:spcAft>
                <a:buNone/>
              </a:pPr>
              <a:r>
                <a:rPr b="1" lang="en" sz="1700">
                  <a:latin typeface="Calibri"/>
                  <a:ea typeface="Calibri"/>
                  <a:cs typeface="Calibri"/>
                  <a:sym typeface="Calibri"/>
                </a:rPr>
                <a:t>High Latency:</a:t>
              </a:r>
              <a:r>
                <a:rPr lang="en" sz="1700">
                  <a:latin typeface="Calibri"/>
                  <a:ea typeface="Calibri"/>
                  <a:cs typeface="Calibri"/>
                  <a:sym typeface="Calibri"/>
                </a:rPr>
                <a:t> Multiple disk I/O and network shuffling stages lead to high latency.</a:t>
              </a:r>
              <a:endParaRPr sz="1700">
                <a:latin typeface="Calibri"/>
                <a:ea typeface="Calibri"/>
                <a:cs typeface="Calibri"/>
                <a:sym typeface="Calibri"/>
              </a:endParaRPr>
            </a:p>
          </p:txBody>
        </p:sp>
        <p:sp>
          <p:nvSpPr>
            <p:cNvPr id="951" name="Google Shape;951;p49"/>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2" name="Google Shape;952;p49"/>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3" name="Google Shape;953;p49"/>
            <p:cNvSpPr txBox="1"/>
            <p:nvPr/>
          </p:nvSpPr>
          <p:spPr>
            <a:xfrm>
              <a:off x="-5" y="1548227"/>
              <a:ext cx="63015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Limited Optimization: </a:t>
              </a:r>
              <a:r>
                <a:rPr lang="en" sz="1700">
                  <a:solidFill>
                    <a:schemeClr val="dk1"/>
                  </a:solidFill>
                  <a:latin typeface="Calibri"/>
                  <a:ea typeface="Calibri"/>
                  <a:cs typeface="Calibri"/>
                  <a:sym typeface="Calibri"/>
                </a:rPr>
                <a:t>Lack of advanced optimization techniques affects performance.</a:t>
              </a:r>
              <a:endParaRPr sz="1100"/>
            </a:p>
          </p:txBody>
        </p:sp>
        <p:sp>
          <p:nvSpPr>
            <p:cNvPr id="954" name="Google Shape;954;p49"/>
            <p:cNvSpPr/>
            <p:nvPr/>
          </p:nvSpPr>
          <p:spPr>
            <a:xfrm>
              <a:off x="0" y="3093981"/>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5" name="Google Shape;955;p49"/>
            <p:cNvSpPr/>
            <p:nvPr/>
          </p:nvSpPr>
          <p:spPr>
            <a:xfrm>
              <a:off x="1428292" y="3093981"/>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6" name="Google Shape;956;p49"/>
            <p:cNvSpPr txBox="1"/>
            <p:nvPr/>
          </p:nvSpPr>
          <p:spPr>
            <a:xfrm>
              <a:off x="-5" y="3093993"/>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Programming Complexity:</a:t>
              </a:r>
              <a:r>
                <a:rPr lang="en" sz="1700">
                  <a:solidFill>
                    <a:schemeClr val="dk1"/>
                  </a:solidFill>
                  <a:latin typeface="Calibri"/>
                  <a:ea typeface="Calibri"/>
                  <a:cs typeface="Calibri"/>
                  <a:sym typeface="Calibri"/>
                </a:rPr>
                <a:t> Handling low-level details makes development complex.</a:t>
              </a:r>
              <a:endParaRPr sz="1100"/>
            </a:p>
          </p:txBody>
        </p:sp>
        <p:sp>
          <p:nvSpPr>
            <p:cNvPr id="957" name="Google Shape;957;p49"/>
            <p:cNvSpPr/>
            <p:nvPr/>
          </p:nvSpPr>
          <p:spPr>
            <a:xfrm>
              <a:off x="0" y="4639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8" name="Google Shape;958;p49"/>
            <p:cNvSpPr/>
            <p:nvPr/>
          </p:nvSpPr>
          <p:spPr>
            <a:xfrm>
              <a:off x="1428292" y="4639752"/>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9" name="Google Shape;959;p49"/>
            <p:cNvSpPr txBox="1"/>
            <p:nvPr/>
          </p:nvSpPr>
          <p:spPr>
            <a:xfrm>
              <a:off x="-5" y="4639760"/>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b="1" lang="en" sz="1700">
                  <a:solidFill>
                    <a:schemeClr val="dk1"/>
                  </a:solidFill>
                  <a:latin typeface="Calibri"/>
                  <a:ea typeface="Calibri"/>
                  <a:cs typeface="Calibri"/>
                  <a:sym typeface="Calibri"/>
                </a:rPr>
                <a:t>Batch Processing:</a:t>
              </a:r>
              <a:r>
                <a:rPr lang="en" sz="1700">
                  <a:solidFill>
                    <a:schemeClr val="dk1"/>
                  </a:solidFill>
                  <a:latin typeface="Calibri"/>
                  <a:ea typeface="Calibri"/>
                  <a:cs typeface="Calibri"/>
                  <a:sym typeface="Calibri"/>
                </a:rPr>
                <a:t> Designed primarily for batch processing, not real-time or low-latency tasks.</a:t>
              </a:r>
              <a:endParaRPr sz="11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963" name="Shape 963"/>
        <p:cNvGrpSpPr/>
        <p:nvPr/>
      </p:nvGrpSpPr>
      <p:grpSpPr>
        <a:xfrm>
          <a:off x="0" y="0"/>
          <a:ext cx="0" cy="0"/>
          <a:chOff x="0" y="0"/>
          <a:chExt cx="0" cy="0"/>
        </a:xfrm>
      </p:grpSpPr>
      <p:sp>
        <p:nvSpPr>
          <p:cNvPr id="964" name="Google Shape;964;p50"/>
          <p:cNvSpPr/>
          <p:nvPr/>
        </p:nvSpPr>
        <p:spPr>
          <a:xfrm>
            <a:off x="1465326" y="0"/>
            <a:ext cx="6213348" cy="51435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65" name="Google Shape;965;p50"/>
          <p:cNvSpPr/>
          <p:nvPr/>
        </p:nvSpPr>
        <p:spPr>
          <a:xfrm>
            <a:off x="1588770" y="0"/>
            <a:ext cx="5966460" cy="51435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66" name="Google Shape;966;p50"/>
          <p:cNvSpPr/>
          <p:nvPr/>
        </p:nvSpPr>
        <p:spPr>
          <a:xfrm>
            <a:off x="1916723" y="1081453"/>
            <a:ext cx="5310600" cy="29805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500"/>
              </a:spcBef>
              <a:spcAft>
                <a:spcPts val="0"/>
              </a:spcAft>
              <a:buNone/>
            </a:pPr>
            <a:r>
              <a:rPr lang="en" sz="4100">
                <a:solidFill>
                  <a:srgbClr val="0C0C0C"/>
                </a:solidFill>
                <a:latin typeface="Calibri"/>
                <a:ea typeface="Calibri"/>
                <a:cs typeface="Calibri"/>
                <a:sym typeface="Calibri"/>
              </a:rPr>
              <a:t>Post MapReduce Technologies</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0" name="Shape 970"/>
        <p:cNvGrpSpPr/>
        <p:nvPr/>
      </p:nvGrpSpPr>
      <p:grpSpPr>
        <a:xfrm>
          <a:off x="0" y="0"/>
          <a:ext cx="0" cy="0"/>
          <a:chOff x="0" y="0"/>
          <a:chExt cx="0" cy="0"/>
        </a:xfrm>
      </p:grpSpPr>
      <p:sp>
        <p:nvSpPr>
          <p:cNvPr id="971" name="Google Shape;971;p5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2" name="Google Shape;972;p51"/>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973" name="Google Shape;973;p51"/>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The Hadoop MapReduce Implementation</a:t>
            </a:r>
            <a:endParaRPr/>
          </a:p>
        </p:txBody>
      </p:sp>
      <p:grpSp>
        <p:nvGrpSpPr>
          <p:cNvPr id="974" name="Google Shape;974;p51"/>
          <p:cNvGrpSpPr/>
          <p:nvPr/>
        </p:nvGrpSpPr>
        <p:grpSpPr>
          <a:xfrm>
            <a:off x="-1" y="152184"/>
            <a:ext cx="1432688" cy="532245"/>
            <a:chOff x="2267504" y="2540250"/>
            <a:chExt cx="1990951" cy="739640"/>
          </a:xfrm>
        </p:grpSpPr>
        <p:sp>
          <p:nvSpPr>
            <p:cNvPr id="975" name="Google Shape;975;p51"/>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76" name="Google Shape;976;p51"/>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977" name="Google Shape;977;p51"/>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78" name="Google Shape;978;p51"/>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979" name="Google Shape;979;p51"/>
          <p:cNvGrpSpPr/>
          <p:nvPr/>
        </p:nvGrpSpPr>
        <p:grpSpPr>
          <a:xfrm>
            <a:off x="3082209" y="4154928"/>
            <a:ext cx="731373" cy="731374"/>
            <a:chOff x="5829300" y="3162300"/>
            <a:chExt cx="532256" cy="532257"/>
          </a:xfrm>
        </p:grpSpPr>
        <p:sp>
          <p:nvSpPr>
            <p:cNvPr id="980" name="Google Shape;980;p51"/>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1" name="Google Shape;981;p51"/>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2" name="Google Shape;982;p51"/>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3" name="Google Shape;983;p51"/>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4" name="Google Shape;984;p51"/>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5" name="Google Shape;985;p51"/>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6" name="Google Shape;986;p51"/>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7" name="Google Shape;987;p51"/>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8" name="Google Shape;988;p51"/>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89" name="Google Shape;989;p51"/>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90" name="Google Shape;990;p51"/>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91" name="Google Shape;991;p51"/>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92" name="Google Shape;992;p51"/>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993" name="Google Shape;993;p51"/>
          <p:cNvGrpSpPr/>
          <p:nvPr/>
        </p:nvGrpSpPr>
        <p:grpSpPr>
          <a:xfrm>
            <a:off x="4113100" y="359975"/>
            <a:ext cx="4726129" cy="4405450"/>
            <a:chOff x="-5" y="2427"/>
            <a:chExt cx="6301505" cy="5873933"/>
          </a:xfrm>
        </p:grpSpPr>
        <p:sp>
          <p:nvSpPr>
            <p:cNvPr id="994" name="Google Shape;994;p51"/>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5" name="Google Shape;995;p51"/>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6" name="Google Shape;996;p51"/>
            <p:cNvSpPr txBox="1"/>
            <p:nvPr/>
          </p:nvSpPr>
          <p:spPr>
            <a:xfrm>
              <a:off x="-5" y="24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None/>
              </a:pPr>
              <a:r>
                <a:rPr lang="en" sz="1700">
                  <a:latin typeface="Calibri"/>
                  <a:ea typeface="Calibri"/>
                  <a:cs typeface="Calibri"/>
                  <a:sym typeface="Calibri"/>
                </a:rPr>
                <a:t>There wasn’t much traction until Yahoo open-sourced the Hadoop implementation</a:t>
              </a:r>
              <a:endParaRPr sz="1700">
                <a:latin typeface="Calibri"/>
                <a:ea typeface="Calibri"/>
                <a:cs typeface="Calibri"/>
                <a:sym typeface="Calibri"/>
              </a:endParaRPr>
            </a:p>
          </p:txBody>
        </p:sp>
        <p:sp>
          <p:nvSpPr>
            <p:cNvPr id="997" name="Google Shape;997;p51"/>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8" name="Google Shape;998;p51"/>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9" name="Google Shape;999;p51"/>
            <p:cNvSpPr txBox="1"/>
            <p:nvPr/>
          </p:nvSpPr>
          <p:spPr>
            <a:xfrm>
              <a:off x="-5" y="1548227"/>
              <a:ext cx="63015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Stimulated a range of projects: </a:t>
              </a:r>
              <a:r>
                <a:rPr lang="en" sz="1700">
                  <a:solidFill>
                    <a:schemeClr val="dk1"/>
                  </a:solidFill>
                  <a:latin typeface="Calibri"/>
                  <a:ea typeface="Calibri"/>
                  <a:cs typeface="Calibri"/>
                  <a:sym typeface="Calibri"/>
                </a:rPr>
                <a:t>Dryad</a:t>
              </a:r>
              <a:r>
                <a:rPr lang="en" sz="1700">
                  <a:solidFill>
                    <a:schemeClr val="dk1"/>
                  </a:solidFill>
                  <a:latin typeface="Calibri"/>
                  <a:ea typeface="Calibri"/>
                  <a:cs typeface="Calibri"/>
                  <a:sym typeface="Calibri"/>
                </a:rPr>
                <a:t>, Hive and Pig</a:t>
              </a:r>
              <a:endParaRPr sz="1100"/>
            </a:p>
          </p:txBody>
        </p:sp>
        <p:sp>
          <p:nvSpPr>
            <p:cNvPr id="1000" name="Google Shape;1000;p51"/>
            <p:cNvSpPr/>
            <p:nvPr/>
          </p:nvSpPr>
          <p:spPr>
            <a:xfrm>
              <a:off x="0" y="3093981"/>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1" name="Google Shape;1001;p51"/>
            <p:cNvSpPr/>
            <p:nvPr/>
          </p:nvSpPr>
          <p:spPr>
            <a:xfrm>
              <a:off x="1428292" y="3093981"/>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2" name="Google Shape;1002;p51"/>
            <p:cNvSpPr txBox="1"/>
            <p:nvPr/>
          </p:nvSpPr>
          <p:spPr>
            <a:xfrm>
              <a:off x="-5" y="3093993"/>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Attracted developers and VC investment</a:t>
              </a:r>
              <a:endParaRPr sz="1100"/>
            </a:p>
          </p:txBody>
        </p:sp>
        <p:sp>
          <p:nvSpPr>
            <p:cNvPr id="1003" name="Google Shape;1003;p51"/>
            <p:cNvSpPr/>
            <p:nvPr/>
          </p:nvSpPr>
          <p:spPr>
            <a:xfrm>
              <a:off x="0" y="4639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4" name="Google Shape;1004;p51"/>
            <p:cNvSpPr/>
            <p:nvPr/>
          </p:nvSpPr>
          <p:spPr>
            <a:xfrm>
              <a:off x="1428292" y="4639752"/>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5" name="Google Shape;1005;p51"/>
            <p:cNvSpPr txBox="1"/>
            <p:nvPr/>
          </p:nvSpPr>
          <p:spPr>
            <a:xfrm>
              <a:off x="-5" y="4639760"/>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Research started </a:t>
              </a:r>
              <a:r>
                <a:rPr lang="en" sz="1700">
                  <a:solidFill>
                    <a:schemeClr val="dk1"/>
                  </a:solidFill>
                  <a:latin typeface="Calibri"/>
                  <a:ea typeface="Calibri"/>
                  <a:cs typeface="Calibri"/>
                  <a:sym typeface="Calibri"/>
                </a:rPr>
                <a:t>investigating</a:t>
              </a:r>
              <a:r>
                <a:rPr lang="en" sz="1700">
                  <a:solidFill>
                    <a:schemeClr val="dk1"/>
                  </a:solidFill>
                  <a:latin typeface="Calibri"/>
                  <a:ea typeface="Calibri"/>
                  <a:cs typeface="Calibri"/>
                  <a:sym typeface="Calibri"/>
                </a:rPr>
                <a:t> solutions for straggler mitigation, fault tolerance, and alternative programming models</a:t>
              </a:r>
              <a:endParaRPr sz="1100"/>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9" name="Shape 1009"/>
        <p:cNvGrpSpPr/>
        <p:nvPr/>
      </p:nvGrpSpPr>
      <p:grpSpPr>
        <a:xfrm>
          <a:off x="0" y="0"/>
          <a:ext cx="0" cy="0"/>
          <a:chOff x="0" y="0"/>
          <a:chExt cx="0" cy="0"/>
        </a:xfrm>
      </p:grpSpPr>
      <p:sp>
        <p:nvSpPr>
          <p:cNvPr id="1010" name="Google Shape;1010;p52"/>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11" name="Google Shape;1011;p52"/>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12" name="Google Shape;1012;p52"/>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Post-MapReduce Systems</a:t>
            </a:r>
            <a:endParaRPr/>
          </a:p>
        </p:txBody>
      </p:sp>
      <p:grpSp>
        <p:nvGrpSpPr>
          <p:cNvPr id="1013" name="Google Shape;1013;p52"/>
          <p:cNvGrpSpPr/>
          <p:nvPr/>
        </p:nvGrpSpPr>
        <p:grpSpPr>
          <a:xfrm>
            <a:off x="-1" y="152184"/>
            <a:ext cx="1432688" cy="532245"/>
            <a:chOff x="2267504" y="2540250"/>
            <a:chExt cx="1990951" cy="739640"/>
          </a:xfrm>
        </p:grpSpPr>
        <p:sp>
          <p:nvSpPr>
            <p:cNvPr id="1014" name="Google Shape;1014;p52"/>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15" name="Google Shape;1015;p52"/>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016" name="Google Shape;1016;p52"/>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17" name="Google Shape;1017;p52"/>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018" name="Google Shape;1018;p52"/>
          <p:cNvGrpSpPr/>
          <p:nvPr/>
        </p:nvGrpSpPr>
        <p:grpSpPr>
          <a:xfrm>
            <a:off x="3082209" y="4154928"/>
            <a:ext cx="731373" cy="731374"/>
            <a:chOff x="5829300" y="3162300"/>
            <a:chExt cx="532256" cy="532257"/>
          </a:xfrm>
        </p:grpSpPr>
        <p:sp>
          <p:nvSpPr>
            <p:cNvPr id="1019" name="Google Shape;1019;p52"/>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0" name="Google Shape;1020;p52"/>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1" name="Google Shape;1021;p52"/>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2" name="Google Shape;1022;p52"/>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3" name="Google Shape;1023;p52"/>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4" name="Google Shape;1024;p52"/>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5" name="Google Shape;1025;p52"/>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6" name="Google Shape;1026;p52"/>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7" name="Google Shape;1027;p52"/>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8" name="Google Shape;1028;p52"/>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29" name="Google Shape;1029;p52"/>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0" name="Google Shape;1030;p52"/>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31" name="Google Shape;1031;p52"/>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032" name="Google Shape;1032;p52"/>
          <p:cNvGrpSpPr/>
          <p:nvPr/>
        </p:nvGrpSpPr>
        <p:grpSpPr>
          <a:xfrm>
            <a:off x="4113100" y="359984"/>
            <a:ext cx="4726129" cy="4405441"/>
            <a:chOff x="-5" y="2439"/>
            <a:chExt cx="6301505" cy="5873921"/>
          </a:xfrm>
        </p:grpSpPr>
        <p:sp>
          <p:nvSpPr>
            <p:cNvPr id="1033" name="Google Shape;1033;p52"/>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4" name="Google Shape;1034;p52"/>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5" name="Google Shape;1035;p52"/>
            <p:cNvSpPr txBox="1"/>
            <p:nvPr/>
          </p:nvSpPr>
          <p:spPr>
            <a:xfrm>
              <a:off x="-5" y="246027"/>
              <a:ext cx="6301500" cy="1236600"/>
            </a:xfrm>
            <a:prstGeom prst="rect">
              <a:avLst/>
            </a:prstGeom>
            <a:noFill/>
            <a:ln>
              <a:noFill/>
            </a:ln>
          </p:spPr>
          <p:txBody>
            <a:bodyPr anchorCtr="0" anchor="ctr" bIns="98150" lIns="98150" spcFirstLastPara="1" rIns="98150" wrap="square" tIns="98150">
              <a:noAutofit/>
            </a:bodyPr>
            <a:lstStyle/>
            <a:p>
              <a:pPr indent="0" lvl="0" marL="0" rtl="0" algn="ctr">
                <a:lnSpc>
                  <a:spcPct val="90000"/>
                </a:lnSpc>
                <a:spcBef>
                  <a:spcPts val="1200"/>
                </a:spcBef>
                <a:spcAft>
                  <a:spcPts val="0"/>
                </a:spcAft>
                <a:buClr>
                  <a:schemeClr val="dk1"/>
                </a:buClr>
                <a:buSzPts val="1100"/>
                <a:buFont typeface="Arial"/>
                <a:buNone/>
              </a:pPr>
              <a:r>
                <a:rPr lang="en" sz="1700">
                  <a:solidFill>
                    <a:schemeClr val="dk1"/>
                  </a:solidFill>
                  <a:latin typeface="Calibri"/>
                  <a:ea typeface="Calibri"/>
                  <a:cs typeface="Calibri"/>
                  <a:sym typeface="Calibri"/>
                </a:rPr>
                <a:t>Expanded interface and functionality to include more sophisticated declarative interfaces, query optimization strategies, and efficient runtimes.</a:t>
              </a:r>
              <a:endParaRPr sz="1700">
                <a:solidFill>
                  <a:schemeClr val="dk1"/>
                </a:solidFill>
                <a:latin typeface="Calibri"/>
                <a:ea typeface="Calibri"/>
                <a:cs typeface="Calibri"/>
                <a:sym typeface="Calibri"/>
              </a:endParaRPr>
            </a:p>
            <a:p>
              <a:pPr indent="0" lvl="0" marL="0" marR="0" rtl="0" algn="ctr">
                <a:lnSpc>
                  <a:spcPct val="90000"/>
                </a:lnSpc>
                <a:spcBef>
                  <a:spcPts val="1200"/>
                </a:spcBef>
                <a:spcAft>
                  <a:spcPts val="0"/>
                </a:spcAft>
                <a:buNone/>
              </a:pPr>
              <a:r>
                <a:t/>
              </a:r>
              <a:endParaRPr sz="1700">
                <a:latin typeface="Calibri"/>
                <a:ea typeface="Calibri"/>
                <a:cs typeface="Calibri"/>
                <a:sym typeface="Calibri"/>
              </a:endParaRPr>
            </a:p>
          </p:txBody>
        </p:sp>
        <p:sp>
          <p:nvSpPr>
            <p:cNvPr id="1036" name="Google Shape;1036;p52"/>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7" name="Google Shape;1037;p52"/>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8" name="Google Shape;1038;p52"/>
            <p:cNvSpPr txBox="1"/>
            <p:nvPr/>
          </p:nvSpPr>
          <p:spPr>
            <a:xfrm>
              <a:off x="-5" y="15482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Today’s technologies implement features from RDBMs.</a:t>
              </a:r>
              <a:endParaRPr sz="1100"/>
            </a:p>
          </p:txBody>
        </p:sp>
        <p:sp>
          <p:nvSpPr>
            <p:cNvPr id="1039" name="Google Shape;1039;p52"/>
            <p:cNvSpPr/>
            <p:nvPr/>
          </p:nvSpPr>
          <p:spPr>
            <a:xfrm>
              <a:off x="0" y="3093981"/>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0" name="Google Shape;1040;p52"/>
            <p:cNvSpPr/>
            <p:nvPr/>
          </p:nvSpPr>
          <p:spPr>
            <a:xfrm>
              <a:off x="1428292" y="3093981"/>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1" name="Google Shape;1041;p52"/>
            <p:cNvSpPr txBox="1"/>
            <p:nvPr/>
          </p:nvSpPr>
          <p:spPr>
            <a:xfrm>
              <a:off x="-5" y="3093993"/>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In the Hadoop ecosystem, data flow engines became the </a:t>
              </a:r>
              <a:r>
                <a:rPr lang="en" sz="1700">
                  <a:solidFill>
                    <a:schemeClr val="dk1"/>
                  </a:solidFill>
                  <a:latin typeface="Calibri"/>
                  <a:ea typeface="Calibri"/>
                  <a:cs typeface="Calibri"/>
                  <a:sym typeface="Calibri"/>
                </a:rPr>
                <a:t>substrate</a:t>
              </a:r>
              <a:r>
                <a:rPr lang="en" sz="1700">
                  <a:solidFill>
                    <a:schemeClr val="dk1"/>
                  </a:solidFill>
                  <a:latin typeface="Calibri"/>
                  <a:ea typeface="Calibri"/>
                  <a:cs typeface="Calibri"/>
                  <a:sym typeface="Calibri"/>
                </a:rPr>
                <a:t> for higher level functionality.</a:t>
              </a:r>
              <a:endParaRPr sz="1100"/>
            </a:p>
          </p:txBody>
        </p:sp>
        <p:sp>
          <p:nvSpPr>
            <p:cNvPr id="1042" name="Google Shape;1042;p52"/>
            <p:cNvSpPr/>
            <p:nvPr/>
          </p:nvSpPr>
          <p:spPr>
            <a:xfrm>
              <a:off x="0" y="4639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3" name="Google Shape;1043;p52"/>
            <p:cNvSpPr/>
            <p:nvPr/>
          </p:nvSpPr>
          <p:spPr>
            <a:xfrm>
              <a:off x="1428292" y="4639752"/>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4" name="Google Shape;1044;p52"/>
            <p:cNvSpPr txBox="1"/>
            <p:nvPr/>
          </p:nvSpPr>
          <p:spPr>
            <a:xfrm>
              <a:off x="-5" y="4639760"/>
              <a:ext cx="6301500" cy="1236600"/>
            </a:xfrm>
            <a:prstGeom prst="rect">
              <a:avLst/>
            </a:prstGeom>
            <a:noFill/>
            <a:ln>
              <a:noFill/>
            </a:ln>
          </p:spPr>
          <p:txBody>
            <a:bodyPr anchorCtr="0" anchor="ctr" bIns="98150" lIns="98150" spcFirstLastPara="1" rIns="98150" wrap="square" tIns="98150">
              <a:noAutofit/>
            </a:bodyPr>
            <a:lstStyle/>
            <a:p>
              <a:pPr indent="0" lvl="0" marL="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DryadLINQ: most interesting for its interface</a:t>
              </a:r>
              <a:endParaRPr sz="1100">
                <a:solidFill>
                  <a:schemeClr val="dk1"/>
                </a:solidFill>
              </a:endParaRPr>
            </a:p>
            <a:p>
              <a:pPr indent="0" lvl="0" marL="0" marR="0" rtl="0" algn="ctr">
                <a:lnSpc>
                  <a:spcPct val="90000"/>
                </a:lnSpc>
                <a:spcBef>
                  <a:spcPts val="0"/>
                </a:spcBef>
                <a:spcAft>
                  <a:spcPts val="0"/>
                </a:spcAft>
                <a:buClr>
                  <a:schemeClr val="dk1"/>
                </a:buClr>
                <a:buSzPts val="1700"/>
                <a:buFont typeface="Calibri"/>
                <a:buNone/>
              </a:pPr>
              <a:r>
                <a:t/>
              </a:r>
              <a:endParaRPr sz="1700">
                <a:solidFill>
                  <a:schemeClr val="dk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8" name="Shape 1048"/>
        <p:cNvGrpSpPr/>
        <p:nvPr/>
      </p:nvGrpSpPr>
      <p:grpSpPr>
        <a:xfrm>
          <a:off x="0" y="0"/>
          <a:ext cx="0" cy="0"/>
          <a:chOff x="0" y="0"/>
          <a:chExt cx="0" cy="0"/>
        </a:xfrm>
      </p:grpSpPr>
      <p:sp>
        <p:nvSpPr>
          <p:cNvPr id="1049" name="Google Shape;1049;p53"/>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50" name="Google Shape;1050;p53"/>
          <p:cNvSpPr/>
          <p:nvPr/>
        </p:nvSpPr>
        <p:spPr>
          <a:xfrm flipH="1">
            <a:off x="0" y="0"/>
            <a:ext cx="9144000" cy="1182000"/>
          </a:xfrm>
          <a:prstGeom prst="rect">
            <a:avLst/>
          </a:prstGeom>
          <a:gradFill>
            <a:gsLst>
              <a:gs pos="0">
                <a:srgbClr val="000000">
                  <a:alpha val="95686"/>
                </a:srgbClr>
              </a:gs>
              <a:gs pos="100000">
                <a:srgbClr val="2F5496"/>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51" name="Google Shape;1051;p53"/>
          <p:cNvSpPr/>
          <p:nvPr/>
        </p:nvSpPr>
        <p:spPr>
          <a:xfrm flipH="1" rot="10800000">
            <a:off x="6096643" y="9"/>
            <a:ext cx="3047400" cy="1182300"/>
          </a:xfrm>
          <a:prstGeom prst="rect">
            <a:avLst/>
          </a:prstGeom>
          <a:gradFill>
            <a:gsLst>
              <a:gs pos="0">
                <a:srgbClr val="1F3864">
                  <a:alpha val="67843"/>
                </a:srgbClr>
              </a:gs>
              <a:gs pos="19000">
                <a:srgbClr val="1F3864">
                  <a:alpha val="67843"/>
                </a:srgbClr>
              </a:gs>
              <a:gs pos="100000">
                <a:srgbClr val="4472C4">
                  <a:alpha val="78823"/>
                </a:srgbClr>
              </a:gs>
            </a:gsLst>
            <a:lin ang="1920016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52" name="Google Shape;1052;p53"/>
          <p:cNvSpPr/>
          <p:nvPr/>
        </p:nvSpPr>
        <p:spPr>
          <a:xfrm rot="5400000">
            <a:off x="3980851" y="-3980850"/>
            <a:ext cx="1182300" cy="9144000"/>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53" name="Google Shape;1053;p53"/>
          <p:cNvSpPr/>
          <p:nvPr/>
        </p:nvSpPr>
        <p:spPr>
          <a:xfrm>
            <a:off x="1028698" y="261649"/>
            <a:ext cx="7533000" cy="658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None/>
            </a:pPr>
            <a:r>
              <a:rPr lang="en" sz="3000">
                <a:solidFill>
                  <a:srgbClr val="FFFFFF"/>
                </a:solidFill>
                <a:latin typeface="Calibri"/>
                <a:ea typeface="Calibri"/>
                <a:cs typeface="Calibri"/>
                <a:sym typeface="Calibri"/>
              </a:rPr>
              <a:t>Impact and Legacy</a:t>
            </a:r>
            <a:endParaRPr sz="1100"/>
          </a:p>
        </p:txBody>
      </p:sp>
      <p:grpSp>
        <p:nvGrpSpPr>
          <p:cNvPr id="1054" name="Google Shape;1054;p53"/>
          <p:cNvGrpSpPr/>
          <p:nvPr/>
        </p:nvGrpSpPr>
        <p:grpSpPr>
          <a:xfrm>
            <a:off x="146452" y="1788461"/>
            <a:ext cx="5872500" cy="2700000"/>
            <a:chOff x="1548914" y="296402"/>
            <a:chExt cx="7830000" cy="3600000"/>
          </a:xfrm>
        </p:grpSpPr>
        <p:sp>
          <p:nvSpPr>
            <p:cNvPr id="1055" name="Google Shape;1055;p53"/>
            <p:cNvSpPr/>
            <p:nvPr/>
          </p:nvSpPr>
          <p:spPr>
            <a:xfrm>
              <a:off x="2250914" y="296402"/>
              <a:ext cx="2196000" cy="2196000"/>
            </a:xfrm>
            <a:prstGeom prst="ellipse">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6" name="Google Shape;1056;p53"/>
            <p:cNvSpPr/>
            <p:nvPr/>
          </p:nvSpPr>
          <p:spPr>
            <a:xfrm>
              <a:off x="1548914" y="3176402"/>
              <a:ext cx="3600000" cy="720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7" name="Google Shape;1057;p53"/>
            <p:cNvSpPr txBox="1"/>
            <p:nvPr/>
          </p:nvSpPr>
          <p:spPr>
            <a:xfrm>
              <a:off x="2461244" y="927638"/>
              <a:ext cx="1705500" cy="1045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900"/>
                <a:buFont typeface="Calibri"/>
                <a:buNone/>
              </a:pPr>
              <a:r>
                <a:rPr lang="en" sz="1900">
                  <a:solidFill>
                    <a:schemeClr val="lt1"/>
                  </a:solidFill>
                  <a:latin typeface="Calibri"/>
                  <a:ea typeface="Calibri"/>
                  <a:cs typeface="Calibri"/>
                  <a:sym typeface="Calibri"/>
                </a:rPr>
                <a:t>Schema </a:t>
              </a:r>
              <a:r>
                <a:rPr lang="en" sz="1900">
                  <a:solidFill>
                    <a:schemeClr val="lt1"/>
                  </a:solidFill>
                  <a:latin typeface="Calibri"/>
                  <a:ea typeface="Calibri"/>
                  <a:cs typeface="Calibri"/>
                  <a:sym typeface="Calibri"/>
                </a:rPr>
                <a:t>Flexibility</a:t>
              </a:r>
              <a:endParaRPr sz="1100">
                <a:solidFill>
                  <a:schemeClr val="lt1"/>
                </a:solidFill>
              </a:endParaRPr>
            </a:p>
          </p:txBody>
        </p:sp>
        <p:sp>
          <p:nvSpPr>
            <p:cNvPr id="1058" name="Google Shape;1058;p53"/>
            <p:cNvSpPr/>
            <p:nvPr/>
          </p:nvSpPr>
          <p:spPr>
            <a:xfrm>
              <a:off x="5778914" y="3176402"/>
              <a:ext cx="3600000" cy="7200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1059" name="Google Shape;1059;p53"/>
          <p:cNvSpPr/>
          <p:nvPr/>
        </p:nvSpPr>
        <p:spPr>
          <a:xfrm>
            <a:off x="3785378" y="1788461"/>
            <a:ext cx="1647000" cy="1647000"/>
          </a:xfrm>
          <a:prstGeom prst="ellipse">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0" name="Google Shape;1060;p53"/>
          <p:cNvSpPr/>
          <p:nvPr/>
        </p:nvSpPr>
        <p:spPr>
          <a:xfrm>
            <a:off x="7107927" y="1892261"/>
            <a:ext cx="1647000" cy="1647000"/>
          </a:xfrm>
          <a:prstGeom prst="ellipse">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1" name="Google Shape;1061;p53"/>
          <p:cNvSpPr txBox="1"/>
          <p:nvPr/>
        </p:nvSpPr>
        <p:spPr>
          <a:xfrm>
            <a:off x="3969275" y="2261838"/>
            <a:ext cx="1279200" cy="784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900"/>
              <a:buFont typeface="Calibri"/>
              <a:buNone/>
            </a:pPr>
            <a:r>
              <a:rPr lang="en" sz="1900">
                <a:solidFill>
                  <a:schemeClr val="lt1"/>
                </a:solidFill>
                <a:latin typeface="Calibri"/>
                <a:ea typeface="Calibri"/>
                <a:cs typeface="Calibri"/>
                <a:sym typeface="Calibri"/>
              </a:rPr>
              <a:t>Interface </a:t>
            </a:r>
            <a:r>
              <a:rPr lang="en" sz="1900">
                <a:solidFill>
                  <a:schemeClr val="lt1"/>
                </a:solidFill>
                <a:latin typeface="Calibri"/>
                <a:ea typeface="Calibri"/>
                <a:cs typeface="Calibri"/>
                <a:sym typeface="Calibri"/>
              </a:rPr>
              <a:t>Flexibility</a:t>
            </a:r>
            <a:endParaRPr sz="1100">
              <a:solidFill>
                <a:schemeClr val="lt1"/>
              </a:solidFill>
            </a:endParaRPr>
          </a:p>
        </p:txBody>
      </p:sp>
      <p:sp>
        <p:nvSpPr>
          <p:cNvPr id="1062" name="Google Shape;1062;p53"/>
          <p:cNvSpPr txBox="1"/>
          <p:nvPr/>
        </p:nvSpPr>
        <p:spPr>
          <a:xfrm>
            <a:off x="7291825" y="2323638"/>
            <a:ext cx="1279200" cy="7842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900"/>
              <a:buFont typeface="Calibri"/>
              <a:buNone/>
            </a:pPr>
            <a:r>
              <a:rPr lang="en" sz="1900">
                <a:solidFill>
                  <a:schemeClr val="lt1"/>
                </a:solidFill>
                <a:latin typeface="Calibri"/>
                <a:ea typeface="Calibri"/>
                <a:cs typeface="Calibri"/>
                <a:sym typeface="Calibri"/>
              </a:rPr>
              <a:t>Architectural</a:t>
            </a:r>
            <a:r>
              <a:rPr lang="en" sz="1900">
                <a:solidFill>
                  <a:schemeClr val="lt1"/>
                </a:solidFill>
                <a:latin typeface="Calibri"/>
                <a:ea typeface="Calibri"/>
                <a:cs typeface="Calibri"/>
                <a:sym typeface="Calibri"/>
              </a:rPr>
              <a:t> Flexibility</a:t>
            </a:r>
            <a:endParaRPr sz="11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6" name="Shape 1066"/>
        <p:cNvGrpSpPr/>
        <p:nvPr/>
      </p:nvGrpSpPr>
      <p:grpSpPr>
        <a:xfrm>
          <a:off x="0" y="0"/>
          <a:ext cx="0" cy="0"/>
          <a:chOff x="0" y="0"/>
          <a:chExt cx="0" cy="0"/>
        </a:xfrm>
      </p:grpSpPr>
      <p:sp>
        <p:nvSpPr>
          <p:cNvPr id="1067" name="Google Shape;1067;p5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68" name="Google Shape;1068;p54"/>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069" name="Google Shape;1069;p54"/>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Schema Flexibility</a:t>
            </a:r>
            <a:endParaRPr/>
          </a:p>
        </p:txBody>
      </p:sp>
      <p:grpSp>
        <p:nvGrpSpPr>
          <p:cNvPr id="1070" name="Google Shape;1070;p54"/>
          <p:cNvGrpSpPr/>
          <p:nvPr/>
        </p:nvGrpSpPr>
        <p:grpSpPr>
          <a:xfrm>
            <a:off x="-1" y="152184"/>
            <a:ext cx="1432688" cy="532245"/>
            <a:chOff x="2267504" y="2540250"/>
            <a:chExt cx="1990951" cy="739640"/>
          </a:xfrm>
        </p:grpSpPr>
        <p:sp>
          <p:nvSpPr>
            <p:cNvPr id="1071" name="Google Shape;1071;p54"/>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72" name="Google Shape;1072;p54"/>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073" name="Google Shape;1073;p54"/>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74" name="Google Shape;1074;p54"/>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075" name="Google Shape;1075;p54"/>
          <p:cNvGrpSpPr/>
          <p:nvPr/>
        </p:nvGrpSpPr>
        <p:grpSpPr>
          <a:xfrm>
            <a:off x="3082209" y="4154928"/>
            <a:ext cx="731373" cy="731374"/>
            <a:chOff x="5829300" y="3162300"/>
            <a:chExt cx="532256" cy="532257"/>
          </a:xfrm>
        </p:grpSpPr>
        <p:sp>
          <p:nvSpPr>
            <p:cNvPr id="1076" name="Google Shape;1076;p54"/>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77" name="Google Shape;1077;p54"/>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78" name="Google Shape;1078;p54"/>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79" name="Google Shape;1079;p54"/>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0" name="Google Shape;1080;p54"/>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1" name="Google Shape;1081;p54"/>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2" name="Google Shape;1082;p54"/>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3" name="Google Shape;1083;p54"/>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4" name="Google Shape;1084;p54"/>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5" name="Google Shape;1085;p54"/>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6" name="Google Shape;1086;p54"/>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7" name="Google Shape;1087;p54"/>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088" name="Google Shape;1088;p54"/>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089" name="Google Shape;1089;p54"/>
          <p:cNvGrpSpPr/>
          <p:nvPr/>
        </p:nvGrpSpPr>
        <p:grpSpPr>
          <a:xfrm>
            <a:off x="4113100" y="359975"/>
            <a:ext cx="4726129" cy="4405450"/>
            <a:chOff x="-5" y="2427"/>
            <a:chExt cx="6301505" cy="5873933"/>
          </a:xfrm>
        </p:grpSpPr>
        <p:sp>
          <p:nvSpPr>
            <p:cNvPr id="1090" name="Google Shape;1090;p54"/>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1" name="Google Shape;1091;p54"/>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2" name="Google Shape;1092;p54"/>
            <p:cNvSpPr txBox="1"/>
            <p:nvPr/>
          </p:nvSpPr>
          <p:spPr>
            <a:xfrm>
              <a:off x="-5" y="24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None/>
              </a:pPr>
              <a:r>
                <a:rPr lang="en" sz="1700">
                  <a:latin typeface="Calibri"/>
                  <a:ea typeface="Calibri"/>
                  <a:cs typeface="Calibri"/>
                  <a:sym typeface="Calibri"/>
                </a:rPr>
                <a:t>MapReduce systems can process </a:t>
              </a:r>
              <a:r>
                <a:rPr lang="en" sz="1700">
                  <a:latin typeface="Calibri"/>
                  <a:ea typeface="Calibri"/>
                  <a:cs typeface="Calibri"/>
                  <a:sym typeface="Calibri"/>
                </a:rPr>
                <a:t>arbitrarily</a:t>
              </a:r>
              <a:r>
                <a:rPr lang="en" sz="1700">
                  <a:latin typeface="Calibri"/>
                  <a:ea typeface="Calibri"/>
                  <a:cs typeface="Calibri"/>
                  <a:sym typeface="Calibri"/>
                </a:rPr>
                <a:t> structured data. </a:t>
              </a:r>
              <a:endParaRPr sz="1700">
                <a:latin typeface="Calibri"/>
                <a:ea typeface="Calibri"/>
                <a:cs typeface="Calibri"/>
                <a:sym typeface="Calibri"/>
              </a:endParaRPr>
            </a:p>
          </p:txBody>
        </p:sp>
        <p:sp>
          <p:nvSpPr>
            <p:cNvPr id="1093" name="Google Shape;1093;p54"/>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4" name="Google Shape;1094;p54"/>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5" name="Google Shape;1095;p54"/>
            <p:cNvSpPr txBox="1"/>
            <p:nvPr/>
          </p:nvSpPr>
          <p:spPr>
            <a:xfrm>
              <a:off x="-5" y="15482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Major shift from traditional data warehouses: key factor behind the rise of “Big Data”</a:t>
              </a:r>
              <a:endParaRPr sz="1100"/>
            </a:p>
          </p:txBody>
        </p:sp>
        <p:sp>
          <p:nvSpPr>
            <p:cNvPr id="1096" name="Google Shape;1096;p54"/>
            <p:cNvSpPr/>
            <p:nvPr/>
          </p:nvSpPr>
          <p:spPr>
            <a:xfrm>
              <a:off x="0" y="3093981"/>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7" name="Google Shape;1097;p54"/>
            <p:cNvSpPr/>
            <p:nvPr/>
          </p:nvSpPr>
          <p:spPr>
            <a:xfrm>
              <a:off x="1428292" y="3093981"/>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8" name="Google Shape;1098;p54"/>
            <p:cNvSpPr txBox="1"/>
            <p:nvPr/>
          </p:nvSpPr>
          <p:spPr>
            <a:xfrm>
              <a:off x="-5" y="3093993"/>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ETL tasks for major workload for post-MapReduce engines</a:t>
              </a:r>
              <a:endParaRPr sz="1100"/>
            </a:p>
          </p:txBody>
        </p:sp>
        <p:sp>
          <p:nvSpPr>
            <p:cNvPr id="1099" name="Google Shape;1099;p54"/>
            <p:cNvSpPr/>
            <p:nvPr/>
          </p:nvSpPr>
          <p:spPr>
            <a:xfrm>
              <a:off x="0" y="4639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0" name="Google Shape;1100;p54"/>
            <p:cNvSpPr/>
            <p:nvPr/>
          </p:nvSpPr>
          <p:spPr>
            <a:xfrm>
              <a:off x="1428292" y="4639752"/>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1" name="Google Shape;1101;p54"/>
            <p:cNvSpPr txBox="1"/>
            <p:nvPr/>
          </p:nvSpPr>
          <p:spPr>
            <a:xfrm>
              <a:off x="-5" y="4639760"/>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Impacts novices, experts and architects.</a:t>
              </a:r>
              <a:endParaRPr sz="11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5" name="Shape 1105"/>
        <p:cNvGrpSpPr/>
        <p:nvPr/>
      </p:nvGrpSpPr>
      <p:grpSpPr>
        <a:xfrm>
          <a:off x="0" y="0"/>
          <a:ext cx="0" cy="0"/>
          <a:chOff x="0" y="0"/>
          <a:chExt cx="0" cy="0"/>
        </a:xfrm>
      </p:grpSpPr>
      <p:sp>
        <p:nvSpPr>
          <p:cNvPr id="1106" name="Google Shape;1106;p55"/>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07" name="Google Shape;1107;p55"/>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08" name="Google Shape;1108;p55"/>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Interface</a:t>
            </a:r>
            <a:r>
              <a:rPr lang="en">
                <a:solidFill>
                  <a:schemeClr val="lt1"/>
                </a:solidFill>
              </a:rPr>
              <a:t> Flexibility</a:t>
            </a:r>
            <a:endParaRPr/>
          </a:p>
        </p:txBody>
      </p:sp>
      <p:grpSp>
        <p:nvGrpSpPr>
          <p:cNvPr id="1109" name="Google Shape;1109;p55"/>
          <p:cNvGrpSpPr/>
          <p:nvPr/>
        </p:nvGrpSpPr>
        <p:grpSpPr>
          <a:xfrm>
            <a:off x="-1" y="152184"/>
            <a:ext cx="1432688" cy="532245"/>
            <a:chOff x="2267504" y="2540250"/>
            <a:chExt cx="1990951" cy="739640"/>
          </a:xfrm>
        </p:grpSpPr>
        <p:sp>
          <p:nvSpPr>
            <p:cNvPr id="1110" name="Google Shape;1110;p55"/>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1" name="Google Shape;1111;p55"/>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112" name="Google Shape;1112;p55"/>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13" name="Google Shape;1113;p55"/>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114" name="Google Shape;1114;p55"/>
          <p:cNvGrpSpPr/>
          <p:nvPr/>
        </p:nvGrpSpPr>
        <p:grpSpPr>
          <a:xfrm>
            <a:off x="3082209" y="4154928"/>
            <a:ext cx="731373" cy="731374"/>
            <a:chOff x="5829300" y="3162300"/>
            <a:chExt cx="532256" cy="532257"/>
          </a:xfrm>
        </p:grpSpPr>
        <p:sp>
          <p:nvSpPr>
            <p:cNvPr id="1115" name="Google Shape;1115;p55"/>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6" name="Google Shape;1116;p55"/>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7" name="Google Shape;1117;p55"/>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8" name="Google Shape;1118;p55"/>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19" name="Google Shape;1119;p55"/>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0" name="Google Shape;1120;p55"/>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1" name="Google Shape;1121;p55"/>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2" name="Google Shape;1122;p55"/>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3" name="Google Shape;1123;p55"/>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4" name="Google Shape;1124;p55"/>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5" name="Google Shape;1125;p55"/>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6" name="Google Shape;1126;p55"/>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27" name="Google Shape;1127;p55"/>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128" name="Google Shape;1128;p55"/>
          <p:cNvGrpSpPr/>
          <p:nvPr/>
        </p:nvGrpSpPr>
        <p:grpSpPr>
          <a:xfrm>
            <a:off x="4113100" y="359975"/>
            <a:ext cx="4726129" cy="4405450"/>
            <a:chOff x="-5" y="2427"/>
            <a:chExt cx="6301505" cy="5873933"/>
          </a:xfrm>
        </p:grpSpPr>
        <p:sp>
          <p:nvSpPr>
            <p:cNvPr id="1129" name="Google Shape;1129;p55"/>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0" name="Google Shape;1130;p55"/>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1" name="Google Shape;1131;p55"/>
            <p:cNvSpPr txBox="1"/>
            <p:nvPr/>
          </p:nvSpPr>
          <p:spPr>
            <a:xfrm>
              <a:off x="-5" y="24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None/>
              </a:pPr>
              <a:r>
                <a:rPr lang="en" sz="1700">
                  <a:latin typeface="Calibri"/>
                  <a:ea typeface="Calibri"/>
                  <a:cs typeface="Calibri"/>
                  <a:sym typeface="Calibri"/>
                </a:rPr>
                <a:t>Interfaces that allow users to program using a combination of paradigms.</a:t>
              </a:r>
              <a:endParaRPr sz="1700">
                <a:latin typeface="Calibri"/>
                <a:ea typeface="Calibri"/>
                <a:cs typeface="Calibri"/>
                <a:sym typeface="Calibri"/>
              </a:endParaRPr>
            </a:p>
          </p:txBody>
        </p:sp>
        <p:sp>
          <p:nvSpPr>
            <p:cNvPr id="1132" name="Google Shape;1132;p55"/>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3" name="Google Shape;1133;p55"/>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4" name="Google Shape;1134;p55"/>
            <p:cNvSpPr txBox="1"/>
            <p:nvPr/>
          </p:nvSpPr>
          <p:spPr>
            <a:xfrm>
              <a:off x="-5" y="15482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Make user-defined computations easier to express</a:t>
              </a:r>
              <a:endParaRPr sz="1100"/>
            </a:p>
          </p:txBody>
        </p:sp>
        <p:sp>
          <p:nvSpPr>
            <p:cNvPr id="1135" name="Google Shape;1135;p55"/>
            <p:cNvSpPr/>
            <p:nvPr/>
          </p:nvSpPr>
          <p:spPr>
            <a:xfrm>
              <a:off x="0" y="3093981"/>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6" name="Google Shape;1136;p55"/>
            <p:cNvSpPr/>
            <p:nvPr/>
          </p:nvSpPr>
          <p:spPr>
            <a:xfrm>
              <a:off x="1428292" y="3093981"/>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7" name="Google Shape;1137;p55"/>
            <p:cNvSpPr txBox="1"/>
            <p:nvPr/>
          </p:nvSpPr>
          <p:spPr>
            <a:xfrm>
              <a:off x="-5" y="3093993"/>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Strong selling point for data selling officers</a:t>
              </a:r>
              <a:endParaRPr sz="1100"/>
            </a:p>
          </p:txBody>
        </p:sp>
        <p:sp>
          <p:nvSpPr>
            <p:cNvPr id="1138" name="Google Shape;1138;p55"/>
            <p:cNvSpPr/>
            <p:nvPr/>
          </p:nvSpPr>
          <p:spPr>
            <a:xfrm>
              <a:off x="0" y="4639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9" name="Google Shape;1139;p55"/>
            <p:cNvSpPr/>
            <p:nvPr/>
          </p:nvSpPr>
          <p:spPr>
            <a:xfrm>
              <a:off x="1428292" y="4639752"/>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0" name="Google Shape;1140;p55"/>
            <p:cNvSpPr txBox="1"/>
            <p:nvPr/>
          </p:nvSpPr>
          <p:spPr>
            <a:xfrm>
              <a:off x="-5" y="4639760"/>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Impacts experts and architects</a:t>
              </a:r>
              <a:endParaRPr sz="11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4" name="Shape 1144"/>
        <p:cNvGrpSpPr/>
        <p:nvPr/>
      </p:nvGrpSpPr>
      <p:grpSpPr>
        <a:xfrm>
          <a:off x="0" y="0"/>
          <a:ext cx="0" cy="0"/>
          <a:chOff x="0" y="0"/>
          <a:chExt cx="0" cy="0"/>
        </a:xfrm>
      </p:grpSpPr>
      <p:sp>
        <p:nvSpPr>
          <p:cNvPr id="1145" name="Google Shape;1145;p56"/>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46" name="Google Shape;1146;p56"/>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147" name="Google Shape;1147;p56"/>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Architectural </a:t>
            </a:r>
            <a:r>
              <a:rPr lang="en">
                <a:solidFill>
                  <a:schemeClr val="lt1"/>
                </a:solidFill>
              </a:rPr>
              <a:t>Flexibility</a:t>
            </a:r>
            <a:endParaRPr/>
          </a:p>
        </p:txBody>
      </p:sp>
      <p:grpSp>
        <p:nvGrpSpPr>
          <p:cNvPr id="1148" name="Google Shape;1148;p56"/>
          <p:cNvGrpSpPr/>
          <p:nvPr/>
        </p:nvGrpSpPr>
        <p:grpSpPr>
          <a:xfrm>
            <a:off x="-1" y="152184"/>
            <a:ext cx="1432688" cy="532245"/>
            <a:chOff x="2267504" y="2540250"/>
            <a:chExt cx="1990951" cy="739640"/>
          </a:xfrm>
        </p:grpSpPr>
        <p:sp>
          <p:nvSpPr>
            <p:cNvPr id="1149" name="Google Shape;1149;p56"/>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0" name="Google Shape;1150;p56"/>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151" name="Google Shape;1151;p56"/>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52" name="Google Shape;1152;p56"/>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153" name="Google Shape;1153;p56"/>
          <p:cNvGrpSpPr/>
          <p:nvPr/>
        </p:nvGrpSpPr>
        <p:grpSpPr>
          <a:xfrm>
            <a:off x="3082209" y="4154928"/>
            <a:ext cx="731373" cy="731374"/>
            <a:chOff x="5829300" y="3162300"/>
            <a:chExt cx="532256" cy="532257"/>
          </a:xfrm>
        </p:grpSpPr>
        <p:sp>
          <p:nvSpPr>
            <p:cNvPr id="1154" name="Google Shape;1154;p56"/>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5" name="Google Shape;1155;p56"/>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6" name="Google Shape;1156;p56"/>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7" name="Google Shape;1157;p56"/>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8" name="Google Shape;1158;p56"/>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59" name="Google Shape;1159;p56"/>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0" name="Google Shape;1160;p56"/>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1" name="Google Shape;1161;p56"/>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2" name="Google Shape;1162;p56"/>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3" name="Google Shape;1163;p56"/>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4" name="Google Shape;1164;p56"/>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5" name="Google Shape;1165;p56"/>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6" name="Google Shape;1166;p56"/>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167" name="Google Shape;1167;p56"/>
          <p:cNvGrpSpPr/>
          <p:nvPr/>
        </p:nvGrpSpPr>
        <p:grpSpPr>
          <a:xfrm>
            <a:off x="4113100" y="359975"/>
            <a:ext cx="4726129" cy="4405450"/>
            <a:chOff x="-5" y="2427"/>
            <a:chExt cx="6301505" cy="5873933"/>
          </a:xfrm>
        </p:grpSpPr>
        <p:sp>
          <p:nvSpPr>
            <p:cNvPr id="1168" name="Google Shape;1168;p56"/>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9" name="Google Shape;1169;p56"/>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0" name="Google Shape;1170;p56"/>
            <p:cNvSpPr txBox="1"/>
            <p:nvPr/>
          </p:nvSpPr>
          <p:spPr>
            <a:xfrm>
              <a:off x="-5" y="24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None/>
              </a:pPr>
              <a:r>
                <a:rPr lang="en" sz="1700">
                  <a:latin typeface="Calibri"/>
                  <a:ea typeface="Calibri"/>
                  <a:cs typeface="Calibri"/>
                  <a:sym typeface="Calibri"/>
                </a:rPr>
                <a:t>Hadoop ecosystems builds data warehouses as a series of modules</a:t>
              </a:r>
              <a:endParaRPr sz="1700">
                <a:latin typeface="Calibri"/>
                <a:ea typeface="Calibri"/>
                <a:cs typeface="Calibri"/>
                <a:sym typeface="Calibri"/>
              </a:endParaRPr>
            </a:p>
          </p:txBody>
        </p:sp>
        <p:sp>
          <p:nvSpPr>
            <p:cNvPr id="1171" name="Google Shape;1171;p56"/>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2" name="Google Shape;1172;p56"/>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3" name="Google Shape;1173;p56"/>
            <p:cNvSpPr txBox="1"/>
            <p:nvPr/>
          </p:nvSpPr>
          <p:spPr>
            <a:xfrm>
              <a:off x="-5" y="15482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Write and run programs </a:t>
              </a:r>
              <a:r>
                <a:rPr lang="en" sz="1700">
                  <a:solidFill>
                    <a:schemeClr val="dk1"/>
                  </a:solidFill>
                  <a:latin typeface="Calibri"/>
                  <a:ea typeface="Calibri"/>
                  <a:cs typeface="Calibri"/>
                  <a:sym typeface="Calibri"/>
                </a:rPr>
                <a:t>against</a:t>
              </a:r>
              <a:r>
                <a:rPr lang="en" sz="1700">
                  <a:solidFill>
                    <a:schemeClr val="dk1"/>
                  </a:solidFill>
                  <a:latin typeface="Calibri"/>
                  <a:ea typeface="Calibri"/>
                  <a:cs typeface="Calibri"/>
                  <a:sym typeface="Calibri"/>
                </a:rPr>
                <a:t> the raw file system or any number of dataflow engines. </a:t>
              </a:r>
              <a:endParaRPr sz="1100"/>
            </a:p>
          </p:txBody>
        </p:sp>
        <p:sp>
          <p:nvSpPr>
            <p:cNvPr id="1174" name="Google Shape;1174;p56"/>
            <p:cNvSpPr/>
            <p:nvPr/>
          </p:nvSpPr>
          <p:spPr>
            <a:xfrm>
              <a:off x="0" y="3093981"/>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5" name="Google Shape;1175;p56"/>
            <p:cNvSpPr/>
            <p:nvPr/>
          </p:nvSpPr>
          <p:spPr>
            <a:xfrm>
              <a:off x="1428292" y="3093981"/>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6" name="Google Shape;1176;p56"/>
            <p:cNvSpPr txBox="1"/>
            <p:nvPr/>
          </p:nvSpPr>
          <p:spPr>
            <a:xfrm>
              <a:off x="-5" y="3093993"/>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Adds flexibility overhead</a:t>
              </a:r>
              <a:endParaRPr sz="1100"/>
            </a:p>
          </p:txBody>
        </p:sp>
        <p:sp>
          <p:nvSpPr>
            <p:cNvPr id="1177" name="Google Shape;1177;p56"/>
            <p:cNvSpPr/>
            <p:nvPr/>
          </p:nvSpPr>
          <p:spPr>
            <a:xfrm>
              <a:off x="0" y="4639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8" name="Google Shape;1178;p56"/>
            <p:cNvSpPr/>
            <p:nvPr/>
          </p:nvSpPr>
          <p:spPr>
            <a:xfrm>
              <a:off x="1428292" y="4639752"/>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9" name="Google Shape;1179;p56"/>
            <p:cNvSpPr txBox="1"/>
            <p:nvPr/>
          </p:nvSpPr>
          <p:spPr>
            <a:xfrm>
              <a:off x="-5" y="4639760"/>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Clr>
                  <a:schemeClr val="dk1"/>
                </a:buClr>
                <a:buSzPts val="1700"/>
                <a:buFont typeface="Calibri"/>
                <a:buNone/>
              </a:pPr>
              <a:r>
                <a:rPr lang="en" sz="1700">
                  <a:solidFill>
                    <a:schemeClr val="dk1"/>
                  </a:solidFill>
                  <a:latin typeface="Calibri"/>
                  <a:ea typeface="Calibri"/>
                  <a:cs typeface="Calibri"/>
                  <a:sym typeface="Calibri"/>
                </a:rPr>
                <a:t>Impacts architects, system builders and vendors</a:t>
              </a:r>
              <a:endParaRPr sz="11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3" name="Shape 1183"/>
        <p:cNvGrpSpPr/>
        <p:nvPr/>
      </p:nvGrpSpPr>
      <p:grpSpPr>
        <a:xfrm>
          <a:off x="0" y="0"/>
          <a:ext cx="0" cy="0"/>
          <a:chOff x="0" y="0"/>
          <a:chExt cx="0" cy="0"/>
        </a:xfrm>
      </p:grpSpPr>
      <p:sp>
        <p:nvSpPr>
          <p:cNvPr id="1184" name="Google Shape;1184;p57"/>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85" name="Google Shape;1185;p57"/>
          <p:cNvSpPr/>
          <p:nvPr/>
        </p:nvSpPr>
        <p:spPr>
          <a:xfrm>
            <a:off x="2357088" y="189855"/>
            <a:ext cx="4638300" cy="4638300"/>
          </a:xfrm>
          <a:prstGeom prst="ellipse">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86" name="Google Shape;1186;p57"/>
          <p:cNvSpPr/>
          <p:nvPr/>
        </p:nvSpPr>
        <p:spPr>
          <a:xfrm>
            <a:off x="2343636" y="189855"/>
            <a:ext cx="4638300" cy="46383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accent3"/>
              </a:solidFill>
              <a:latin typeface="Calibri"/>
              <a:ea typeface="Calibri"/>
              <a:cs typeface="Calibri"/>
              <a:sym typeface="Calibri"/>
            </a:endParaRPr>
          </a:p>
        </p:txBody>
      </p:sp>
      <p:sp>
        <p:nvSpPr>
          <p:cNvPr id="1187" name="Google Shape;1187;p57"/>
          <p:cNvSpPr/>
          <p:nvPr/>
        </p:nvSpPr>
        <p:spPr>
          <a:xfrm>
            <a:off x="2252792" y="102394"/>
            <a:ext cx="4638300" cy="4638300"/>
          </a:xfrm>
          <a:prstGeom prst="ellipse">
            <a:avLst/>
          </a:prstGeom>
          <a:solidFill>
            <a:schemeClr val="dk1"/>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88" name="Google Shape;1188;p57"/>
          <p:cNvSpPr/>
          <p:nvPr/>
        </p:nvSpPr>
        <p:spPr>
          <a:xfrm>
            <a:off x="2178150" y="1416150"/>
            <a:ext cx="4817100" cy="2528100"/>
          </a:xfrm>
          <a:prstGeom prst="rect">
            <a:avLst/>
          </a:prstGeom>
          <a:noFill/>
          <a:ln>
            <a:noFill/>
          </a:ln>
        </p:spPr>
        <p:txBody>
          <a:bodyPr anchorCtr="0" anchor="b" bIns="34275" lIns="68575" spcFirstLastPara="1" rIns="68575" wrap="square" tIns="34275">
            <a:noAutofit/>
          </a:bodyPr>
          <a:lstStyle/>
          <a:p>
            <a:pPr indent="0" lvl="0" marL="0" marR="0" rtl="0" algn="ctr">
              <a:lnSpc>
                <a:spcPct val="90000"/>
              </a:lnSpc>
              <a:spcBef>
                <a:spcPts val="0"/>
              </a:spcBef>
              <a:spcAft>
                <a:spcPts val="0"/>
              </a:spcAft>
              <a:buNone/>
            </a:pPr>
            <a:r>
              <a:rPr lang="en" sz="3000">
                <a:solidFill>
                  <a:schemeClr val="lt1"/>
                </a:solidFill>
                <a:latin typeface="Times New Roman"/>
                <a:ea typeface="Times New Roman"/>
                <a:cs typeface="Times New Roman"/>
                <a:sym typeface="Times New Roman"/>
              </a:rPr>
              <a:t>Today's distributed data management infrastructures excel in flexibility and heterogeneity: of storage formats, of computation paradigms, and system implementations</a:t>
            </a:r>
            <a:endParaRPr sz="3000">
              <a:latin typeface="Times New Roman"/>
              <a:ea typeface="Times New Roman"/>
              <a:cs typeface="Times New Roman"/>
              <a:sym typeface="Times New Roman"/>
            </a:endParaRPr>
          </a:p>
        </p:txBody>
      </p:sp>
      <p:sp>
        <p:nvSpPr>
          <p:cNvPr id="1189" name="Google Shape;1189;p57"/>
          <p:cNvSpPr/>
          <p:nvPr/>
        </p:nvSpPr>
        <p:spPr>
          <a:xfrm>
            <a:off x="7692206" y="731983"/>
            <a:ext cx="310752" cy="310752"/>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90" name="Google Shape;1190;p57"/>
          <p:cNvSpPr/>
          <p:nvPr/>
        </p:nvSpPr>
        <p:spPr>
          <a:xfrm>
            <a:off x="7692206" y="731983"/>
            <a:ext cx="310752" cy="310752"/>
          </a:xfrm>
          <a:custGeom>
            <a:rect b="b" l="l" r="r" t="t"/>
            <a:pathLst>
              <a:path extrusionOk="0" h="807148" w="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91" name="Google Shape;1191;p57"/>
          <p:cNvSpPr/>
          <p:nvPr/>
        </p:nvSpPr>
        <p:spPr>
          <a:xfrm>
            <a:off x="1289865" y="3177080"/>
            <a:ext cx="383100" cy="383100"/>
          </a:xfrm>
          <a:prstGeom prst="ellipse">
            <a:avLst/>
          </a:prstGeom>
          <a:solidFill>
            <a:srgbClr val="FFFFFF"/>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92" name="Google Shape;1192;p57"/>
          <p:cNvSpPr/>
          <p:nvPr/>
        </p:nvSpPr>
        <p:spPr>
          <a:xfrm>
            <a:off x="1289865" y="3177080"/>
            <a:ext cx="383100" cy="383100"/>
          </a:xfrm>
          <a:prstGeom prst="ellipse">
            <a:avLst/>
          </a:prstGeom>
          <a:solidFill>
            <a:schemeClr val="accent2">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196" name="Shape 1196"/>
        <p:cNvGrpSpPr/>
        <p:nvPr/>
      </p:nvGrpSpPr>
      <p:grpSpPr>
        <a:xfrm>
          <a:off x="0" y="0"/>
          <a:ext cx="0" cy="0"/>
          <a:chOff x="0" y="0"/>
          <a:chExt cx="0" cy="0"/>
        </a:xfrm>
      </p:grpSpPr>
      <p:sp>
        <p:nvSpPr>
          <p:cNvPr id="1197" name="Google Shape;1197;p58"/>
          <p:cNvSpPr/>
          <p:nvPr/>
        </p:nvSpPr>
        <p:spPr>
          <a:xfrm>
            <a:off x="1465326" y="0"/>
            <a:ext cx="6213348" cy="51435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98" name="Google Shape;1198;p58"/>
          <p:cNvSpPr/>
          <p:nvPr/>
        </p:nvSpPr>
        <p:spPr>
          <a:xfrm>
            <a:off x="1588770" y="0"/>
            <a:ext cx="5966460" cy="51435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99" name="Google Shape;1199;p58"/>
          <p:cNvSpPr/>
          <p:nvPr/>
        </p:nvSpPr>
        <p:spPr>
          <a:xfrm>
            <a:off x="1916723" y="1081453"/>
            <a:ext cx="5310600" cy="29805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500"/>
              </a:spcBef>
              <a:spcAft>
                <a:spcPts val="0"/>
              </a:spcAft>
              <a:buNone/>
            </a:pPr>
            <a:r>
              <a:rPr lang="en" sz="4100">
                <a:solidFill>
                  <a:srgbClr val="0C0C0C"/>
                </a:solidFill>
                <a:latin typeface="Calibri"/>
                <a:ea typeface="Calibri"/>
                <a:cs typeface="Calibri"/>
                <a:sym typeface="Calibri"/>
              </a:rPr>
              <a:t>Current Trends &amp; Future Directions</a:t>
            </a:r>
            <a:endParaRPr sz="11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3" name="Shape 1203"/>
        <p:cNvGrpSpPr/>
        <p:nvPr/>
      </p:nvGrpSpPr>
      <p:grpSpPr>
        <a:xfrm>
          <a:off x="0" y="0"/>
          <a:ext cx="0" cy="0"/>
          <a:chOff x="0" y="0"/>
          <a:chExt cx="0" cy="0"/>
        </a:xfrm>
      </p:grpSpPr>
      <p:sp>
        <p:nvSpPr>
          <p:cNvPr id="1204" name="Google Shape;1204;p59"/>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05" name="Google Shape;1205;p59"/>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06" name="Google Shape;1206;p59"/>
          <p:cNvSpPr txBox="1"/>
          <p:nvPr>
            <p:ph type="title"/>
          </p:nvPr>
        </p:nvSpPr>
        <p:spPr>
          <a:xfrm>
            <a:off x="628650" y="89677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Dataflow Engines</a:t>
            </a:r>
            <a:endParaRPr/>
          </a:p>
        </p:txBody>
      </p:sp>
      <p:grpSp>
        <p:nvGrpSpPr>
          <p:cNvPr id="1207" name="Google Shape;1207;p59"/>
          <p:cNvGrpSpPr/>
          <p:nvPr/>
        </p:nvGrpSpPr>
        <p:grpSpPr>
          <a:xfrm>
            <a:off x="-1" y="152184"/>
            <a:ext cx="1432688" cy="532245"/>
            <a:chOff x="2267504" y="2540250"/>
            <a:chExt cx="1990951" cy="739640"/>
          </a:xfrm>
        </p:grpSpPr>
        <p:sp>
          <p:nvSpPr>
            <p:cNvPr id="1208" name="Google Shape;1208;p59"/>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09" name="Google Shape;1209;p59"/>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210" name="Google Shape;1210;p59"/>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211" name="Google Shape;1211;p59"/>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212" name="Google Shape;1212;p59"/>
          <p:cNvGrpSpPr/>
          <p:nvPr/>
        </p:nvGrpSpPr>
        <p:grpSpPr>
          <a:xfrm>
            <a:off x="3082209" y="4154928"/>
            <a:ext cx="731373" cy="731374"/>
            <a:chOff x="5829300" y="3162300"/>
            <a:chExt cx="532256" cy="532257"/>
          </a:xfrm>
        </p:grpSpPr>
        <p:sp>
          <p:nvSpPr>
            <p:cNvPr id="1213" name="Google Shape;1213;p59"/>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4" name="Google Shape;1214;p59"/>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5" name="Google Shape;1215;p59"/>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6" name="Google Shape;1216;p59"/>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7" name="Google Shape;1217;p59"/>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8" name="Google Shape;1218;p59"/>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19" name="Google Shape;1219;p59"/>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0" name="Google Shape;1220;p59"/>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1" name="Google Shape;1221;p59"/>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2" name="Google Shape;1222;p59"/>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3" name="Google Shape;1223;p59"/>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4" name="Google Shape;1224;p59"/>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25" name="Google Shape;1225;p59"/>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226" name="Google Shape;1226;p59"/>
          <p:cNvGrpSpPr/>
          <p:nvPr/>
        </p:nvGrpSpPr>
        <p:grpSpPr>
          <a:xfrm>
            <a:off x="4113088" y="152175"/>
            <a:ext cx="4726129" cy="927459"/>
            <a:chOff x="-5" y="2427"/>
            <a:chExt cx="6301505" cy="1236612"/>
          </a:xfrm>
        </p:grpSpPr>
        <p:sp>
          <p:nvSpPr>
            <p:cNvPr id="1227" name="Google Shape;1227;p59"/>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8" name="Google Shape;1228;p59"/>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9" name="Google Shape;1229;p59"/>
            <p:cNvSpPr txBox="1"/>
            <p:nvPr/>
          </p:nvSpPr>
          <p:spPr>
            <a:xfrm>
              <a:off x="-5" y="2427"/>
              <a:ext cx="6301500" cy="1236600"/>
            </a:xfrm>
            <a:prstGeom prst="rect">
              <a:avLst/>
            </a:prstGeom>
            <a:noFill/>
            <a:ln>
              <a:noFill/>
            </a:ln>
          </p:spPr>
          <p:txBody>
            <a:bodyPr anchorCtr="0" anchor="ctr" bIns="98150" lIns="98150" spcFirstLastPara="1" rIns="98150" wrap="square" tIns="98150">
              <a:noAutofit/>
            </a:bodyPr>
            <a:lstStyle/>
            <a:p>
              <a:pPr indent="0" lvl="0" marL="0" marR="0" rtl="0" algn="ctr">
                <a:lnSpc>
                  <a:spcPct val="90000"/>
                </a:lnSpc>
                <a:spcBef>
                  <a:spcPts val="0"/>
                </a:spcBef>
                <a:spcAft>
                  <a:spcPts val="0"/>
                </a:spcAft>
                <a:buNone/>
              </a:pPr>
              <a:r>
                <a:rPr lang="en" sz="1700">
                  <a:latin typeface="Calibri"/>
                  <a:ea typeface="Calibri"/>
                  <a:cs typeface="Calibri"/>
                  <a:sym typeface="Calibri"/>
                </a:rPr>
                <a:t>Data engines are a critical tool for processing large number of data.</a:t>
              </a:r>
              <a:endParaRPr sz="1700">
                <a:latin typeface="Calibri"/>
                <a:ea typeface="Calibri"/>
                <a:cs typeface="Calibri"/>
                <a:sym typeface="Calibri"/>
              </a:endParaRPr>
            </a:p>
          </p:txBody>
        </p:sp>
      </p:grpSp>
      <p:sp>
        <p:nvSpPr>
          <p:cNvPr id="1230" name="Google Shape;1230;p59"/>
          <p:cNvSpPr/>
          <p:nvPr/>
        </p:nvSpPr>
        <p:spPr>
          <a:xfrm>
            <a:off x="5972888" y="1166462"/>
            <a:ext cx="1006500" cy="927600"/>
          </a:xfrm>
          <a:prstGeom prst="ellipse">
            <a:avLst/>
          </a:prstGeom>
          <a:solidFill>
            <a:schemeClr val="accent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231" name="Google Shape;1231;p59"/>
          <p:cNvPicPr preferRelativeResize="0"/>
          <p:nvPr/>
        </p:nvPicPr>
        <p:blipFill>
          <a:blip r:embed="rId3">
            <a:alphaModFix amt="50000"/>
          </a:blip>
          <a:stretch>
            <a:fillRect/>
          </a:stretch>
        </p:blipFill>
        <p:spPr>
          <a:xfrm>
            <a:off x="5972925" y="1127001"/>
            <a:ext cx="1006501" cy="1006501"/>
          </a:xfrm>
          <a:prstGeom prst="rect">
            <a:avLst/>
          </a:prstGeom>
          <a:noFill/>
          <a:ln>
            <a:noFill/>
          </a:ln>
        </p:spPr>
      </p:pic>
      <p:sp>
        <p:nvSpPr>
          <p:cNvPr id="1232" name="Google Shape;1232;p59"/>
          <p:cNvSpPr txBox="1"/>
          <p:nvPr/>
        </p:nvSpPr>
        <p:spPr>
          <a:xfrm>
            <a:off x="5120050" y="2571750"/>
            <a:ext cx="1292400" cy="3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Calibri"/>
                <a:ea typeface="Calibri"/>
                <a:cs typeface="Calibri"/>
                <a:sym typeface="Calibri"/>
              </a:rPr>
              <a:t>evolved from</a:t>
            </a:r>
            <a:endParaRPr sz="1600">
              <a:solidFill>
                <a:schemeClr val="dk2"/>
              </a:solidFill>
              <a:latin typeface="Calibri"/>
              <a:ea typeface="Calibri"/>
              <a:cs typeface="Calibri"/>
              <a:sym typeface="Calibri"/>
            </a:endParaRPr>
          </a:p>
        </p:txBody>
      </p:sp>
      <p:sp>
        <p:nvSpPr>
          <p:cNvPr id="1233" name="Google Shape;1233;p59"/>
          <p:cNvSpPr txBox="1"/>
          <p:nvPr/>
        </p:nvSpPr>
        <p:spPr>
          <a:xfrm>
            <a:off x="5650275" y="2056750"/>
            <a:ext cx="1651800" cy="34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dk2"/>
                </a:solidFill>
                <a:latin typeface="Calibri"/>
                <a:ea typeface="Calibri"/>
                <a:cs typeface="Calibri"/>
                <a:sym typeface="Calibri"/>
              </a:rPr>
              <a:t>Data Engines</a:t>
            </a:r>
            <a:endParaRPr b="1" sz="2100">
              <a:solidFill>
                <a:schemeClr val="dk2"/>
              </a:solidFill>
              <a:latin typeface="Calibri"/>
              <a:ea typeface="Calibri"/>
              <a:cs typeface="Calibri"/>
              <a:sym typeface="Calibri"/>
            </a:endParaRPr>
          </a:p>
        </p:txBody>
      </p:sp>
      <p:pic>
        <p:nvPicPr>
          <p:cNvPr id="1234" name="Google Shape;1234;p59"/>
          <p:cNvPicPr preferRelativeResize="0"/>
          <p:nvPr/>
        </p:nvPicPr>
        <p:blipFill>
          <a:blip r:embed="rId4">
            <a:alphaModFix/>
          </a:blip>
          <a:stretch>
            <a:fillRect/>
          </a:stretch>
        </p:blipFill>
        <p:spPr>
          <a:xfrm>
            <a:off x="6457125" y="2397550"/>
            <a:ext cx="38100" cy="638500"/>
          </a:xfrm>
          <a:prstGeom prst="rect">
            <a:avLst/>
          </a:prstGeom>
          <a:solidFill>
            <a:schemeClr val="lt1"/>
          </a:solidFill>
          <a:ln>
            <a:noFill/>
          </a:ln>
        </p:spPr>
      </p:pic>
      <p:sp>
        <p:nvSpPr>
          <p:cNvPr id="1235" name="Google Shape;1235;p59"/>
          <p:cNvSpPr/>
          <p:nvPr/>
        </p:nvSpPr>
        <p:spPr>
          <a:xfrm>
            <a:off x="5433075" y="4252600"/>
            <a:ext cx="2086200" cy="638400"/>
          </a:xfrm>
          <a:prstGeom prst="ellipse">
            <a:avLst/>
          </a:prstGeom>
          <a:solidFill>
            <a:srgbClr val="BCC7CF"/>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100">
                <a:solidFill>
                  <a:schemeClr val="dk2"/>
                </a:solidFill>
                <a:latin typeface="Calibri"/>
                <a:ea typeface="Calibri"/>
                <a:cs typeface="Calibri"/>
                <a:sym typeface="Calibri"/>
              </a:rPr>
              <a:t>Apache Spark</a:t>
            </a:r>
            <a:endParaRPr b="1" sz="2100">
              <a:solidFill>
                <a:schemeClr val="dk2"/>
              </a:solidFill>
              <a:latin typeface="Calibri"/>
              <a:ea typeface="Calibri"/>
              <a:cs typeface="Calibri"/>
              <a:sym typeface="Calibri"/>
            </a:endParaRPr>
          </a:p>
        </p:txBody>
      </p:sp>
      <p:pic>
        <p:nvPicPr>
          <p:cNvPr id="1236" name="Google Shape;1236;p59"/>
          <p:cNvPicPr preferRelativeResize="0"/>
          <p:nvPr/>
        </p:nvPicPr>
        <p:blipFill>
          <a:blip r:embed="rId4">
            <a:alphaModFix/>
          </a:blip>
          <a:stretch>
            <a:fillRect/>
          </a:stretch>
        </p:blipFill>
        <p:spPr>
          <a:xfrm>
            <a:off x="6457125" y="3669650"/>
            <a:ext cx="38100" cy="532250"/>
          </a:xfrm>
          <a:prstGeom prst="rect">
            <a:avLst/>
          </a:prstGeom>
          <a:solidFill>
            <a:schemeClr val="lt1"/>
          </a:solidFill>
          <a:ln>
            <a:noFill/>
          </a:ln>
        </p:spPr>
      </p:pic>
      <p:sp>
        <p:nvSpPr>
          <p:cNvPr id="1237" name="Google Shape;1237;p59"/>
          <p:cNvSpPr txBox="1"/>
          <p:nvPr/>
        </p:nvSpPr>
        <p:spPr>
          <a:xfrm>
            <a:off x="4661650" y="3762975"/>
            <a:ext cx="1750800" cy="34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Calibri"/>
                <a:ea typeface="Calibri"/>
                <a:cs typeface="Calibri"/>
                <a:sym typeface="Calibri"/>
              </a:rPr>
              <a:t>To systems such as </a:t>
            </a:r>
            <a:endParaRPr sz="1600">
              <a:solidFill>
                <a:schemeClr val="dk2"/>
              </a:solidFill>
              <a:latin typeface="Calibri"/>
              <a:ea typeface="Calibri"/>
              <a:cs typeface="Calibri"/>
              <a:sym typeface="Calibri"/>
            </a:endParaRPr>
          </a:p>
        </p:txBody>
      </p:sp>
      <p:sp>
        <p:nvSpPr>
          <p:cNvPr id="1238" name="Google Shape;1238;p59"/>
          <p:cNvSpPr/>
          <p:nvPr/>
        </p:nvSpPr>
        <p:spPr>
          <a:xfrm>
            <a:off x="5433050" y="3086750"/>
            <a:ext cx="2086200" cy="532200"/>
          </a:xfrm>
          <a:prstGeom prst="ellipse">
            <a:avLst/>
          </a:prstGeom>
          <a:solidFill>
            <a:srgbClr val="BCC7CF"/>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100">
                <a:solidFill>
                  <a:schemeClr val="dk2"/>
                </a:solidFill>
                <a:latin typeface="Calibri"/>
                <a:ea typeface="Calibri"/>
                <a:cs typeface="Calibri"/>
                <a:sym typeface="Calibri"/>
              </a:rPr>
              <a:t>MapReduce</a:t>
            </a:r>
            <a:endParaRPr b="1" sz="2100">
              <a:solidFill>
                <a:schemeClr val="dk2"/>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2" name="Shape 1242"/>
        <p:cNvGrpSpPr/>
        <p:nvPr/>
      </p:nvGrpSpPr>
      <p:grpSpPr>
        <a:xfrm>
          <a:off x="0" y="0"/>
          <a:ext cx="0" cy="0"/>
          <a:chOff x="0" y="0"/>
          <a:chExt cx="0" cy="0"/>
        </a:xfrm>
      </p:grpSpPr>
      <p:sp>
        <p:nvSpPr>
          <p:cNvPr id="1243" name="Google Shape;1243;p60"/>
          <p:cNvSpPr/>
          <p:nvPr/>
        </p:nvSpPr>
        <p:spPr>
          <a:xfrm>
            <a:off x="0" y="0"/>
            <a:ext cx="9144000" cy="51435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317500" lvl="0" marL="457200" rtl="0" algn="l">
              <a:spcBef>
                <a:spcPts val="0"/>
              </a:spcBef>
              <a:spcAft>
                <a:spcPts val="0"/>
              </a:spcAft>
              <a:buClr>
                <a:schemeClr val="dk1"/>
              </a:buClr>
              <a:buSzPts val="1400"/>
              <a:buAutoNum type="arabicPeriod" startAt="5"/>
            </a:pPr>
            <a:r>
              <a:rPr lang="en">
                <a:solidFill>
                  <a:schemeClr val="dk1"/>
                </a:solidFill>
              </a:rPr>
              <a:t>Consolidationx</a:t>
            </a:r>
            <a:endParaRPr b="0" i="0" sz="1400" u="none" cap="none" strike="noStrike">
              <a:solidFill>
                <a:schemeClr val="lt1"/>
              </a:solidFill>
              <a:latin typeface="Calibri"/>
              <a:ea typeface="Calibri"/>
              <a:cs typeface="Calibri"/>
              <a:sym typeface="Calibri"/>
            </a:endParaRPr>
          </a:p>
        </p:txBody>
      </p:sp>
      <p:sp>
        <p:nvSpPr>
          <p:cNvPr id="1244" name="Google Shape;1244;p60"/>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317500" lvl="0" marL="457200" rtl="0" algn="l">
              <a:spcBef>
                <a:spcPts val="0"/>
              </a:spcBef>
              <a:spcAft>
                <a:spcPts val="0"/>
              </a:spcAft>
              <a:buClr>
                <a:schemeClr val="dk1"/>
              </a:buClr>
              <a:buSzPts val="1400"/>
              <a:buAutoNum type="arabicPeriod" startAt="5"/>
            </a:pPr>
            <a:r>
              <a:rPr lang="en">
                <a:solidFill>
                  <a:schemeClr val="dk1"/>
                </a:solidFill>
              </a:rPr>
              <a:t>Consolidation</a:t>
            </a:r>
            <a:endParaRPr b="0" i="0" sz="1400" u="none" cap="none" strike="noStrike">
              <a:solidFill>
                <a:schemeClr val="lt1"/>
              </a:solidFill>
              <a:latin typeface="Calibri"/>
              <a:ea typeface="Calibri"/>
              <a:cs typeface="Calibri"/>
              <a:sym typeface="Calibri"/>
            </a:endParaRPr>
          </a:p>
        </p:txBody>
      </p:sp>
      <p:sp>
        <p:nvSpPr>
          <p:cNvPr id="1245" name="Google Shape;1245;p60"/>
          <p:cNvSpPr txBox="1"/>
          <p:nvPr>
            <p:ph type="title"/>
          </p:nvPr>
        </p:nvSpPr>
        <p:spPr>
          <a:xfrm>
            <a:off x="531500" y="909800"/>
            <a:ext cx="2897700" cy="317850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lt1"/>
              </a:buClr>
              <a:buSzPts val="3300"/>
              <a:buFont typeface="Calibri"/>
              <a:buNone/>
            </a:pPr>
            <a:r>
              <a:rPr lang="en">
                <a:solidFill>
                  <a:schemeClr val="lt1"/>
                </a:solidFill>
              </a:rPr>
              <a:t>The Current Trends in Dataflow Engines</a:t>
            </a:r>
            <a:endParaRPr/>
          </a:p>
          <a:p>
            <a:pPr indent="0" lvl="0" marL="0" rtl="0" algn="l">
              <a:lnSpc>
                <a:spcPct val="90000"/>
              </a:lnSpc>
              <a:spcBef>
                <a:spcPts val="0"/>
              </a:spcBef>
              <a:spcAft>
                <a:spcPts val="0"/>
              </a:spcAft>
              <a:buClr>
                <a:schemeClr val="lt1"/>
              </a:buClr>
              <a:buSzPts val="3300"/>
              <a:buFont typeface="Calibri"/>
              <a:buNone/>
            </a:pPr>
            <a:r>
              <a:t/>
            </a:r>
            <a:endParaRPr>
              <a:solidFill>
                <a:schemeClr val="lt1"/>
              </a:solidFill>
            </a:endParaRPr>
          </a:p>
        </p:txBody>
      </p:sp>
      <p:grpSp>
        <p:nvGrpSpPr>
          <p:cNvPr id="1246" name="Google Shape;1246;p60"/>
          <p:cNvGrpSpPr/>
          <p:nvPr/>
        </p:nvGrpSpPr>
        <p:grpSpPr>
          <a:xfrm>
            <a:off x="-1" y="152184"/>
            <a:ext cx="1432688" cy="532245"/>
            <a:chOff x="2267504" y="2540250"/>
            <a:chExt cx="1990951" cy="739640"/>
          </a:xfrm>
        </p:grpSpPr>
        <p:sp>
          <p:nvSpPr>
            <p:cNvPr id="1247" name="Google Shape;1247;p60"/>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48" name="Google Shape;1248;p60"/>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249" name="Google Shape;1249;p60"/>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250" name="Google Shape;1250;p60"/>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251" name="Google Shape;1251;p60"/>
          <p:cNvGrpSpPr/>
          <p:nvPr/>
        </p:nvGrpSpPr>
        <p:grpSpPr>
          <a:xfrm>
            <a:off x="3082209" y="4154928"/>
            <a:ext cx="731373" cy="731374"/>
            <a:chOff x="5829300" y="3162300"/>
            <a:chExt cx="532256" cy="532257"/>
          </a:xfrm>
        </p:grpSpPr>
        <p:sp>
          <p:nvSpPr>
            <p:cNvPr id="1252" name="Google Shape;1252;p60"/>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3" name="Google Shape;1253;p60"/>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4" name="Google Shape;1254;p60"/>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5" name="Google Shape;1255;p60"/>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6" name="Google Shape;1256;p60"/>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7" name="Google Shape;1257;p60"/>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8" name="Google Shape;1258;p60"/>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59" name="Google Shape;1259;p60"/>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0" name="Google Shape;1260;p60"/>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1" name="Google Shape;1261;p60"/>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2" name="Google Shape;1262;p60"/>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3" name="Google Shape;1263;p60"/>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64" name="Google Shape;1264;p60"/>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265" name="Google Shape;1265;p60"/>
          <p:cNvGrpSpPr/>
          <p:nvPr/>
        </p:nvGrpSpPr>
        <p:grpSpPr>
          <a:xfrm>
            <a:off x="4928830" y="547200"/>
            <a:ext cx="3874302" cy="3560136"/>
            <a:chOff x="985576" y="2452"/>
            <a:chExt cx="5316002" cy="3978250"/>
          </a:xfrm>
        </p:grpSpPr>
        <p:sp>
          <p:nvSpPr>
            <p:cNvPr id="1266" name="Google Shape;1266;p60"/>
            <p:cNvSpPr/>
            <p:nvPr/>
          </p:nvSpPr>
          <p:spPr>
            <a:xfrm>
              <a:off x="985861" y="2452"/>
              <a:ext cx="5315700" cy="7098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solidFill>
                  <a:schemeClr val="dk1"/>
                </a:solidFill>
              </a:endParaRPr>
            </a:p>
          </p:txBody>
        </p:sp>
        <p:sp>
          <p:nvSpPr>
            <p:cNvPr id="1267" name="Google Shape;1267;p60"/>
            <p:cNvSpPr txBox="1"/>
            <p:nvPr/>
          </p:nvSpPr>
          <p:spPr>
            <a:xfrm>
              <a:off x="985576" y="2452"/>
              <a:ext cx="5138100" cy="709800"/>
            </a:xfrm>
            <a:prstGeom prst="rect">
              <a:avLst/>
            </a:prstGeom>
            <a:noFill/>
            <a:ln>
              <a:noFill/>
            </a:ln>
          </p:spPr>
          <p:txBody>
            <a:bodyPr anchorCtr="0" anchor="ctr" bIns="98150" lIns="98150" spcFirstLastPara="1" rIns="98150" wrap="square" tIns="98150">
              <a:noAutofit/>
            </a:bodyPr>
            <a:lstStyle/>
            <a:p>
              <a:pPr indent="-323850" lvl="0" marL="457200" marR="0" rtl="0" algn="l">
                <a:lnSpc>
                  <a:spcPct val="90000"/>
                </a:lnSpc>
                <a:spcBef>
                  <a:spcPts val="0"/>
                </a:spcBef>
                <a:spcAft>
                  <a:spcPts val="0"/>
                </a:spcAft>
                <a:buClr>
                  <a:schemeClr val="dk1"/>
                </a:buClr>
                <a:buSzPts val="1500"/>
                <a:buFont typeface="Calibri"/>
                <a:buAutoNum type="arabicPeriod"/>
              </a:pPr>
              <a:r>
                <a:rPr lang="en" sz="1500">
                  <a:solidFill>
                    <a:schemeClr val="dk1"/>
                  </a:solidFill>
                  <a:latin typeface="Calibri"/>
                  <a:ea typeface="Calibri"/>
                  <a:cs typeface="Calibri"/>
                  <a:sym typeface="Calibri"/>
                </a:rPr>
                <a:t>Increased Flexibility and Heterogeneity</a:t>
              </a:r>
              <a:endParaRPr sz="1500">
                <a:solidFill>
                  <a:schemeClr val="dk1"/>
                </a:solidFill>
                <a:latin typeface="Calibri"/>
                <a:ea typeface="Calibri"/>
                <a:cs typeface="Calibri"/>
                <a:sym typeface="Calibri"/>
              </a:endParaRPr>
            </a:p>
          </p:txBody>
        </p:sp>
        <p:sp>
          <p:nvSpPr>
            <p:cNvPr id="1268" name="Google Shape;1268;p60"/>
            <p:cNvSpPr/>
            <p:nvPr/>
          </p:nvSpPr>
          <p:spPr>
            <a:xfrm>
              <a:off x="985861" y="838439"/>
              <a:ext cx="5315700" cy="7098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323850" lvl="0" marL="457200" rtl="0" algn="l">
                <a:spcBef>
                  <a:spcPts val="0"/>
                </a:spcBef>
                <a:spcAft>
                  <a:spcPts val="0"/>
                </a:spcAft>
                <a:buClr>
                  <a:schemeClr val="dk1"/>
                </a:buClr>
                <a:buSzPts val="1500"/>
                <a:buFont typeface="Calibri"/>
                <a:buAutoNum type="arabicPeriod" startAt="2"/>
              </a:pPr>
              <a:r>
                <a:rPr lang="en" sz="1500">
                  <a:solidFill>
                    <a:schemeClr val="dk1"/>
                  </a:solidFill>
                  <a:latin typeface="Calibri"/>
                  <a:ea typeface="Calibri"/>
                  <a:cs typeface="Calibri"/>
                  <a:sym typeface="Calibri"/>
                </a:rPr>
                <a:t>Schema Flexibility</a:t>
              </a:r>
              <a:endParaRPr sz="1500">
                <a:solidFill>
                  <a:schemeClr val="dk1"/>
                </a:solidFill>
                <a:latin typeface="Calibri"/>
                <a:ea typeface="Calibri"/>
                <a:cs typeface="Calibri"/>
                <a:sym typeface="Calibri"/>
              </a:endParaRPr>
            </a:p>
          </p:txBody>
        </p:sp>
        <p:sp>
          <p:nvSpPr>
            <p:cNvPr id="1269" name="Google Shape;1269;p60"/>
            <p:cNvSpPr/>
            <p:nvPr/>
          </p:nvSpPr>
          <p:spPr>
            <a:xfrm>
              <a:off x="985863" y="1659802"/>
              <a:ext cx="5315700" cy="7098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323850" lvl="0" marL="457200" rtl="0" algn="l">
                <a:spcBef>
                  <a:spcPts val="0"/>
                </a:spcBef>
                <a:spcAft>
                  <a:spcPts val="0"/>
                </a:spcAft>
                <a:buClr>
                  <a:schemeClr val="dk1"/>
                </a:buClr>
                <a:buSzPts val="1500"/>
                <a:buFont typeface="Calibri"/>
                <a:buAutoNum type="arabicPeriod" startAt="3"/>
              </a:pPr>
              <a:r>
                <a:rPr lang="en" sz="1500">
                  <a:solidFill>
                    <a:schemeClr val="dk1"/>
                  </a:solidFill>
                  <a:latin typeface="Calibri"/>
                  <a:ea typeface="Calibri"/>
                  <a:cs typeface="Calibri"/>
                  <a:sym typeface="Calibri"/>
                </a:rPr>
                <a:t>Interface Flexibility</a:t>
              </a:r>
              <a:endParaRPr sz="1500">
                <a:solidFill>
                  <a:schemeClr val="dk1"/>
                </a:solidFill>
                <a:latin typeface="Calibri"/>
                <a:ea typeface="Calibri"/>
                <a:cs typeface="Calibri"/>
                <a:sym typeface="Calibri"/>
              </a:endParaRPr>
            </a:p>
          </p:txBody>
        </p:sp>
        <p:sp>
          <p:nvSpPr>
            <p:cNvPr id="1270" name="Google Shape;1270;p60"/>
            <p:cNvSpPr/>
            <p:nvPr/>
          </p:nvSpPr>
          <p:spPr>
            <a:xfrm>
              <a:off x="985878" y="3270902"/>
              <a:ext cx="5315700" cy="7098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323850" lvl="0" marL="457200" rtl="0" algn="l">
                <a:spcBef>
                  <a:spcPts val="0"/>
                </a:spcBef>
                <a:spcAft>
                  <a:spcPts val="0"/>
                </a:spcAft>
                <a:buClr>
                  <a:schemeClr val="dk1"/>
                </a:buClr>
                <a:buSzPts val="1500"/>
                <a:buFont typeface="Calibri"/>
                <a:buAutoNum type="arabicPeriod" startAt="5"/>
              </a:pPr>
              <a:r>
                <a:rPr lang="en" sz="1500">
                  <a:solidFill>
                    <a:schemeClr val="dk1"/>
                  </a:solidFill>
                  <a:latin typeface="Calibri"/>
                  <a:ea typeface="Calibri"/>
                  <a:cs typeface="Calibri"/>
                  <a:sym typeface="Calibri"/>
                </a:rPr>
                <a:t>Integration with Specialized Systems</a:t>
              </a:r>
              <a:endParaRPr sz="1500">
                <a:solidFill>
                  <a:schemeClr val="dk1"/>
                </a:solidFill>
                <a:latin typeface="Calibri"/>
                <a:ea typeface="Calibri"/>
                <a:cs typeface="Calibri"/>
                <a:sym typeface="Calibri"/>
              </a:endParaRPr>
            </a:p>
          </p:txBody>
        </p:sp>
      </p:grpSp>
      <p:sp>
        <p:nvSpPr>
          <p:cNvPr id="1271" name="Google Shape;1271;p60"/>
          <p:cNvSpPr/>
          <p:nvPr/>
        </p:nvSpPr>
        <p:spPr>
          <a:xfrm>
            <a:off x="4928863" y="4205013"/>
            <a:ext cx="3874200" cy="6312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323850" lvl="0" marL="457200" rtl="0" algn="l">
              <a:spcBef>
                <a:spcPts val="0"/>
              </a:spcBef>
              <a:spcAft>
                <a:spcPts val="0"/>
              </a:spcAft>
              <a:buClr>
                <a:schemeClr val="dk1"/>
              </a:buClr>
              <a:buSzPts val="1500"/>
              <a:buFont typeface="Calibri"/>
              <a:buAutoNum type="arabicPeriod" startAt="6"/>
            </a:pPr>
            <a:r>
              <a:rPr lang="en" sz="1500">
                <a:solidFill>
                  <a:schemeClr val="dk1"/>
                </a:solidFill>
                <a:latin typeface="Calibri"/>
                <a:ea typeface="Calibri"/>
                <a:cs typeface="Calibri"/>
                <a:sym typeface="Calibri"/>
              </a:rPr>
              <a:t>Consolidation and Maturity</a:t>
            </a:r>
            <a:endParaRPr sz="1500">
              <a:solidFill>
                <a:schemeClr val="dk1"/>
              </a:solidFill>
              <a:latin typeface="Calibri"/>
              <a:ea typeface="Calibri"/>
              <a:cs typeface="Calibri"/>
              <a:sym typeface="Calibri"/>
            </a:endParaRPr>
          </a:p>
        </p:txBody>
      </p:sp>
      <p:pic>
        <p:nvPicPr>
          <p:cNvPr id="1272" name="Google Shape;1272;p60"/>
          <p:cNvPicPr preferRelativeResize="0"/>
          <p:nvPr/>
        </p:nvPicPr>
        <p:blipFill>
          <a:blip r:embed="rId3">
            <a:alphaModFix/>
          </a:blip>
          <a:stretch>
            <a:fillRect/>
          </a:stretch>
        </p:blipFill>
        <p:spPr>
          <a:xfrm>
            <a:off x="4230600" y="2049238"/>
            <a:ext cx="562150" cy="562150"/>
          </a:xfrm>
          <a:prstGeom prst="rect">
            <a:avLst/>
          </a:prstGeom>
          <a:solidFill>
            <a:schemeClr val="lt1"/>
          </a:solidFill>
          <a:ln>
            <a:noFill/>
          </a:ln>
        </p:spPr>
      </p:pic>
      <p:pic>
        <p:nvPicPr>
          <p:cNvPr id="1273" name="Google Shape;1273;p60"/>
          <p:cNvPicPr preferRelativeResize="0"/>
          <p:nvPr/>
        </p:nvPicPr>
        <p:blipFill>
          <a:blip r:embed="rId4">
            <a:alphaModFix/>
          </a:blip>
          <a:stretch>
            <a:fillRect/>
          </a:stretch>
        </p:blipFill>
        <p:spPr>
          <a:xfrm>
            <a:off x="4230599" y="547200"/>
            <a:ext cx="562141" cy="532250"/>
          </a:xfrm>
          <a:prstGeom prst="rect">
            <a:avLst/>
          </a:prstGeom>
          <a:solidFill>
            <a:schemeClr val="lt1"/>
          </a:solidFill>
          <a:ln>
            <a:noFill/>
          </a:ln>
        </p:spPr>
      </p:pic>
      <p:pic>
        <p:nvPicPr>
          <p:cNvPr id="1274" name="Google Shape;1274;p60"/>
          <p:cNvPicPr preferRelativeResize="0"/>
          <p:nvPr/>
        </p:nvPicPr>
        <p:blipFill>
          <a:blip r:embed="rId5">
            <a:alphaModFix/>
          </a:blip>
          <a:stretch>
            <a:fillRect/>
          </a:stretch>
        </p:blipFill>
        <p:spPr>
          <a:xfrm>
            <a:off x="4254500" y="1307175"/>
            <a:ext cx="514350" cy="514350"/>
          </a:xfrm>
          <a:prstGeom prst="rect">
            <a:avLst/>
          </a:prstGeom>
          <a:solidFill>
            <a:schemeClr val="lt1"/>
          </a:solidFill>
          <a:ln>
            <a:noFill/>
          </a:ln>
        </p:spPr>
      </p:pic>
      <p:pic>
        <p:nvPicPr>
          <p:cNvPr id="1275" name="Google Shape;1275;p60"/>
          <p:cNvPicPr preferRelativeResize="0"/>
          <p:nvPr/>
        </p:nvPicPr>
        <p:blipFill>
          <a:blip r:embed="rId6">
            <a:alphaModFix/>
          </a:blip>
          <a:stretch>
            <a:fillRect/>
          </a:stretch>
        </p:blipFill>
        <p:spPr>
          <a:xfrm>
            <a:off x="4314825" y="3443925"/>
            <a:ext cx="514350" cy="514350"/>
          </a:xfrm>
          <a:prstGeom prst="rect">
            <a:avLst/>
          </a:prstGeom>
          <a:solidFill>
            <a:schemeClr val="lt1"/>
          </a:solidFill>
          <a:ln>
            <a:noFill/>
          </a:ln>
        </p:spPr>
      </p:pic>
      <p:pic>
        <p:nvPicPr>
          <p:cNvPr id="1276" name="Google Shape;1276;p60"/>
          <p:cNvPicPr preferRelativeResize="0"/>
          <p:nvPr/>
        </p:nvPicPr>
        <p:blipFill>
          <a:blip r:embed="rId7">
            <a:alphaModFix/>
          </a:blip>
          <a:stretch>
            <a:fillRect/>
          </a:stretch>
        </p:blipFill>
        <p:spPr>
          <a:xfrm>
            <a:off x="4314825" y="4146725"/>
            <a:ext cx="514350" cy="514350"/>
          </a:xfrm>
          <a:prstGeom prst="rect">
            <a:avLst/>
          </a:prstGeom>
          <a:noFill/>
          <a:ln>
            <a:noFill/>
          </a:ln>
        </p:spPr>
      </p:pic>
      <p:sp>
        <p:nvSpPr>
          <p:cNvPr id="1277" name="Google Shape;1277;p60"/>
          <p:cNvSpPr/>
          <p:nvPr/>
        </p:nvSpPr>
        <p:spPr>
          <a:xfrm>
            <a:off x="4928864" y="2739350"/>
            <a:ext cx="3874200" cy="6351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323850" lvl="0" marL="457200" rtl="0" algn="l">
              <a:spcBef>
                <a:spcPts val="0"/>
              </a:spcBef>
              <a:spcAft>
                <a:spcPts val="0"/>
              </a:spcAft>
              <a:buClr>
                <a:schemeClr val="dk1"/>
              </a:buClr>
              <a:buSzPts val="1500"/>
              <a:buFont typeface="Calibri"/>
              <a:buAutoNum type="arabicPeriod" startAt="4"/>
            </a:pPr>
            <a:r>
              <a:rPr lang="en" sz="1500">
                <a:solidFill>
                  <a:schemeClr val="dk1"/>
                </a:solidFill>
                <a:latin typeface="Calibri"/>
                <a:ea typeface="Calibri"/>
                <a:cs typeface="Calibri"/>
                <a:sym typeface="Calibri"/>
              </a:rPr>
              <a:t>Architectural</a:t>
            </a:r>
            <a:r>
              <a:rPr lang="en" sz="1500">
                <a:solidFill>
                  <a:schemeClr val="dk1"/>
                </a:solidFill>
                <a:latin typeface="Calibri"/>
                <a:ea typeface="Calibri"/>
                <a:cs typeface="Calibri"/>
                <a:sym typeface="Calibri"/>
              </a:rPr>
              <a:t> Flexibility</a:t>
            </a:r>
            <a:endParaRPr sz="15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1" name="Shape 1281"/>
        <p:cNvGrpSpPr/>
        <p:nvPr/>
      </p:nvGrpSpPr>
      <p:grpSpPr>
        <a:xfrm>
          <a:off x="0" y="0"/>
          <a:ext cx="0" cy="0"/>
          <a:chOff x="0" y="0"/>
          <a:chExt cx="0" cy="0"/>
        </a:xfrm>
      </p:grpSpPr>
      <p:sp>
        <p:nvSpPr>
          <p:cNvPr id="1282" name="Google Shape;1282;p6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3" name="Google Shape;1283;p61"/>
          <p:cNvSpPr/>
          <p:nvPr/>
        </p:nvSpPr>
        <p:spPr>
          <a:xfrm>
            <a:off x="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284" name="Google Shape;1284;p61"/>
          <p:cNvSpPr txBox="1"/>
          <p:nvPr>
            <p:ph type="title"/>
          </p:nvPr>
        </p:nvSpPr>
        <p:spPr>
          <a:xfrm>
            <a:off x="506925" y="83042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The Rise and Fall of MapReduce</a:t>
            </a:r>
            <a:endParaRPr/>
          </a:p>
        </p:txBody>
      </p:sp>
      <p:grpSp>
        <p:nvGrpSpPr>
          <p:cNvPr id="1285" name="Google Shape;1285;p61"/>
          <p:cNvGrpSpPr/>
          <p:nvPr/>
        </p:nvGrpSpPr>
        <p:grpSpPr>
          <a:xfrm>
            <a:off x="-1" y="152184"/>
            <a:ext cx="1432688" cy="532245"/>
            <a:chOff x="2267504" y="2540250"/>
            <a:chExt cx="1990951" cy="739640"/>
          </a:xfrm>
        </p:grpSpPr>
        <p:sp>
          <p:nvSpPr>
            <p:cNvPr id="1286" name="Google Shape;1286;p61"/>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87" name="Google Shape;1287;p61"/>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288" name="Google Shape;1288;p61"/>
          <p:cNvSpPr/>
          <p:nvPr/>
        </p:nvSpPr>
        <p:spPr>
          <a:xfrm>
            <a:off x="304695" y="3564156"/>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289" name="Google Shape;1289;p61"/>
          <p:cNvSpPr/>
          <p:nvPr/>
        </p:nvSpPr>
        <p:spPr>
          <a:xfrm>
            <a:off x="304695" y="3564156"/>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290" name="Google Shape;1290;p61"/>
          <p:cNvGrpSpPr/>
          <p:nvPr/>
        </p:nvGrpSpPr>
        <p:grpSpPr>
          <a:xfrm>
            <a:off x="3082209" y="4154928"/>
            <a:ext cx="731373" cy="731374"/>
            <a:chOff x="5829300" y="3162300"/>
            <a:chExt cx="532256" cy="532257"/>
          </a:xfrm>
        </p:grpSpPr>
        <p:sp>
          <p:nvSpPr>
            <p:cNvPr id="1291" name="Google Shape;1291;p61"/>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2" name="Google Shape;1292;p61"/>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3" name="Google Shape;1293;p61"/>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4" name="Google Shape;1294;p61"/>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5" name="Google Shape;1295;p61"/>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6" name="Google Shape;1296;p61"/>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7" name="Google Shape;1297;p61"/>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8" name="Google Shape;1298;p61"/>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299" name="Google Shape;1299;p61"/>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0" name="Google Shape;1300;p61"/>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1" name="Google Shape;1301;p61"/>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2" name="Google Shape;1302;p61"/>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03" name="Google Shape;1303;p61"/>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cxnSp>
        <p:nvCxnSpPr>
          <p:cNvPr id="1304" name="Google Shape;1304;p61"/>
          <p:cNvCxnSpPr>
            <a:stCxn id="1305" idx="6"/>
            <a:endCxn id="1306" idx="2"/>
          </p:cNvCxnSpPr>
          <p:nvPr/>
        </p:nvCxnSpPr>
        <p:spPr>
          <a:xfrm>
            <a:off x="4947025" y="2359400"/>
            <a:ext cx="702300" cy="936000"/>
          </a:xfrm>
          <a:prstGeom prst="bentConnector3">
            <a:avLst>
              <a:gd fmla="val 49995" name="adj1"/>
            </a:avLst>
          </a:prstGeom>
          <a:noFill/>
          <a:ln cap="flat" cmpd="sng" w="9525">
            <a:solidFill>
              <a:srgbClr val="C2C2C2"/>
            </a:solidFill>
            <a:prstDash val="solid"/>
            <a:round/>
            <a:headEnd len="sm" w="sm" type="none"/>
            <a:tailEnd len="sm" w="sm" type="none"/>
          </a:ln>
        </p:spPr>
      </p:cxnSp>
      <p:cxnSp>
        <p:nvCxnSpPr>
          <p:cNvPr id="1307" name="Google Shape;1307;p61"/>
          <p:cNvCxnSpPr>
            <a:stCxn id="1305" idx="6"/>
            <a:endCxn id="1308" idx="2"/>
          </p:cNvCxnSpPr>
          <p:nvPr/>
        </p:nvCxnSpPr>
        <p:spPr>
          <a:xfrm flipH="1" rot="10800000">
            <a:off x="4947025" y="1423400"/>
            <a:ext cx="702300" cy="936000"/>
          </a:xfrm>
          <a:prstGeom prst="bentConnector3">
            <a:avLst>
              <a:gd fmla="val 49995" name="adj1"/>
            </a:avLst>
          </a:prstGeom>
          <a:noFill/>
          <a:ln cap="flat" cmpd="sng" w="9525">
            <a:solidFill>
              <a:srgbClr val="C2C2C2"/>
            </a:solidFill>
            <a:prstDash val="solid"/>
            <a:round/>
            <a:headEnd len="sm" w="sm" type="none"/>
            <a:tailEnd len="sm" w="sm" type="none"/>
          </a:ln>
        </p:spPr>
      </p:cxnSp>
      <p:cxnSp>
        <p:nvCxnSpPr>
          <p:cNvPr id="1309" name="Google Shape;1309;p61"/>
          <p:cNvCxnSpPr>
            <a:stCxn id="1310" idx="3"/>
            <a:endCxn id="1311" idx="0"/>
          </p:cNvCxnSpPr>
          <p:nvPr/>
        </p:nvCxnSpPr>
        <p:spPr>
          <a:xfrm flipH="1" rot="10800000">
            <a:off x="7005550" y="868400"/>
            <a:ext cx="422100" cy="555000"/>
          </a:xfrm>
          <a:prstGeom prst="bentConnector4">
            <a:avLst>
              <a:gd fmla="val -3714" name="adj1"/>
              <a:gd fmla="val 86626" name="adj2"/>
            </a:avLst>
          </a:prstGeom>
          <a:noFill/>
          <a:ln cap="flat" cmpd="sng" w="9525">
            <a:solidFill>
              <a:srgbClr val="C2C2C2"/>
            </a:solidFill>
            <a:prstDash val="solid"/>
            <a:round/>
            <a:headEnd len="sm" w="sm" type="none"/>
            <a:tailEnd len="sm" w="sm" type="none"/>
          </a:ln>
        </p:spPr>
      </p:cxnSp>
      <p:grpSp>
        <p:nvGrpSpPr>
          <p:cNvPr id="1312" name="Google Shape;1312;p61"/>
          <p:cNvGrpSpPr/>
          <p:nvPr/>
        </p:nvGrpSpPr>
        <p:grpSpPr>
          <a:xfrm>
            <a:off x="7340550" y="795800"/>
            <a:ext cx="1530300" cy="319200"/>
            <a:chOff x="5592550" y="1018950"/>
            <a:chExt cx="1530300" cy="319200"/>
          </a:xfrm>
        </p:grpSpPr>
        <p:sp>
          <p:nvSpPr>
            <p:cNvPr id="1313" name="Google Shape;1313;p61"/>
            <p:cNvSpPr/>
            <p:nvPr/>
          </p:nvSpPr>
          <p:spPr>
            <a:xfrm>
              <a:off x="5766550" y="1018950"/>
              <a:ext cx="1356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Intro &amp; Disruption</a:t>
              </a:r>
              <a:endParaRPr sz="1200">
                <a:solidFill>
                  <a:schemeClr val="dk1"/>
                </a:solidFill>
                <a:latin typeface="Roboto"/>
                <a:ea typeface="Roboto"/>
                <a:cs typeface="Roboto"/>
                <a:sym typeface="Roboto"/>
              </a:endParaRPr>
            </a:p>
          </p:txBody>
        </p:sp>
        <p:sp>
          <p:nvSpPr>
            <p:cNvPr id="1311" name="Google Shape;1311;p61"/>
            <p:cNvSpPr/>
            <p:nvPr/>
          </p:nvSpPr>
          <p:spPr>
            <a:xfrm>
              <a:off x="5592550" y="10915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14" name="Google Shape;1314;p61"/>
          <p:cNvGrpSpPr/>
          <p:nvPr/>
        </p:nvGrpSpPr>
        <p:grpSpPr>
          <a:xfrm>
            <a:off x="5649250" y="1263800"/>
            <a:ext cx="1356300" cy="319200"/>
            <a:chOff x="3650050" y="1476150"/>
            <a:chExt cx="1356300" cy="319200"/>
          </a:xfrm>
        </p:grpSpPr>
        <p:sp>
          <p:nvSpPr>
            <p:cNvPr id="1310" name="Google Shape;1310;p61"/>
            <p:cNvSpPr/>
            <p:nvPr/>
          </p:nvSpPr>
          <p:spPr>
            <a:xfrm>
              <a:off x="3824050" y="1476150"/>
              <a:ext cx="1182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The Rise</a:t>
              </a:r>
              <a:endParaRPr sz="1200">
                <a:solidFill>
                  <a:schemeClr val="dk1"/>
                </a:solidFill>
                <a:latin typeface="Roboto"/>
                <a:ea typeface="Roboto"/>
                <a:cs typeface="Roboto"/>
                <a:sym typeface="Roboto"/>
              </a:endParaRPr>
            </a:p>
          </p:txBody>
        </p:sp>
        <p:sp>
          <p:nvSpPr>
            <p:cNvPr id="1308" name="Google Shape;1308;p61"/>
            <p:cNvSpPr/>
            <p:nvPr/>
          </p:nvSpPr>
          <p:spPr>
            <a:xfrm>
              <a:off x="3650050" y="1548750"/>
              <a:ext cx="174000" cy="174000"/>
            </a:xfrm>
            <a:prstGeom prst="ellipse">
              <a:avLst/>
            </a:prstGeom>
            <a:solidFill>
              <a:srgbClr val="4141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15" name="Google Shape;1315;p61"/>
          <p:cNvGrpSpPr/>
          <p:nvPr/>
        </p:nvGrpSpPr>
        <p:grpSpPr>
          <a:xfrm>
            <a:off x="3584750" y="2199800"/>
            <a:ext cx="1362275" cy="319200"/>
            <a:chOff x="1596750" y="2412150"/>
            <a:chExt cx="1362275" cy="319200"/>
          </a:xfrm>
        </p:grpSpPr>
        <p:sp>
          <p:nvSpPr>
            <p:cNvPr id="1316" name="Google Shape;1316;p61"/>
            <p:cNvSpPr/>
            <p:nvPr/>
          </p:nvSpPr>
          <p:spPr>
            <a:xfrm>
              <a:off x="1596750" y="2412150"/>
              <a:ext cx="1182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Roboto"/>
                  <a:ea typeface="Roboto"/>
                  <a:cs typeface="Roboto"/>
                  <a:sym typeface="Roboto"/>
                </a:rPr>
                <a:t>MapReduce</a:t>
              </a:r>
              <a:endParaRPr sz="1200">
                <a:solidFill>
                  <a:schemeClr val="dk1"/>
                </a:solidFill>
                <a:latin typeface="Roboto"/>
                <a:ea typeface="Roboto"/>
                <a:cs typeface="Roboto"/>
                <a:sym typeface="Roboto"/>
              </a:endParaRPr>
            </a:p>
          </p:txBody>
        </p:sp>
        <p:sp>
          <p:nvSpPr>
            <p:cNvPr id="1305" name="Google Shape;1305;p61"/>
            <p:cNvSpPr/>
            <p:nvPr/>
          </p:nvSpPr>
          <p:spPr>
            <a:xfrm>
              <a:off x="2785025" y="2484750"/>
              <a:ext cx="174000" cy="174000"/>
            </a:xfrm>
            <a:prstGeom prst="ellipse">
              <a:avLst/>
            </a:prstGeom>
            <a:solidFill>
              <a:srgbClr val="2F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17" name="Google Shape;1317;p61"/>
          <p:cNvGrpSpPr/>
          <p:nvPr/>
        </p:nvGrpSpPr>
        <p:grpSpPr>
          <a:xfrm>
            <a:off x="5649250" y="3135800"/>
            <a:ext cx="1356300" cy="319200"/>
            <a:chOff x="3650050" y="3348150"/>
            <a:chExt cx="1356300" cy="319200"/>
          </a:xfrm>
        </p:grpSpPr>
        <p:sp>
          <p:nvSpPr>
            <p:cNvPr id="1318" name="Google Shape;1318;p61"/>
            <p:cNvSpPr/>
            <p:nvPr/>
          </p:nvSpPr>
          <p:spPr>
            <a:xfrm>
              <a:off x="3824050" y="3348150"/>
              <a:ext cx="1182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The Fall</a:t>
              </a:r>
              <a:endParaRPr sz="1200">
                <a:solidFill>
                  <a:schemeClr val="dk1"/>
                </a:solidFill>
                <a:latin typeface="Roboto"/>
                <a:ea typeface="Roboto"/>
                <a:cs typeface="Roboto"/>
                <a:sym typeface="Roboto"/>
              </a:endParaRPr>
            </a:p>
          </p:txBody>
        </p:sp>
        <p:sp>
          <p:nvSpPr>
            <p:cNvPr id="1306" name="Google Shape;1306;p61"/>
            <p:cNvSpPr/>
            <p:nvPr/>
          </p:nvSpPr>
          <p:spPr>
            <a:xfrm>
              <a:off x="3650050" y="3420750"/>
              <a:ext cx="174000" cy="174000"/>
            </a:xfrm>
            <a:prstGeom prst="ellipse">
              <a:avLst/>
            </a:prstGeom>
            <a:solidFill>
              <a:srgbClr val="4141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19" name="Google Shape;1319;p61"/>
          <p:cNvGrpSpPr/>
          <p:nvPr/>
        </p:nvGrpSpPr>
        <p:grpSpPr>
          <a:xfrm>
            <a:off x="7340550" y="2629325"/>
            <a:ext cx="1803600" cy="319200"/>
            <a:chOff x="5592550" y="2890950"/>
            <a:chExt cx="1803600" cy="319200"/>
          </a:xfrm>
        </p:grpSpPr>
        <p:sp>
          <p:nvSpPr>
            <p:cNvPr id="1320" name="Google Shape;1320;p61"/>
            <p:cNvSpPr/>
            <p:nvPr/>
          </p:nvSpPr>
          <p:spPr>
            <a:xfrm>
              <a:off x="5766550" y="2890950"/>
              <a:ext cx="16296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Critiques &amp; Limitations</a:t>
              </a:r>
              <a:endParaRPr sz="1200">
                <a:solidFill>
                  <a:schemeClr val="dk1"/>
                </a:solidFill>
                <a:latin typeface="Roboto"/>
                <a:ea typeface="Roboto"/>
                <a:cs typeface="Roboto"/>
                <a:sym typeface="Roboto"/>
              </a:endParaRPr>
            </a:p>
          </p:txBody>
        </p:sp>
        <p:sp>
          <p:nvSpPr>
            <p:cNvPr id="1321" name="Google Shape;1321;p61"/>
            <p:cNvSpPr/>
            <p:nvPr/>
          </p:nvSpPr>
          <p:spPr>
            <a:xfrm>
              <a:off x="5592550" y="29635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22" name="Google Shape;1322;p61"/>
          <p:cNvGrpSpPr/>
          <p:nvPr/>
        </p:nvGrpSpPr>
        <p:grpSpPr>
          <a:xfrm>
            <a:off x="7340550" y="3638450"/>
            <a:ext cx="1803600" cy="319200"/>
            <a:chOff x="5592550" y="3805350"/>
            <a:chExt cx="1803600" cy="319200"/>
          </a:xfrm>
        </p:grpSpPr>
        <p:sp>
          <p:nvSpPr>
            <p:cNvPr id="1323" name="Google Shape;1323;p61"/>
            <p:cNvSpPr/>
            <p:nvPr/>
          </p:nvSpPr>
          <p:spPr>
            <a:xfrm>
              <a:off x="5766550" y="3805350"/>
              <a:ext cx="16296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Stonebraker’s Critique</a:t>
              </a:r>
              <a:endParaRPr sz="1200">
                <a:solidFill>
                  <a:schemeClr val="dk1"/>
                </a:solidFill>
                <a:latin typeface="Roboto"/>
                <a:ea typeface="Roboto"/>
                <a:cs typeface="Roboto"/>
                <a:sym typeface="Roboto"/>
              </a:endParaRPr>
            </a:p>
          </p:txBody>
        </p:sp>
        <p:sp>
          <p:nvSpPr>
            <p:cNvPr id="1324" name="Google Shape;1324;p61"/>
            <p:cNvSpPr/>
            <p:nvPr/>
          </p:nvSpPr>
          <p:spPr>
            <a:xfrm>
              <a:off x="5592550" y="38779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25" name="Google Shape;1325;p61"/>
          <p:cNvGrpSpPr/>
          <p:nvPr/>
        </p:nvGrpSpPr>
        <p:grpSpPr>
          <a:xfrm>
            <a:off x="7340550" y="1263800"/>
            <a:ext cx="1530300" cy="319200"/>
            <a:chOff x="5592550" y="1018950"/>
            <a:chExt cx="1530300" cy="319200"/>
          </a:xfrm>
        </p:grpSpPr>
        <p:sp>
          <p:nvSpPr>
            <p:cNvPr id="1326" name="Google Shape;1326;p61"/>
            <p:cNvSpPr/>
            <p:nvPr/>
          </p:nvSpPr>
          <p:spPr>
            <a:xfrm>
              <a:off x="5766550" y="1018950"/>
              <a:ext cx="1356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Popularity</a:t>
              </a:r>
              <a:endParaRPr sz="1200">
                <a:solidFill>
                  <a:schemeClr val="dk1"/>
                </a:solidFill>
                <a:latin typeface="Roboto"/>
                <a:ea typeface="Roboto"/>
                <a:cs typeface="Roboto"/>
                <a:sym typeface="Roboto"/>
              </a:endParaRPr>
            </a:p>
          </p:txBody>
        </p:sp>
        <p:sp>
          <p:nvSpPr>
            <p:cNvPr id="1327" name="Google Shape;1327;p61"/>
            <p:cNvSpPr/>
            <p:nvPr/>
          </p:nvSpPr>
          <p:spPr>
            <a:xfrm>
              <a:off x="5592550" y="10915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28" name="Google Shape;1328;p61"/>
          <p:cNvGrpSpPr/>
          <p:nvPr/>
        </p:nvGrpSpPr>
        <p:grpSpPr>
          <a:xfrm>
            <a:off x="7340550" y="1731788"/>
            <a:ext cx="1530300" cy="319200"/>
            <a:chOff x="5592550" y="1018950"/>
            <a:chExt cx="1530300" cy="319200"/>
          </a:xfrm>
        </p:grpSpPr>
        <p:sp>
          <p:nvSpPr>
            <p:cNvPr id="1329" name="Google Shape;1329;p61"/>
            <p:cNvSpPr/>
            <p:nvPr/>
          </p:nvSpPr>
          <p:spPr>
            <a:xfrm>
              <a:off x="5766550" y="1018950"/>
              <a:ext cx="1356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Open Source</a:t>
              </a:r>
              <a:endParaRPr sz="1200">
                <a:solidFill>
                  <a:schemeClr val="dk1"/>
                </a:solidFill>
                <a:latin typeface="Roboto"/>
                <a:ea typeface="Roboto"/>
                <a:cs typeface="Roboto"/>
                <a:sym typeface="Roboto"/>
              </a:endParaRPr>
            </a:p>
          </p:txBody>
        </p:sp>
        <p:sp>
          <p:nvSpPr>
            <p:cNvPr id="1330" name="Google Shape;1330;p61"/>
            <p:cNvSpPr/>
            <p:nvPr/>
          </p:nvSpPr>
          <p:spPr>
            <a:xfrm>
              <a:off x="5592550" y="10915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cxnSp>
        <p:nvCxnSpPr>
          <p:cNvPr id="1331" name="Google Shape;1331;p61"/>
          <p:cNvCxnSpPr>
            <a:endCxn id="1327" idx="2"/>
          </p:cNvCxnSpPr>
          <p:nvPr/>
        </p:nvCxnSpPr>
        <p:spPr>
          <a:xfrm flipH="1" rot="10800000">
            <a:off x="6729750" y="1423400"/>
            <a:ext cx="610800" cy="2100"/>
          </a:xfrm>
          <a:prstGeom prst="bentConnector3">
            <a:avLst>
              <a:gd fmla="val 43165" name="adj1"/>
            </a:avLst>
          </a:prstGeom>
          <a:noFill/>
          <a:ln cap="flat" cmpd="sng" w="9525">
            <a:solidFill>
              <a:srgbClr val="C2C2C2"/>
            </a:solidFill>
            <a:prstDash val="solid"/>
            <a:round/>
            <a:headEnd len="sm" w="sm" type="none"/>
            <a:tailEnd len="sm" w="sm" type="none"/>
          </a:ln>
        </p:spPr>
      </p:cxnSp>
      <p:cxnSp>
        <p:nvCxnSpPr>
          <p:cNvPr id="1332" name="Google Shape;1332;p61"/>
          <p:cNvCxnSpPr>
            <a:stCxn id="1310" idx="3"/>
            <a:endCxn id="1330" idx="2"/>
          </p:cNvCxnSpPr>
          <p:nvPr/>
        </p:nvCxnSpPr>
        <p:spPr>
          <a:xfrm>
            <a:off x="7005550" y="1423400"/>
            <a:ext cx="335100" cy="468000"/>
          </a:xfrm>
          <a:prstGeom prst="bentConnector3">
            <a:avLst>
              <a:gd fmla="val -3641" name="adj1"/>
            </a:avLst>
          </a:prstGeom>
          <a:noFill/>
          <a:ln cap="flat" cmpd="sng" w="9525">
            <a:solidFill>
              <a:srgbClr val="C2C2C2"/>
            </a:solidFill>
            <a:prstDash val="solid"/>
            <a:round/>
            <a:headEnd len="sm" w="sm" type="none"/>
            <a:tailEnd len="sm" w="sm" type="none"/>
          </a:ln>
        </p:spPr>
      </p:cxnSp>
      <p:cxnSp>
        <p:nvCxnSpPr>
          <p:cNvPr id="1333" name="Google Shape;1333;p61"/>
          <p:cNvCxnSpPr>
            <a:endCxn id="1321" idx="0"/>
          </p:cNvCxnSpPr>
          <p:nvPr/>
        </p:nvCxnSpPr>
        <p:spPr>
          <a:xfrm rot="-5400000">
            <a:off x="6881250" y="2815025"/>
            <a:ext cx="659400" cy="433200"/>
          </a:xfrm>
          <a:prstGeom prst="bentConnector3">
            <a:avLst>
              <a:gd fmla="val 131339" name="adj1"/>
            </a:avLst>
          </a:prstGeom>
          <a:noFill/>
          <a:ln cap="flat" cmpd="sng" w="9525">
            <a:solidFill>
              <a:srgbClr val="C2C2C2"/>
            </a:solidFill>
            <a:prstDash val="solid"/>
            <a:round/>
            <a:headEnd len="sm" w="sm" type="none"/>
            <a:tailEnd len="sm" w="sm" type="none"/>
          </a:ln>
        </p:spPr>
      </p:cxnSp>
      <p:cxnSp>
        <p:nvCxnSpPr>
          <p:cNvPr id="1334" name="Google Shape;1334;p61"/>
          <p:cNvCxnSpPr/>
          <p:nvPr/>
        </p:nvCxnSpPr>
        <p:spPr>
          <a:xfrm flipH="1" rot="10800000">
            <a:off x="6855450" y="3111038"/>
            <a:ext cx="485100" cy="160500"/>
          </a:xfrm>
          <a:prstGeom prst="bentConnector3">
            <a:avLst>
              <a:gd fmla="val 47918" name="adj1"/>
            </a:avLst>
          </a:prstGeom>
          <a:noFill/>
          <a:ln cap="flat" cmpd="sng" w="9525">
            <a:solidFill>
              <a:srgbClr val="C2C2C2"/>
            </a:solidFill>
            <a:prstDash val="solid"/>
            <a:round/>
            <a:headEnd len="sm" w="sm" type="none"/>
            <a:tailEnd len="sm" w="sm" type="none"/>
          </a:ln>
        </p:spPr>
      </p:cxnSp>
      <p:cxnSp>
        <p:nvCxnSpPr>
          <p:cNvPr id="1335" name="Google Shape;1335;p61"/>
          <p:cNvCxnSpPr/>
          <p:nvPr/>
        </p:nvCxnSpPr>
        <p:spPr>
          <a:xfrm>
            <a:off x="7005550" y="3271550"/>
            <a:ext cx="335100" cy="194400"/>
          </a:xfrm>
          <a:prstGeom prst="bentConnector3">
            <a:avLst>
              <a:gd fmla="val 24731" name="adj1"/>
            </a:avLst>
          </a:prstGeom>
          <a:noFill/>
          <a:ln cap="flat" cmpd="sng" w="9525">
            <a:solidFill>
              <a:srgbClr val="C2C2C2"/>
            </a:solidFill>
            <a:prstDash val="solid"/>
            <a:round/>
            <a:headEnd len="sm" w="sm" type="none"/>
            <a:tailEnd len="sm" w="sm" type="none"/>
          </a:ln>
        </p:spPr>
      </p:cxnSp>
      <p:cxnSp>
        <p:nvCxnSpPr>
          <p:cNvPr id="1336" name="Google Shape;1336;p61"/>
          <p:cNvCxnSpPr/>
          <p:nvPr/>
        </p:nvCxnSpPr>
        <p:spPr>
          <a:xfrm>
            <a:off x="6628650" y="3271538"/>
            <a:ext cx="798900" cy="621000"/>
          </a:xfrm>
          <a:prstGeom prst="bentConnector4">
            <a:avLst>
              <a:gd fmla="val 45754" name="adj1"/>
              <a:gd fmla="val 138345" name="adj2"/>
            </a:avLst>
          </a:prstGeom>
          <a:noFill/>
          <a:ln cap="flat" cmpd="sng" w="9525">
            <a:solidFill>
              <a:srgbClr val="C2C2C2"/>
            </a:solidFill>
            <a:prstDash val="solid"/>
            <a:round/>
            <a:headEnd len="sm" w="sm" type="none"/>
            <a:tailEnd len="sm" w="sm" type="none"/>
          </a:ln>
        </p:spPr>
      </p:cxnSp>
      <p:grpSp>
        <p:nvGrpSpPr>
          <p:cNvPr id="1337" name="Google Shape;1337;p61"/>
          <p:cNvGrpSpPr/>
          <p:nvPr/>
        </p:nvGrpSpPr>
        <p:grpSpPr>
          <a:xfrm>
            <a:off x="7340550" y="2952350"/>
            <a:ext cx="1356300" cy="319200"/>
            <a:chOff x="5592550" y="2890950"/>
            <a:chExt cx="1356300" cy="319200"/>
          </a:xfrm>
        </p:grpSpPr>
        <p:sp>
          <p:nvSpPr>
            <p:cNvPr id="1338" name="Google Shape;1338;p61"/>
            <p:cNvSpPr/>
            <p:nvPr/>
          </p:nvSpPr>
          <p:spPr>
            <a:xfrm>
              <a:off x="5766550" y="2890950"/>
              <a:ext cx="1182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The SQL Shift</a:t>
              </a:r>
              <a:endParaRPr sz="1200">
                <a:solidFill>
                  <a:schemeClr val="dk1"/>
                </a:solidFill>
                <a:latin typeface="Roboto"/>
                <a:ea typeface="Roboto"/>
                <a:cs typeface="Roboto"/>
                <a:sym typeface="Roboto"/>
              </a:endParaRPr>
            </a:p>
          </p:txBody>
        </p:sp>
        <p:sp>
          <p:nvSpPr>
            <p:cNvPr id="1339" name="Google Shape;1339;p61"/>
            <p:cNvSpPr/>
            <p:nvPr/>
          </p:nvSpPr>
          <p:spPr>
            <a:xfrm>
              <a:off x="5592550" y="29635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grpSp>
        <p:nvGrpSpPr>
          <p:cNvPr id="1340" name="Google Shape;1340;p61"/>
          <p:cNvGrpSpPr/>
          <p:nvPr/>
        </p:nvGrpSpPr>
        <p:grpSpPr>
          <a:xfrm>
            <a:off x="7340550" y="3295400"/>
            <a:ext cx="1356300" cy="319200"/>
            <a:chOff x="5592550" y="2890950"/>
            <a:chExt cx="1356300" cy="319200"/>
          </a:xfrm>
        </p:grpSpPr>
        <p:sp>
          <p:nvSpPr>
            <p:cNvPr id="1341" name="Google Shape;1341;p61"/>
            <p:cNvSpPr/>
            <p:nvPr/>
          </p:nvSpPr>
          <p:spPr>
            <a:xfrm>
              <a:off x="5766550" y="2890950"/>
              <a:ext cx="1182300" cy="3192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Evolution</a:t>
              </a:r>
              <a:endParaRPr sz="1200">
                <a:solidFill>
                  <a:schemeClr val="dk1"/>
                </a:solidFill>
                <a:latin typeface="Roboto"/>
                <a:ea typeface="Roboto"/>
                <a:cs typeface="Roboto"/>
                <a:sym typeface="Roboto"/>
              </a:endParaRPr>
            </a:p>
          </p:txBody>
        </p:sp>
        <p:sp>
          <p:nvSpPr>
            <p:cNvPr id="1342" name="Google Shape;1342;p61"/>
            <p:cNvSpPr/>
            <p:nvPr/>
          </p:nvSpPr>
          <p:spPr>
            <a:xfrm>
              <a:off x="5592550" y="2963550"/>
              <a:ext cx="174000" cy="174000"/>
            </a:xfrm>
            <a:prstGeom prst="ellipse">
              <a:avLst/>
            </a:prstGeom>
            <a:solidFill>
              <a:srgbClr val="505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p:txBody>
        </p:sp>
      </p:grpSp>
      <p:pic>
        <p:nvPicPr>
          <p:cNvPr id="1343" name="Google Shape;1343;p61"/>
          <p:cNvPicPr preferRelativeResize="0"/>
          <p:nvPr/>
        </p:nvPicPr>
        <p:blipFill>
          <a:blip r:embed="rId3">
            <a:alphaModFix/>
          </a:blip>
          <a:stretch>
            <a:fillRect/>
          </a:stretch>
        </p:blipFill>
        <p:spPr>
          <a:xfrm>
            <a:off x="3967238" y="2561277"/>
            <a:ext cx="1682020" cy="532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7" name="Shape 1347"/>
        <p:cNvGrpSpPr/>
        <p:nvPr/>
      </p:nvGrpSpPr>
      <p:grpSpPr>
        <a:xfrm>
          <a:off x="0" y="0"/>
          <a:ext cx="0" cy="0"/>
          <a:chOff x="0" y="0"/>
          <a:chExt cx="0" cy="0"/>
        </a:xfrm>
      </p:grpSpPr>
      <p:sp>
        <p:nvSpPr>
          <p:cNvPr id="1348" name="Google Shape;1348;p62"/>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49" name="Google Shape;1349;p62"/>
          <p:cNvSpPr/>
          <p:nvPr/>
        </p:nvSpPr>
        <p:spPr>
          <a:xfrm flipH="1">
            <a:off x="0" y="0"/>
            <a:ext cx="9144000" cy="1182000"/>
          </a:xfrm>
          <a:prstGeom prst="rect">
            <a:avLst/>
          </a:prstGeom>
          <a:gradFill>
            <a:gsLst>
              <a:gs pos="0">
                <a:srgbClr val="000000">
                  <a:alpha val="95686"/>
                </a:srgbClr>
              </a:gs>
              <a:gs pos="100000">
                <a:srgbClr val="2F5496"/>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50" name="Google Shape;1350;p62"/>
          <p:cNvSpPr/>
          <p:nvPr/>
        </p:nvSpPr>
        <p:spPr>
          <a:xfrm flipH="1" rot="10800000">
            <a:off x="6096643" y="9"/>
            <a:ext cx="3047400" cy="1182300"/>
          </a:xfrm>
          <a:prstGeom prst="rect">
            <a:avLst/>
          </a:prstGeom>
          <a:gradFill>
            <a:gsLst>
              <a:gs pos="0">
                <a:srgbClr val="1F3864">
                  <a:alpha val="67843"/>
                </a:srgbClr>
              </a:gs>
              <a:gs pos="19000">
                <a:srgbClr val="1F3864">
                  <a:alpha val="67843"/>
                </a:srgbClr>
              </a:gs>
              <a:gs pos="100000">
                <a:srgbClr val="4472C4">
                  <a:alpha val="78823"/>
                </a:srgbClr>
              </a:gs>
            </a:gsLst>
            <a:lin ang="1920016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51" name="Google Shape;1351;p62"/>
          <p:cNvSpPr/>
          <p:nvPr/>
        </p:nvSpPr>
        <p:spPr>
          <a:xfrm rot="5400000">
            <a:off x="3980851" y="-3981000"/>
            <a:ext cx="1182300" cy="9144000"/>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52" name="Google Shape;1352;p62"/>
          <p:cNvSpPr/>
          <p:nvPr/>
        </p:nvSpPr>
        <p:spPr>
          <a:xfrm>
            <a:off x="1349998" y="261899"/>
            <a:ext cx="7533000" cy="658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SzPts val="3300"/>
              <a:buNone/>
            </a:pPr>
            <a:r>
              <a:rPr lang="en" sz="2800">
                <a:solidFill>
                  <a:schemeClr val="lt1"/>
                </a:solidFill>
              </a:rPr>
              <a:t>Spark’s Problem</a:t>
            </a:r>
            <a:endParaRPr sz="3000">
              <a:solidFill>
                <a:srgbClr val="FFFFFF"/>
              </a:solidFill>
              <a:latin typeface="Calibri"/>
              <a:ea typeface="Calibri"/>
              <a:cs typeface="Calibri"/>
              <a:sym typeface="Calibri"/>
            </a:endParaRPr>
          </a:p>
        </p:txBody>
      </p:sp>
      <p:grpSp>
        <p:nvGrpSpPr>
          <p:cNvPr id="1353" name="Google Shape;1353;p62"/>
          <p:cNvGrpSpPr/>
          <p:nvPr/>
        </p:nvGrpSpPr>
        <p:grpSpPr>
          <a:xfrm>
            <a:off x="0" y="160683"/>
            <a:ext cx="1432887" cy="532245"/>
            <a:chOff x="2267504" y="2540250"/>
            <a:chExt cx="1990951" cy="739640"/>
          </a:xfrm>
        </p:grpSpPr>
        <p:sp>
          <p:nvSpPr>
            <p:cNvPr id="1354" name="Google Shape;1354;p62"/>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55" name="Google Shape;1355;p62"/>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356" name="Google Shape;1356;p62"/>
          <p:cNvGrpSpPr/>
          <p:nvPr/>
        </p:nvGrpSpPr>
        <p:grpSpPr>
          <a:xfrm>
            <a:off x="853950" y="2171125"/>
            <a:ext cx="3242752" cy="2086642"/>
            <a:chOff x="-5" y="2427"/>
            <a:chExt cx="6301500" cy="1424718"/>
          </a:xfrm>
        </p:grpSpPr>
        <p:sp>
          <p:nvSpPr>
            <p:cNvPr id="1357" name="Google Shape;1357;p62"/>
            <p:cNvSpPr/>
            <p:nvPr/>
          </p:nvSpPr>
          <p:spPr>
            <a:xfrm>
              <a:off x="-5" y="2444"/>
              <a:ext cx="6301500" cy="14247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8" name="Google Shape;1358;p62"/>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9" name="Google Shape;1359;p62"/>
            <p:cNvSpPr txBox="1"/>
            <p:nvPr/>
          </p:nvSpPr>
          <p:spPr>
            <a:xfrm>
              <a:off x="-5" y="2427"/>
              <a:ext cx="6301500" cy="1424700"/>
            </a:xfrm>
            <a:prstGeom prst="rect">
              <a:avLst/>
            </a:prstGeom>
            <a:noFill/>
            <a:ln>
              <a:noFill/>
            </a:ln>
          </p:spPr>
          <p:txBody>
            <a:bodyPr anchorCtr="0" anchor="ctr" bIns="98150" lIns="98150" spcFirstLastPara="1" rIns="98150" wrap="square" tIns="98150">
              <a:noAutofit/>
            </a:bodyPr>
            <a:lstStyle/>
            <a:p>
              <a:pPr indent="0" lvl="0" marL="0" rtl="0" algn="l">
                <a:lnSpc>
                  <a:spcPct val="90000"/>
                </a:lnSpc>
                <a:spcBef>
                  <a:spcPts val="0"/>
                </a:spcBef>
                <a:spcAft>
                  <a:spcPts val="0"/>
                </a:spcAft>
                <a:buNone/>
              </a:pPr>
              <a:r>
                <a:rPr lang="en" sz="1700">
                  <a:latin typeface="Calibri"/>
                  <a:ea typeface="Calibri"/>
                  <a:cs typeface="Calibri"/>
                  <a:sym typeface="Calibri"/>
                </a:rPr>
                <a:t>A high percentage of the Spark accesses are through SparkSQL. This is an issue because its primary identity shifts towards an SQL platform and overshadows it as a distributed applications platform.</a:t>
              </a:r>
              <a:endParaRPr sz="1700">
                <a:latin typeface="Calibri"/>
                <a:ea typeface="Calibri"/>
                <a:cs typeface="Calibri"/>
                <a:sym typeface="Calibri"/>
              </a:endParaRPr>
            </a:p>
          </p:txBody>
        </p:sp>
      </p:grpSp>
      <p:grpSp>
        <p:nvGrpSpPr>
          <p:cNvPr id="1360" name="Google Shape;1360;p62"/>
          <p:cNvGrpSpPr/>
          <p:nvPr/>
        </p:nvGrpSpPr>
        <p:grpSpPr>
          <a:xfrm>
            <a:off x="5215500" y="2171125"/>
            <a:ext cx="3242754" cy="2086513"/>
            <a:chOff x="-5" y="2439"/>
            <a:chExt cx="6301505" cy="2782388"/>
          </a:xfrm>
        </p:grpSpPr>
        <p:sp>
          <p:nvSpPr>
            <p:cNvPr id="1361" name="Google Shape;1361;p62"/>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2" name="Google Shape;1362;p62"/>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3" name="Google Shape;1363;p62"/>
            <p:cNvSpPr txBox="1"/>
            <p:nvPr/>
          </p:nvSpPr>
          <p:spPr>
            <a:xfrm>
              <a:off x="-5" y="98493"/>
              <a:ext cx="63015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None/>
              </a:pPr>
              <a:r>
                <a:rPr lang="en" sz="1700">
                  <a:latin typeface="Calibri"/>
                  <a:ea typeface="Calibri"/>
                  <a:cs typeface="Calibri"/>
                  <a:sym typeface="Calibri"/>
                </a:rPr>
                <a:t>Need for mechanisms for persistence, indexing, and </a:t>
              </a:r>
              <a:r>
                <a:rPr lang="en" sz="1700">
                  <a:latin typeface="Calibri"/>
                  <a:ea typeface="Calibri"/>
                  <a:cs typeface="Calibri"/>
                  <a:sym typeface="Calibri"/>
                </a:rPr>
                <a:t>metadata.</a:t>
              </a:r>
              <a:r>
                <a:rPr lang="en" sz="1700">
                  <a:latin typeface="Calibri"/>
                  <a:ea typeface="Calibri"/>
                  <a:cs typeface="Calibri"/>
                  <a:sym typeface="Calibri"/>
                </a:rPr>
                <a:t> </a:t>
              </a:r>
              <a:endParaRPr sz="1700">
                <a:latin typeface="Calibri"/>
                <a:ea typeface="Calibri"/>
                <a:cs typeface="Calibri"/>
                <a:sym typeface="Calibri"/>
              </a:endParaRPr>
            </a:p>
          </p:txBody>
        </p:sp>
        <p:sp>
          <p:nvSpPr>
            <p:cNvPr id="1364" name="Google Shape;1364;p62"/>
            <p:cNvSpPr/>
            <p:nvPr/>
          </p:nvSpPr>
          <p:spPr>
            <a:xfrm>
              <a:off x="0" y="1548210"/>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5" name="Google Shape;1365;p62"/>
            <p:cNvSpPr/>
            <p:nvPr/>
          </p:nvSpPr>
          <p:spPr>
            <a:xfrm>
              <a:off x="1428292" y="1548210"/>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6" name="Google Shape;1366;p62"/>
            <p:cNvSpPr txBox="1"/>
            <p:nvPr/>
          </p:nvSpPr>
          <p:spPr>
            <a:xfrm>
              <a:off x="-5" y="1548227"/>
              <a:ext cx="6301500" cy="1236600"/>
            </a:xfrm>
            <a:prstGeom prst="rect">
              <a:avLst/>
            </a:prstGeom>
            <a:noFill/>
            <a:ln>
              <a:noFill/>
            </a:ln>
          </p:spPr>
          <p:txBody>
            <a:bodyPr anchorCtr="0" anchor="ctr" bIns="98150" lIns="98150" spcFirstLastPara="1" rIns="98150" wrap="square" tIns="98150">
              <a:noAutofit/>
            </a:bodyPr>
            <a:lstStyle/>
            <a:p>
              <a:pPr indent="0" lvl="0" marL="0" marR="0" rtl="0" algn="l">
                <a:lnSpc>
                  <a:spcPct val="90000"/>
                </a:lnSpc>
                <a:spcBef>
                  <a:spcPts val="0"/>
                </a:spcBef>
                <a:spcAft>
                  <a:spcPts val="0"/>
                </a:spcAft>
                <a:buClr>
                  <a:schemeClr val="dk1"/>
                </a:buClr>
                <a:buSzPts val="1700"/>
                <a:buFont typeface="Calibri"/>
                <a:buNone/>
              </a:pPr>
              <a:r>
                <a:rPr lang="en" sz="1700">
                  <a:latin typeface="Calibri"/>
                  <a:ea typeface="Calibri"/>
                  <a:cs typeface="Calibri"/>
                  <a:sym typeface="Calibri"/>
                </a:rPr>
                <a:t>The main memory limitation and integration.</a:t>
              </a:r>
              <a:endParaRPr sz="1700">
                <a:latin typeface="Calibri"/>
                <a:ea typeface="Calibri"/>
                <a:cs typeface="Calibri"/>
                <a:sym typeface="Calibri"/>
              </a:endParaRPr>
            </a:p>
          </p:txBody>
        </p:sp>
      </p:grpSp>
      <p:sp>
        <p:nvSpPr>
          <p:cNvPr id="1367" name="Google Shape;1367;p62"/>
          <p:cNvSpPr/>
          <p:nvPr/>
        </p:nvSpPr>
        <p:spPr>
          <a:xfrm>
            <a:off x="285949" y="1584850"/>
            <a:ext cx="2789700" cy="658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SzPts val="3300"/>
              <a:buNone/>
            </a:pPr>
            <a:r>
              <a:rPr lang="en" sz="2600">
                <a:solidFill>
                  <a:schemeClr val="dk1"/>
                </a:solidFill>
                <a:latin typeface="Calibri"/>
                <a:ea typeface="Calibri"/>
                <a:cs typeface="Calibri"/>
                <a:sym typeface="Calibri"/>
              </a:rPr>
              <a:t>The Problem:</a:t>
            </a:r>
            <a:endParaRPr sz="2600">
              <a:solidFill>
                <a:schemeClr val="dk1"/>
              </a:solidFill>
              <a:latin typeface="Calibri"/>
              <a:ea typeface="Calibri"/>
              <a:cs typeface="Calibri"/>
              <a:sym typeface="Calibri"/>
            </a:endParaRPr>
          </a:p>
        </p:txBody>
      </p:sp>
      <p:sp>
        <p:nvSpPr>
          <p:cNvPr id="1368" name="Google Shape;1368;p62"/>
          <p:cNvSpPr/>
          <p:nvPr/>
        </p:nvSpPr>
        <p:spPr>
          <a:xfrm>
            <a:off x="4571999" y="1584850"/>
            <a:ext cx="2789700" cy="658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SzPts val="3300"/>
              <a:buNone/>
            </a:pPr>
            <a:r>
              <a:rPr lang="en" sz="2600">
                <a:solidFill>
                  <a:schemeClr val="dk1"/>
                </a:solidFill>
                <a:latin typeface="Calibri"/>
                <a:ea typeface="Calibri"/>
                <a:cs typeface="Calibri"/>
                <a:sym typeface="Calibri"/>
              </a:rPr>
              <a:t>The Challenges:</a:t>
            </a:r>
            <a:endParaRPr sz="2600">
              <a:solidFill>
                <a:schemeClr val="dk1"/>
              </a:solidFill>
              <a:latin typeface="Calibri"/>
              <a:ea typeface="Calibri"/>
              <a:cs typeface="Calibri"/>
              <a:sym typeface="Calibri"/>
            </a:endParaRPr>
          </a:p>
        </p:txBody>
      </p:sp>
      <p:pic>
        <p:nvPicPr>
          <p:cNvPr id="1369" name="Google Shape;1369;p62"/>
          <p:cNvPicPr preferRelativeResize="0"/>
          <p:nvPr/>
        </p:nvPicPr>
        <p:blipFill>
          <a:blip r:embed="rId3">
            <a:alphaModFix/>
          </a:blip>
          <a:stretch>
            <a:fillRect/>
          </a:stretch>
        </p:blipFill>
        <p:spPr>
          <a:xfrm>
            <a:off x="285950" y="2243050"/>
            <a:ext cx="487675" cy="487675"/>
          </a:xfrm>
          <a:prstGeom prst="rect">
            <a:avLst/>
          </a:prstGeom>
          <a:noFill/>
          <a:ln>
            <a:noFill/>
          </a:ln>
        </p:spPr>
      </p:pic>
      <p:pic>
        <p:nvPicPr>
          <p:cNvPr id="1370" name="Google Shape;1370;p62"/>
          <p:cNvPicPr preferRelativeResize="0"/>
          <p:nvPr/>
        </p:nvPicPr>
        <p:blipFill>
          <a:blip r:embed="rId4">
            <a:alphaModFix/>
          </a:blip>
          <a:stretch>
            <a:fillRect/>
          </a:stretch>
        </p:blipFill>
        <p:spPr>
          <a:xfrm>
            <a:off x="4650000" y="2294775"/>
            <a:ext cx="487675" cy="384229"/>
          </a:xfrm>
          <a:prstGeom prst="rect">
            <a:avLst/>
          </a:prstGeom>
          <a:noFill/>
          <a:ln>
            <a:noFill/>
          </a:ln>
        </p:spPr>
      </p:pic>
      <p:pic>
        <p:nvPicPr>
          <p:cNvPr id="1371" name="Google Shape;1371;p62"/>
          <p:cNvPicPr preferRelativeResize="0"/>
          <p:nvPr/>
        </p:nvPicPr>
        <p:blipFill>
          <a:blip r:embed="rId4">
            <a:alphaModFix/>
          </a:blip>
          <a:stretch>
            <a:fillRect/>
          </a:stretch>
        </p:blipFill>
        <p:spPr>
          <a:xfrm>
            <a:off x="4650000" y="3366925"/>
            <a:ext cx="487675" cy="38422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5" name="Shape 1375"/>
        <p:cNvGrpSpPr/>
        <p:nvPr/>
      </p:nvGrpSpPr>
      <p:grpSpPr>
        <a:xfrm>
          <a:off x="0" y="0"/>
          <a:ext cx="0" cy="0"/>
          <a:chOff x="0" y="0"/>
          <a:chExt cx="0" cy="0"/>
        </a:xfrm>
      </p:grpSpPr>
      <p:sp>
        <p:nvSpPr>
          <p:cNvPr id="1376" name="Google Shape;1376;p63"/>
          <p:cNvSpPr/>
          <p:nvPr/>
        </p:nvSpPr>
        <p:spPr>
          <a:xfrm>
            <a:off x="-12425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77" name="Google Shape;1377;p63"/>
          <p:cNvSpPr/>
          <p:nvPr/>
        </p:nvSpPr>
        <p:spPr>
          <a:xfrm>
            <a:off x="5476200" y="0"/>
            <a:ext cx="36678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78" name="Google Shape;1378;p63"/>
          <p:cNvSpPr txBox="1"/>
          <p:nvPr>
            <p:ph type="title"/>
          </p:nvPr>
        </p:nvSpPr>
        <p:spPr>
          <a:xfrm>
            <a:off x="5970950" y="824325"/>
            <a:ext cx="2897700" cy="31785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3300"/>
              <a:buFont typeface="Calibri"/>
              <a:buNone/>
            </a:pPr>
            <a:r>
              <a:rPr lang="en">
                <a:solidFill>
                  <a:schemeClr val="lt1"/>
                </a:solidFill>
              </a:rPr>
              <a:t>The Future Directions in Data Engines</a:t>
            </a:r>
            <a:endParaRPr/>
          </a:p>
        </p:txBody>
      </p:sp>
      <p:grpSp>
        <p:nvGrpSpPr>
          <p:cNvPr id="1379" name="Google Shape;1379;p63"/>
          <p:cNvGrpSpPr/>
          <p:nvPr/>
        </p:nvGrpSpPr>
        <p:grpSpPr>
          <a:xfrm>
            <a:off x="7711299" y="121134"/>
            <a:ext cx="1432688" cy="532245"/>
            <a:chOff x="2267504" y="2540250"/>
            <a:chExt cx="1990951" cy="739640"/>
          </a:xfrm>
        </p:grpSpPr>
        <p:sp>
          <p:nvSpPr>
            <p:cNvPr id="1380" name="Google Shape;1380;p63"/>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1" name="Google Shape;1381;p63"/>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382" name="Google Shape;1382;p63"/>
          <p:cNvSpPr/>
          <p:nvPr/>
        </p:nvSpPr>
        <p:spPr>
          <a:xfrm>
            <a:off x="8525195" y="3129331"/>
            <a:ext cx="273900" cy="2739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83" name="Google Shape;1383;p63"/>
          <p:cNvSpPr/>
          <p:nvPr/>
        </p:nvSpPr>
        <p:spPr>
          <a:xfrm>
            <a:off x="8525195" y="3129331"/>
            <a:ext cx="273900" cy="273900"/>
          </a:xfrm>
          <a:prstGeom prst="ellipse">
            <a:avLst/>
          </a:prstGeom>
          <a:solidFill>
            <a:schemeClr val="accent6">
              <a:alpha val="29800"/>
            </a:schemeClr>
          </a:solidFill>
          <a:ln cap="flat" cmpd="sng" w="28575">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nvGrpSpPr>
          <p:cNvPr id="1384" name="Google Shape;1384;p63"/>
          <p:cNvGrpSpPr/>
          <p:nvPr/>
        </p:nvGrpSpPr>
        <p:grpSpPr>
          <a:xfrm>
            <a:off x="5239584" y="3947853"/>
            <a:ext cx="731373" cy="731374"/>
            <a:chOff x="5829300" y="3162300"/>
            <a:chExt cx="532256" cy="532257"/>
          </a:xfrm>
        </p:grpSpPr>
        <p:sp>
          <p:nvSpPr>
            <p:cNvPr id="1385" name="Google Shape;1385;p63"/>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6" name="Google Shape;1386;p63"/>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7" name="Google Shape;1387;p63"/>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8" name="Google Shape;1388;p63"/>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89" name="Google Shape;1389;p63"/>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0" name="Google Shape;1390;p63"/>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1" name="Google Shape;1391;p63"/>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2" name="Google Shape;1392;p63"/>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3" name="Google Shape;1393;p63"/>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4" name="Google Shape;1394;p63"/>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5" name="Google Shape;1395;p63"/>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6" name="Google Shape;1396;p63"/>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97" name="Google Shape;1397;p63"/>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1398" name="Google Shape;1398;p63"/>
          <p:cNvGrpSpPr/>
          <p:nvPr/>
        </p:nvGrpSpPr>
        <p:grpSpPr>
          <a:xfrm>
            <a:off x="200425" y="210859"/>
            <a:ext cx="4322728" cy="3040111"/>
            <a:chOff x="-5" y="2439"/>
            <a:chExt cx="6303190" cy="5376921"/>
          </a:xfrm>
        </p:grpSpPr>
        <p:sp>
          <p:nvSpPr>
            <p:cNvPr id="1399" name="Google Shape;1399;p63"/>
            <p:cNvSpPr/>
            <p:nvPr/>
          </p:nvSpPr>
          <p:spPr>
            <a:xfrm>
              <a:off x="0" y="2439"/>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0" name="Google Shape;1400;p63"/>
            <p:cNvSpPr/>
            <p:nvPr/>
          </p:nvSpPr>
          <p:spPr>
            <a:xfrm>
              <a:off x="1428292" y="2439"/>
              <a:ext cx="4873200" cy="12366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1" name="Google Shape;1401;p63"/>
            <p:cNvSpPr txBox="1"/>
            <p:nvPr/>
          </p:nvSpPr>
          <p:spPr>
            <a:xfrm>
              <a:off x="1685" y="2465"/>
              <a:ext cx="6301500" cy="1236600"/>
            </a:xfrm>
            <a:prstGeom prst="rect">
              <a:avLst/>
            </a:prstGeom>
            <a:noFill/>
            <a:ln>
              <a:noFill/>
            </a:ln>
          </p:spPr>
          <p:txBody>
            <a:bodyPr anchorCtr="0" anchor="ctr" bIns="98150" lIns="98150" spcFirstLastPara="1" rIns="98150" wrap="square" tIns="98150">
              <a:noAutofit/>
            </a:bodyPr>
            <a:lstStyle/>
            <a:p>
              <a:pPr indent="-336550" lvl="0" marL="457200" marR="0" rtl="0" algn="l">
                <a:lnSpc>
                  <a:spcPct val="90000"/>
                </a:lnSpc>
                <a:spcBef>
                  <a:spcPts val="0"/>
                </a:spcBef>
                <a:spcAft>
                  <a:spcPts val="0"/>
                </a:spcAft>
                <a:buSzPts val="1700"/>
                <a:buFont typeface="Calibri"/>
                <a:buChar char="○"/>
              </a:pPr>
              <a:r>
                <a:rPr lang="en" sz="1700">
                  <a:latin typeface="Calibri"/>
                  <a:ea typeface="Calibri"/>
                  <a:cs typeface="Calibri"/>
                  <a:sym typeface="Calibri"/>
                </a:rPr>
                <a:t>Specialized Systems for the Performance</a:t>
              </a:r>
              <a:endParaRPr sz="1700">
                <a:latin typeface="Calibri"/>
                <a:ea typeface="Calibri"/>
                <a:cs typeface="Calibri"/>
                <a:sym typeface="Calibri"/>
              </a:endParaRPr>
            </a:p>
          </p:txBody>
        </p:sp>
        <p:sp>
          <p:nvSpPr>
            <p:cNvPr id="1402" name="Google Shape;1402;p63"/>
            <p:cNvSpPr/>
            <p:nvPr/>
          </p:nvSpPr>
          <p:spPr>
            <a:xfrm>
              <a:off x="0" y="1382543"/>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3" name="Google Shape;1403;p63"/>
            <p:cNvSpPr txBox="1"/>
            <p:nvPr/>
          </p:nvSpPr>
          <p:spPr>
            <a:xfrm>
              <a:off x="-5" y="1382560"/>
              <a:ext cx="6301500" cy="1236600"/>
            </a:xfrm>
            <a:prstGeom prst="rect">
              <a:avLst/>
            </a:prstGeom>
            <a:noFill/>
            <a:ln>
              <a:noFill/>
            </a:ln>
          </p:spPr>
          <p:txBody>
            <a:bodyPr anchorCtr="0" anchor="ctr" bIns="98150" lIns="98150" spcFirstLastPara="1" rIns="98150" wrap="square" tIns="98150">
              <a:noAutofit/>
            </a:bodyPr>
            <a:lstStyle/>
            <a:p>
              <a:pPr indent="-336550" lvl="0" marL="457200" marR="0" rtl="0" algn="l">
                <a:lnSpc>
                  <a:spcPct val="90000"/>
                </a:lnSpc>
                <a:spcBef>
                  <a:spcPts val="0"/>
                </a:spcBef>
                <a:spcAft>
                  <a:spcPts val="0"/>
                </a:spcAft>
                <a:buSzPts val="1700"/>
                <a:buFont typeface="Calibri"/>
                <a:buChar char="○"/>
              </a:pPr>
              <a:r>
                <a:rPr lang="en" sz="1700">
                  <a:latin typeface="Calibri"/>
                  <a:ea typeface="Calibri"/>
                  <a:cs typeface="Calibri"/>
                  <a:sym typeface="Calibri"/>
                </a:rPr>
                <a:t>Integration and Evolution Towards Versatility</a:t>
              </a:r>
              <a:endParaRPr sz="1700">
                <a:latin typeface="Calibri"/>
                <a:ea typeface="Calibri"/>
                <a:cs typeface="Calibri"/>
                <a:sym typeface="Calibri"/>
              </a:endParaRPr>
            </a:p>
          </p:txBody>
        </p:sp>
        <p:sp>
          <p:nvSpPr>
            <p:cNvPr id="1404" name="Google Shape;1404;p63"/>
            <p:cNvSpPr/>
            <p:nvPr/>
          </p:nvSpPr>
          <p:spPr>
            <a:xfrm>
              <a:off x="0" y="2762648"/>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5" name="Google Shape;1405;p63"/>
            <p:cNvSpPr txBox="1"/>
            <p:nvPr/>
          </p:nvSpPr>
          <p:spPr>
            <a:xfrm>
              <a:off x="-5" y="2762660"/>
              <a:ext cx="6301500" cy="1236600"/>
            </a:xfrm>
            <a:prstGeom prst="rect">
              <a:avLst/>
            </a:prstGeom>
            <a:noFill/>
            <a:ln>
              <a:noFill/>
            </a:ln>
          </p:spPr>
          <p:txBody>
            <a:bodyPr anchorCtr="0" anchor="ctr" bIns="98150" lIns="98150" spcFirstLastPara="1" rIns="98150" wrap="square" tIns="98150">
              <a:noAutofit/>
            </a:bodyPr>
            <a:lstStyle/>
            <a:p>
              <a:pPr indent="-336550" lvl="0" marL="457200" rtl="0" algn="l">
                <a:lnSpc>
                  <a:spcPct val="90000"/>
                </a:lnSpc>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Improvement of the SQL Capabilities</a:t>
              </a:r>
              <a:endParaRPr sz="1100"/>
            </a:p>
          </p:txBody>
        </p:sp>
        <p:sp>
          <p:nvSpPr>
            <p:cNvPr id="1406" name="Google Shape;1406;p63"/>
            <p:cNvSpPr/>
            <p:nvPr/>
          </p:nvSpPr>
          <p:spPr>
            <a:xfrm>
              <a:off x="0" y="4142752"/>
              <a:ext cx="6301500" cy="12366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7" name="Google Shape;1407;p63"/>
            <p:cNvSpPr txBox="1"/>
            <p:nvPr/>
          </p:nvSpPr>
          <p:spPr>
            <a:xfrm>
              <a:off x="-5" y="4142760"/>
              <a:ext cx="6301500" cy="1236600"/>
            </a:xfrm>
            <a:prstGeom prst="rect">
              <a:avLst/>
            </a:prstGeom>
            <a:noFill/>
            <a:ln>
              <a:noFill/>
            </a:ln>
          </p:spPr>
          <p:txBody>
            <a:bodyPr anchorCtr="0" anchor="ctr" bIns="98150" lIns="98150" spcFirstLastPara="1" rIns="98150" wrap="square" tIns="98150">
              <a:noAutofit/>
            </a:bodyPr>
            <a:lstStyle/>
            <a:p>
              <a:pPr indent="-336550" lvl="0" marL="457200" rtl="0" algn="l">
                <a:lnSpc>
                  <a:spcPct val="90000"/>
                </a:lnSpc>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Adoption of New Interfaces and Systems</a:t>
              </a:r>
              <a:endParaRPr sz="1100"/>
            </a:p>
          </p:txBody>
        </p:sp>
      </p:grpSp>
      <p:sp>
        <p:nvSpPr>
          <p:cNvPr id="1408" name="Google Shape;1408;p63"/>
          <p:cNvSpPr/>
          <p:nvPr/>
        </p:nvSpPr>
        <p:spPr>
          <a:xfrm>
            <a:off x="200425" y="3326525"/>
            <a:ext cx="4323900" cy="7731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9" name="Google Shape;1409;p63"/>
          <p:cNvSpPr txBox="1"/>
          <p:nvPr/>
        </p:nvSpPr>
        <p:spPr>
          <a:xfrm>
            <a:off x="200425" y="3347376"/>
            <a:ext cx="4282500" cy="731400"/>
          </a:xfrm>
          <a:prstGeom prst="rect">
            <a:avLst/>
          </a:prstGeom>
          <a:noFill/>
          <a:ln>
            <a:noFill/>
          </a:ln>
        </p:spPr>
        <p:txBody>
          <a:bodyPr anchorCtr="0" anchor="ctr" bIns="98150" lIns="98150" spcFirstLastPara="1" rIns="98150" wrap="square" tIns="98150">
            <a:noAutofit/>
          </a:bodyPr>
          <a:lstStyle/>
          <a:p>
            <a:pPr indent="-336550" lvl="0" marL="457200" marR="0" rtl="0" algn="l">
              <a:lnSpc>
                <a:spcPct val="90000"/>
              </a:lnSpc>
              <a:spcBef>
                <a:spcPts val="0"/>
              </a:spcBef>
              <a:spcAft>
                <a:spcPts val="0"/>
              </a:spcAft>
              <a:buSzPts val="1700"/>
              <a:buFont typeface="Calibri"/>
              <a:buChar char="○"/>
            </a:pPr>
            <a:r>
              <a:rPr lang="en" sz="1700">
                <a:latin typeface="Calibri"/>
                <a:ea typeface="Calibri"/>
                <a:cs typeface="Calibri"/>
                <a:sym typeface="Calibri"/>
              </a:rPr>
              <a:t>Growth in Commercial &amp; Open Source</a:t>
            </a:r>
            <a:endParaRPr sz="1700">
              <a:latin typeface="Calibri"/>
              <a:ea typeface="Calibri"/>
              <a:cs typeface="Calibri"/>
              <a:sym typeface="Calibri"/>
            </a:endParaRPr>
          </a:p>
        </p:txBody>
      </p:sp>
      <p:sp>
        <p:nvSpPr>
          <p:cNvPr id="1410" name="Google Shape;1410;p63"/>
          <p:cNvSpPr/>
          <p:nvPr/>
        </p:nvSpPr>
        <p:spPr>
          <a:xfrm>
            <a:off x="200425" y="4175175"/>
            <a:ext cx="4323900" cy="731400"/>
          </a:xfrm>
          <a:prstGeom prst="roundRect">
            <a:avLst>
              <a:gd fmla="val 10000" name="adj"/>
            </a:avLst>
          </a:prstGeom>
          <a:solidFill>
            <a:srgbClr val="F2F2F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1" name="Google Shape;1411;p63"/>
          <p:cNvSpPr txBox="1"/>
          <p:nvPr/>
        </p:nvSpPr>
        <p:spPr>
          <a:xfrm>
            <a:off x="200425" y="4154325"/>
            <a:ext cx="4323900" cy="773100"/>
          </a:xfrm>
          <a:prstGeom prst="rect">
            <a:avLst/>
          </a:prstGeom>
          <a:noFill/>
          <a:ln>
            <a:noFill/>
          </a:ln>
        </p:spPr>
        <p:txBody>
          <a:bodyPr anchorCtr="0" anchor="ctr" bIns="98150" lIns="98150" spcFirstLastPara="1" rIns="98150" wrap="square" tIns="98150">
            <a:noAutofit/>
          </a:bodyPr>
          <a:lstStyle/>
          <a:p>
            <a:pPr indent="-336550" lvl="0" marL="457200" marR="0" rtl="0" algn="l">
              <a:lnSpc>
                <a:spcPct val="90000"/>
              </a:lnSpc>
              <a:spcBef>
                <a:spcPts val="0"/>
              </a:spcBef>
              <a:spcAft>
                <a:spcPts val="0"/>
              </a:spcAft>
              <a:buSzPts val="1700"/>
              <a:buFont typeface="Calibri"/>
              <a:buChar char="○"/>
            </a:pPr>
            <a:r>
              <a:rPr lang="en" sz="1700">
                <a:latin typeface="Calibri"/>
                <a:ea typeface="Calibri"/>
                <a:cs typeface="Calibri"/>
                <a:sym typeface="Calibri"/>
              </a:rPr>
              <a:t>Closing of the Gap with Traditional Warehouses &amp; Post-MapReduce Systems</a:t>
            </a:r>
            <a:endParaRPr sz="1700">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5" name="Shape 1415"/>
        <p:cNvGrpSpPr/>
        <p:nvPr/>
      </p:nvGrpSpPr>
      <p:grpSpPr>
        <a:xfrm>
          <a:off x="0" y="0"/>
          <a:ext cx="0" cy="0"/>
          <a:chOff x="0" y="0"/>
          <a:chExt cx="0" cy="0"/>
        </a:xfrm>
      </p:grpSpPr>
      <p:sp>
        <p:nvSpPr>
          <p:cNvPr id="1416" name="Google Shape;1416;p64"/>
          <p:cNvSpPr/>
          <p:nvPr/>
        </p:nvSpPr>
        <p:spPr>
          <a:xfrm flipH="1">
            <a:off x="0" y="0"/>
            <a:ext cx="9144000" cy="1182000"/>
          </a:xfrm>
          <a:prstGeom prst="rect">
            <a:avLst/>
          </a:prstGeom>
          <a:gradFill>
            <a:gsLst>
              <a:gs pos="0">
                <a:srgbClr val="000000">
                  <a:alpha val="95686"/>
                </a:srgbClr>
              </a:gs>
              <a:gs pos="100000">
                <a:srgbClr val="2F5496"/>
              </a:gs>
            </a:gsLst>
            <a:lin ang="84001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17" name="Google Shape;1417;p64"/>
          <p:cNvSpPr/>
          <p:nvPr/>
        </p:nvSpPr>
        <p:spPr>
          <a:xfrm flipH="1" rot="10800000">
            <a:off x="6096643" y="9"/>
            <a:ext cx="3047400" cy="1182300"/>
          </a:xfrm>
          <a:prstGeom prst="rect">
            <a:avLst/>
          </a:prstGeom>
          <a:gradFill>
            <a:gsLst>
              <a:gs pos="0">
                <a:srgbClr val="1F3864">
                  <a:alpha val="67843"/>
                </a:srgbClr>
              </a:gs>
              <a:gs pos="19000">
                <a:srgbClr val="1F3864">
                  <a:alpha val="67843"/>
                </a:srgbClr>
              </a:gs>
              <a:gs pos="100000">
                <a:srgbClr val="4472C4">
                  <a:alpha val="78823"/>
                </a:srgbClr>
              </a:gs>
            </a:gsLst>
            <a:lin ang="1920016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18" name="Google Shape;1418;p64"/>
          <p:cNvSpPr/>
          <p:nvPr/>
        </p:nvSpPr>
        <p:spPr>
          <a:xfrm rot="5400000">
            <a:off x="3980851" y="-3980850"/>
            <a:ext cx="1182300" cy="9144000"/>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34"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19" name="Google Shape;1419;p64"/>
          <p:cNvSpPr/>
          <p:nvPr/>
        </p:nvSpPr>
        <p:spPr>
          <a:xfrm>
            <a:off x="1359998" y="261899"/>
            <a:ext cx="7533000" cy="658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None/>
            </a:pPr>
            <a:r>
              <a:rPr lang="en" sz="2800">
                <a:solidFill>
                  <a:srgbClr val="FFFFFF"/>
                </a:solidFill>
              </a:rPr>
              <a:t>Key Takeaways</a:t>
            </a:r>
            <a:endParaRPr sz="2800"/>
          </a:p>
        </p:txBody>
      </p:sp>
      <p:sp>
        <p:nvSpPr>
          <p:cNvPr id="1420" name="Google Shape;1420;p64"/>
          <p:cNvSpPr txBox="1"/>
          <p:nvPr/>
        </p:nvSpPr>
        <p:spPr>
          <a:xfrm>
            <a:off x="938150" y="1335575"/>
            <a:ext cx="515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grpSp>
        <p:nvGrpSpPr>
          <p:cNvPr id="1421" name="Google Shape;1421;p64"/>
          <p:cNvGrpSpPr/>
          <p:nvPr/>
        </p:nvGrpSpPr>
        <p:grpSpPr>
          <a:xfrm>
            <a:off x="0" y="160683"/>
            <a:ext cx="1432887" cy="532245"/>
            <a:chOff x="2267504" y="2540250"/>
            <a:chExt cx="1990951" cy="739640"/>
          </a:xfrm>
        </p:grpSpPr>
        <p:sp>
          <p:nvSpPr>
            <p:cNvPr id="1422" name="Google Shape;1422;p64"/>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423" name="Google Shape;1423;p64"/>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1424" name="Google Shape;1424;p64"/>
          <p:cNvSpPr/>
          <p:nvPr/>
        </p:nvSpPr>
        <p:spPr>
          <a:xfrm>
            <a:off x="927100" y="1797275"/>
            <a:ext cx="1193100" cy="1182300"/>
          </a:xfrm>
          <a:prstGeom prst="ellipse">
            <a:avLst/>
          </a:prstGeom>
          <a:solidFill>
            <a:srgbClr val="BCC7CF"/>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b="1" sz="2500">
              <a:solidFill>
                <a:schemeClr val="dk2"/>
              </a:solidFill>
              <a:latin typeface="Calibri"/>
              <a:ea typeface="Calibri"/>
              <a:cs typeface="Calibri"/>
              <a:sym typeface="Calibri"/>
            </a:endParaRPr>
          </a:p>
        </p:txBody>
      </p:sp>
      <p:sp>
        <p:nvSpPr>
          <p:cNvPr id="1425" name="Google Shape;1425;p64"/>
          <p:cNvSpPr/>
          <p:nvPr/>
        </p:nvSpPr>
        <p:spPr>
          <a:xfrm>
            <a:off x="3975450" y="1797275"/>
            <a:ext cx="1193100" cy="1182300"/>
          </a:xfrm>
          <a:prstGeom prst="ellipse">
            <a:avLst/>
          </a:prstGeom>
          <a:solidFill>
            <a:srgbClr val="BCC7CF"/>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b="1" sz="2500">
              <a:solidFill>
                <a:schemeClr val="dk2"/>
              </a:solidFill>
              <a:latin typeface="Calibri"/>
              <a:ea typeface="Calibri"/>
              <a:cs typeface="Calibri"/>
              <a:sym typeface="Calibri"/>
            </a:endParaRPr>
          </a:p>
        </p:txBody>
      </p:sp>
      <p:sp>
        <p:nvSpPr>
          <p:cNvPr id="1426" name="Google Shape;1426;p64"/>
          <p:cNvSpPr/>
          <p:nvPr/>
        </p:nvSpPr>
        <p:spPr>
          <a:xfrm>
            <a:off x="7023800" y="1797275"/>
            <a:ext cx="1193100" cy="1182300"/>
          </a:xfrm>
          <a:prstGeom prst="ellipse">
            <a:avLst/>
          </a:prstGeom>
          <a:solidFill>
            <a:srgbClr val="BCC7CF"/>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b="1" sz="2500">
              <a:solidFill>
                <a:schemeClr val="dk2"/>
              </a:solidFill>
              <a:latin typeface="Calibri"/>
              <a:ea typeface="Calibri"/>
              <a:cs typeface="Calibri"/>
              <a:sym typeface="Calibri"/>
            </a:endParaRPr>
          </a:p>
        </p:txBody>
      </p:sp>
      <p:sp>
        <p:nvSpPr>
          <p:cNvPr id="1427" name="Google Shape;1427;p64"/>
          <p:cNvSpPr txBox="1"/>
          <p:nvPr/>
        </p:nvSpPr>
        <p:spPr>
          <a:xfrm>
            <a:off x="927100" y="2979575"/>
            <a:ext cx="1193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dk2"/>
                </a:solidFill>
                <a:latin typeface="Calibri"/>
                <a:ea typeface="Calibri"/>
                <a:cs typeface="Calibri"/>
                <a:sym typeface="Calibri"/>
              </a:rPr>
              <a:t>Diverse Outlook</a:t>
            </a:r>
            <a:endParaRPr b="1" sz="2000">
              <a:solidFill>
                <a:schemeClr val="dk2"/>
              </a:solidFill>
              <a:latin typeface="Calibri"/>
              <a:ea typeface="Calibri"/>
              <a:cs typeface="Calibri"/>
              <a:sym typeface="Calibri"/>
            </a:endParaRPr>
          </a:p>
        </p:txBody>
      </p:sp>
      <p:sp>
        <p:nvSpPr>
          <p:cNvPr id="1428" name="Google Shape;1428;p64"/>
          <p:cNvSpPr txBox="1"/>
          <p:nvPr/>
        </p:nvSpPr>
        <p:spPr>
          <a:xfrm>
            <a:off x="3913350" y="2979575"/>
            <a:ext cx="13173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dk2"/>
                </a:solidFill>
                <a:latin typeface="Calibri"/>
                <a:ea typeface="Calibri"/>
                <a:cs typeface="Calibri"/>
                <a:sym typeface="Calibri"/>
              </a:rPr>
              <a:t>Ecosystem Growth</a:t>
            </a:r>
            <a:endParaRPr b="1" sz="2000">
              <a:solidFill>
                <a:schemeClr val="dk2"/>
              </a:solidFill>
              <a:latin typeface="Calibri"/>
              <a:ea typeface="Calibri"/>
              <a:cs typeface="Calibri"/>
              <a:sym typeface="Calibri"/>
            </a:endParaRPr>
          </a:p>
        </p:txBody>
      </p:sp>
      <p:sp>
        <p:nvSpPr>
          <p:cNvPr id="1429" name="Google Shape;1429;p64"/>
          <p:cNvSpPr/>
          <p:nvPr/>
        </p:nvSpPr>
        <p:spPr>
          <a:xfrm>
            <a:off x="2451275" y="1797275"/>
            <a:ext cx="1193100" cy="1182300"/>
          </a:xfrm>
          <a:prstGeom prst="ellipse">
            <a:avLst/>
          </a:prstGeom>
          <a:solidFill>
            <a:srgbClr val="BCC7CF"/>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b="1" sz="2500">
              <a:solidFill>
                <a:schemeClr val="dk2"/>
              </a:solidFill>
              <a:latin typeface="Calibri"/>
              <a:ea typeface="Calibri"/>
              <a:cs typeface="Calibri"/>
              <a:sym typeface="Calibri"/>
            </a:endParaRPr>
          </a:p>
        </p:txBody>
      </p:sp>
      <p:sp>
        <p:nvSpPr>
          <p:cNvPr id="1430" name="Google Shape;1430;p64"/>
          <p:cNvSpPr/>
          <p:nvPr/>
        </p:nvSpPr>
        <p:spPr>
          <a:xfrm>
            <a:off x="5499625" y="1797275"/>
            <a:ext cx="1193100" cy="1182300"/>
          </a:xfrm>
          <a:prstGeom prst="ellipse">
            <a:avLst/>
          </a:prstGeom>
          <a:solidFill>
            <a:srgbClr val="BCC7CF"/>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b="1" sz="2500">
              <a:solidFill>
                <a:schemeClr val="dk2"/>
              </a:solidFill>
              <a:latin typeface="Calibri"/>
              <a:ea typeface="Calibri"/>
              <a:cs typeface="Calibri"/>
              <a:sym typeface="Calibri"/>
            </a:endParaRPr>
          </a:p>
        </p:txBody>
      </p:sp>
      <p:sp>
        <p:nvSpPr>
          <p:cNvPr id="1431" name="Google Shape;1431;p64"/>
          <p:cNvSpPr txBox="1"/>
          <p:nvPr/>
        </p:nvSpPr>
        <p:spPr>
          <a:xfrm>
            <a:off x="2389175" y="2979575"/>
            <a:ext cx="13173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dk2"/>
                </a:solidFill>
                <a:latin typeface="Calibri"/>
                <a:ea typeface="Calibri"/>
                <a:cs typeface="Calibri"/>
                <a:sym typeface="Calibri"/>
              </a:rPr>
              <a:t>Versatility &amp; Flexibility</a:t>
            </a:r>
            <a:endParaRPr b="1" sz="2000">
              <a:solidFill>
                <a:schemeClr val="dk2"/>
              </a:solidFill>
              <a:latin typeface="Calibri"/>
              <a:ea typeface="Calibri"/>
              <a:cs typeface="Calibri"/>
              <a:sym typeface="Calibri"/>
            </a:endParaRPr>
          </a:p>
        </p:txBody>
      </p:sp>
      <p:sp>
        <p:nvSpPr>
          <p:cNvPr id="1432" name="Google Shape;1432;p64"/>
          <p:cNvSpPr txBox="1"/>
          <p:nvPr/>
        </p:nvSpPr>
        <p:spPr>
          <a:xfrm>
            <a:off x="5437525" y="2979575"/>
            <a:ext cx="13173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dk2"/>
                </a:solidFill>
                <a:latin typeface="Calibri"/>
                <a:ea typeface="Calibri"/>
                <a:cs typeface="Calibri"/>
                <a:sym typeface="Calibri"/>
              </a:rPr>
              <a:t>Closing the Gaps</a:t>
            </a:r>
            <a:endParaRPr b="1" sz="2000">
              <a:solidFill>
                <a:schemeClr val="dk2"/>
              </a:solidFill>
              <a:latin typeface="Calibri"/>
              <a:ea typeface="Calibri"/>
              <a:cs typeface="Calibri"/>
              <a:sym typeface="Calibri"/>
            </a:endParaRPr>
          </a:p>
        </p:txBody>
      </p:sp>
      <p:sp>
        <p:nvSpPr>
          <p:cNvPr id="1433" name="Google Shape;1433;p64"/>
          <p:cNvSpPr txBox="1"/>
          <p:nvPr/>
        </p:nvSpPr>
        <p:spPr>
          <a:xfrm>
            <a:off x="6961700" y="2979575"/>
            <a:ext cx="13173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dk2"/>
                </a:solidFill>
                <a:latin typeface="Calibri"/>
                <a:ea typeface="Calibri"/>
                <a:cs typeface="Calibri"/>
                <a:sym typeface="Calibri"/>
              </a:rPr>
              <a:t>Looking Ahead</a:t>
            </a:r>
            <a:endParaRPr b="1" sz="2000">
              <a:solidFill>
                <a:schemeClr val="dk2"/>
              </a:solidFill>
              <a:latin typeface="Calibri"/>
              <a:ea typeface="Calibri"/>
              <a:cs typeface="Calibri"/>
              <a:sym typeface="Calibri"/>
            </a:endParaRPr>
          </a:p>
        </p:txBody>
      </p:sp>
      <p:pic>
        <p:nvPicPr>
          <p:cNvPr id="1434" name="Google Shape;1434;p64"/>
          <p:cNvPicPr preferRelativeResize="0"/>
          <p:nvPr/>
        </p:nvPicPr>
        <p:blipFill>
          <a:blip r:embed="rId3">
            <a:alphaModFix/>
          </a:blip>
          <a:stretch>
            <a:fillRect/>
          </a:stretch>
        </p:blipFill>
        <p:spPr>
          <a:xfrm>
            <a:off x="7296500" y="2074088"/>
            <a:ext cx="647700" cy="628650"/>
          </a:xfrm>
          <a:prstGeom prst="rect">
            <a:avLst/>
          </a:prstGeom>
          <a:noFill/>
          <a:ln>
            <a:noFill/>
          </a:ln>
        </p:spPr>
      </p:pic>
      <p:pic>
        <p:nvPicPr>
          <p:cNvPr id="1435" name="Google Shape;1435;p64"/>
          <p:cNvPicPr preferRelativeResize="0"/>
          <p:nvPr/>
        </p:nvPicPr>
        <p:blipFill>
          <a:blip r:embed="rId4">
            <a:alphaModFix/>
          </a:blip>
          <a:stretch>
            <a:fillRect/>
          </a:stretch>
        </p:blipFill>
        <p:spPr>
          <a:xfrm>
            <a:off x="5772325" y="2064575"/>
            <a:ext cx="647700" cy="647700"/>
          </a:xfrm>
          <a:prstGeom prst="rect">
            <a:avLst/>
          </a:prstGeom>
          <a:solidFill>
            <a:srgbClr val="BCC7CF"/>
          </a:solidFill>
          <a:ln>
            <a:noFill/>
          </a:ln>
        </p:spPr>
      </p:pic>
      <p:pic>
        <p:nvPicPr>
          <p:cNvPr id="1436" name="Google Shape;1436;p64"/>
          <p:cNvPicPr preferRelativeResize="0"/>
          <p:nvPr/>
        </p:nvPicPr>
        <p:blipFill>
          <a:blip r:embed="rId5">
            <a:alphaModFix/>
          </a:blip>
          <a:stretch>
            <a:fillRect/>
          </a:stretch>
        </p:blipFill>
        <p:spPr>
          <a:xfrm>
            <a:off x="4295775" y="2102675"/>
            <a:ext cx="552450" cy="571500"/>
          </a:xfrm>
          <a:prstGeom prst="rect">
            <a:avLst/>
          </a:prstGeom>
          <a:solidFill>
            <a:srgbClr val="BCC7CF"/>
          </a:solidFill>
          <a:ln>
            <a:noFill/>
          </a:ln>
        </p:spPr>
      </p:pic>
      <p:pic>
        <p:nvPicPr>
          <p:cNvPr id="1437" name="Google Shape;1437;p64"/>
          <p:cNvPicPr preferRelativeResize="0"/>
          <p:nvPr/>
        </p:nvPicPr>
        <p:blipFill>
          <a:blip r:embed="rId6">
            <a:alphaModFix/>
          </a:blip>
          <a:stretch>
            <a:fillRect/>
          </a:stretch>
        </p:blipFill>
        <p:spPr>
          <a:xfrm>
            <a:off x="1285525" y="2207450"/>
            <a:ext cx="514350" cy="361950"/>
          </a:xfrm>
          <a:prstGeom prst="rect">
            <a:avLst/>
          </a:prstGeom>
          <a:solidFill>
            <a:srgbClr val="BCC7CF"/>
          </a:solidFill>
          <a:ln>
            <a:noFill/>
          </a:ln>
        </p:spPr>
      </p:pic>
      <p:pic>
        <p:nvPicPr>
          <p:cNvPr id="1438" name="Google Shape;1438;p64"/>
          <p:cNvPicPr preferRelativeResize="0"/>
          <p:nvPr/>
        </p:nvPicPr>
        <p:blipFill>
          <a:blip r:embed="rId7">
            <a:alphaModFix/>
          </a:blip>
          <a:stretch>
            <a:fillRect/>
          </a:stretch>
        </p:blipFill>
        <p:spPr>
          <a:xfrm>
            <a:off x="2790650" y="2131250"/>
            <a:ext cx="514350" cy="514350"/>
          </a:xfrm>
          <a:prstGeom prst="rect">
            <a:avLst/>
          </a:prstGeom>
          <a:solidFill>
            <a:srgbClr val="BCC7CF"/>
          </a:solid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1442" name="Shape 1442"/>
        <p:cNvGrpSpPr/>
        <p:nvPr/>
      </p:nvGrpSpPr>
      <p:grpSpPr>
        <a:xfrm>
          <a:off x="0" y="0"/>
          <a:ext cx="0" cy="0"/>
          <a:chOff x="0" y="0"/>
          <a:chExt cx="0" cy="0"/>
        </a:xfrm>
      </p:grpSpPr>
      <p:sp>
        <p:nvSpPr>
          <p:cNvPr id="1443" name="Google Shape;1443;p65"/>
          <p:cNvSpPr/>
          <p:nvPr/>
        </p:nvSpPr>
        <p:spPr>
          <a:xfrm>
            <a:off x="1465326" y="0"/>
            <a:ext cx="6213348" cy="5143500"/>
          </a:xfrm>
          <a:custGeom>
            <a:rect b="b" l="l" r="r" t="t"/>
            <a:pathLst>
              <a:path extrusionOk="0" h="6858000" w="8284464">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44" name="Google Shape;1444;p65"/>
          <p:cNvSpPr/>
          <p:nvPr/>
        </p:nvSpPr>
        <p:spPr>
          <a:xfrm>
            <a:off x="1588770" y="0"/>
            <a:ext cx="5966460" cy="5143500"/>
          </a:xfrm>
          <a:custGeom>
            <a:rect b="b" l="l" r="r" t="t"/>
            <a:pathLst>
              <a:path extrusionOk="0" h="6858000" w="795528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45" name="Google Shape;1445;p65"/>
          <p:cNvSpPr/>
          <p:nvPr/>
        </p:nvSpPr>
        <p:spPr>
          <a:xfrm>
            <a:off x="1916723" y="1081453"/>
            <a:ext cx="5310600" cy="29805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500"/>
              </a:spcBef>
              <a:spcAft>
                <a:spcPts val="0"/>
              </a:spcAft>
              <a:buNone/>
            </a:pPr>
            <a:r>
              <a:rPr lang="en" sz="4100">
                <a:solidFill>
                  <a:srgbClr val="0C0C0C"/>
                </a:solidFill>
                <a:latin typeface="Calibri"/>
                <a:ea typeface="Calibri"/>
                <a:cs typeface="Calibri"/>
                <a:sym typeface="Calibri"/>
              </a:rPr>
              <a:t>Questions?</a:t>
            </a:r>
            <a:endParaRPr sz="4100">
              <a:solidFill>
                <a:srgbClr val="0C0C0C"/>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